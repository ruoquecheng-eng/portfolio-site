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66" r:id="rId7"/>
    <p:sldId id="259" r:id="rId8"/>
    <p:sldId id="262" r:id="rId9"/>
    <p:sldId id="263" r:id="rId10"/>
    <p:sldId id="260" r:id="rId11"/>
    <p:sldId id="261" r:id="rId12"/>
    <p:sldId id="264" r:id="rId13"/>
    <p:sldId id="265" r:id="rId14"/>
  </p:sldIdLst>
  <p:sldSz cx="12192000" cy="6858000" type="screen4x3"/>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howGuides="1">
      <p:cViewPr varScale="1">
        <p:scale>
          <a:sx n="77" d="100"/>
          <a:sy n="77" d="100"/>
        </p:scale>
        <p:origin x="60" y="2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t>Presenter: [Name 1]. Open with the project theme: sustainable high-speed rail technologies. State clearly that the team's final design solution is lightweight recycled carbon fiber carriage materials. The key argument is that reducing carriage mass can reduce operational energy use, which may lower electricity cost and carbon emissions over the long life cycle of Australia's future high-speed rail. Timing guide for a 15-18 minute team presentation: each speaker should speak for at least 2 minutes.</a:t>
            </a:r>
          </a:p>
        </p:txBody>
      </p:sp>
      <p:sp>
        <p:nvSpPr>
          <p:cNvPr id="4" name="Slide Number Placeholder 3"/>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t>Presenter: [Name 1]. Explain that the project sits inside Australia's future high-speed rail context. Use Newcastle-Sydney as the case example because it is identified as a major early stage. The proposed alignment is 194 km and the planned speed is up to 320 km/h outside tunnels. The design challenge is not only building fast rail, but operating it efficiently and sustainably for decades. Sources: Infrastructure Australia High Speed Rail Newcastle-Sydney evaluation; High Speed Rail Authority corridor context.</a:t>
            </a:r>
          </a:p>
        </p:txBody>
      </p:sp>
      <p:sp>
        <p:nvSpPr>
          <p:cNvPr id="4" name="Slide Number Placeholder 3"/>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t>Presenter: [Name 2]. Define the problem using the causal chain. The issue is not that current trains cannot work; the issue is that heavy and energy-intensive carriage materials can increase energy use, electricity cost, and operational emissions. This creates sustainability pressure over a long rail operating life. This slide sets up why lightweight materials are a relevant engineering design direction.</a:t>
            </a:r>
          </a:p>
        </p:txBody>
      </p:sp>
      <p:sp>
        <p:nvSpPr>
          <p:cNvPr id="4" name="Slide Number Placeholder 3"/>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t>Presenter: [Name 2]. Present the solution clearly: lightweight recycled carbon fiber carriage materials. The idea is to use recycled carbon fiber composite panels in selected carriage components such as interior panels, seat shells, partitions, or non-primary covers. This is a partial substitution that should be tested against strength, fire, safety, maintenance, and certification requirements. Source: Ulbricht et al. 2023 discusses high-performance composite lightweight rail components and the need to meet rail standards.</a:t>
            </a:r>
          </a:p>
        </p:txBody>
      </p:sp>
      <p:sp>
        <p:nvSpPr>
          <p:cNvPr id="4" name="Slide Number Placeholder 3"/>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t>Presenter: [Name 4]. Explain that the team selected this solution because it scores strongly on sustainability and efficiency, while still being feasible to validate through material and component testing. Cost is lower than the top criteria because recycled CFRP may involve high upfront material, processing, testing, and certification costs. The decision matrix is a design summary, not a precise financial model.</a:t>
            </a:r>
          </a:p>
        </p:txBody>
      </p:sp>
      <p:sp>
        <p:nvSpPr>
          <p:cNvPr id="4" name="Slide Number Placeholder 3"/>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t>Presenter: [Name 4]. Walk through the calculation step by step. Annual energy use = 15,000,000 x 194 x 0.033 / 0.70 = 137,185,714 kWh/year, or about 137.2 GWh/year. Annual electricity saved = 137,185,714 x 5% = 6,859,286 kWh/year, or about 6.86 GWh/year. Annual electricity cost saving = 6,859,286 x 0.075 = A$514,446/year, or about A$0.51 million/year. Annual CO2-e reduction = 6,859,286 x 0.67 / 1000 = 4,596 tonnes CO2-e/year. Over 30 years this equals about A$15.43 million in gross electricity savings before deducting extra material, testing, certification, and maintenance costs. The figures are base-case estimates, not guaranteed savings. Sources: Greengauge 21 energy benchmark, AEMO Q4 2025 electricity price, Australian National Greenhouse Accounts Factors 2025.</a:t>
            </a:r>
          </a:p>
        </p:txBody>
      </p:sp>
      <p:sp>
        <p:nvSpPr>
          <p:cNvPr id="4" name="Slide Number Placeholder 3"/>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dirty="0"/>
              <a:t>Presenter: [Name 3]. Explain how the material solution works. The team is proposing recycled CFRP composite panels for selected carriage components. CFRP can provide high strength-to-weight performance, so selected panels can reduce carriage mass while still needing to meet rail safety, fire, durability, and maintenance standards. Lower carriage mass can reduce the energy required during operation, which may reduce electricity cost and CO2-e emissions over the long service life.</a:t>
            </a:r>
            <a:endParaRPr dirty="0"/>
          </a:p>
        </p:txBody>
      </p:sp>
      <p:sp>
        <p:nvSpPr>
          <p:cNvPr id="4" name="Slide Number Placeholder 3"/>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t>Presenter: [Name 3]. Explain the engineering validation plan. The team should first identify suitable non-primary carriage components, compare recycled CFRP samples with conventional materials, test strength and stiffness, review fire and rail safety requirements, check maintenance and repair implications, and then complete a life-cycle cost and carbon analysis. This is appropriate for a final rail materials solution.</a:t>
            </a:r>
          </a:p>
        </p:txBody>
      </p:sp>
      <p:sp>
        <p:nvSpPr>
          <p:cNvPr id="4" name="Slide Number Placeholder 3"/>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t>Presenter: [Name 5]. Connect the design to stakeholder needs. Operators care about efficient operation and lower costs; government and transport authorities care about emissions and sustainable infrastructure; passengers need reliable and sustainable services; communities benefit from a lower operational footprint; manufacturers and engineers need practical innovation that can be tested first. The solution meets these needs because it targets energy use through carriage mass reduction.</a:t>
            </a:r>
          </a:p>
        </p:txBody>
      </p:sp>
      <p:sp>
        <p:nvSpPr>
          <p:cNvPr id="4" name="Slide Number Placeholder 3"/>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dirty="0"/>
              <a:t>Presenter: [Name 5]. Close by being balanced. The proposal has risks: high upfront material cost, uncertain recycled carbon fiber supply, safety certification, repair and recycling complexity, and manufacturing changes. Real HSR performance also depends on aerodynamics, gradients, passenger loading, and traction efficiency. The next steps are to select suitable components, test recycled CFRP samples, compare stability and durability, research material costs and rail safety standards, and complete a life-cycle cost analysis. End with the core sentence: reducing carriage mass can reduce operational energy use, which may lower electricity cost and carbon emissions over the life cycle.</a:t>
            </a:r>
            <a:endParaRPr dirty="0"/>
          </a:p>
        </p:txBody>
      </p:sp>
      <p:sp>
        <p:nvSpPr>
          <p:cNvPr id="4" name="Slide Number Placeholder 3"/>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73990" y="0"/>
            <a:ext cx="12192000" cy="6858000"/>
          </a:xfrm>
          <a:prstGeom prst="rect">
            <a:avLst/>
          </a:prstGeom>
          <a:solidFill>
            <a:srgbClr val="FFFFFF"/>
          </a:solidFill>
          <a:ln w="0">
            <a:solidFill>
              <a:srgbClr val="000000">
                <a:alpha val="0"/>
              </a:srgbClr>
            </a:solidFill>
            <a:prstDash val="solid"/>
          </a:ln>
        </p:spPr>
      </p:sp>
      <p:pic>
        <p:nvPicPr>
          <p:cNvPr id="16" name="图片 15"/>
          <p:cNvPicPr>
            <a:picLocks noChangeAspect="1"/>
          </p:cNvPicPr>
          <p:nvPr/>
        </p:nvPicPr>
        <p:blipFill>
          <a:blip r:embed="rId1" cstate="screen"/>
          <a:stretch>
            <a:fillRect/>
          </a:stretch>
        </p:blipFill>
        <p:spPr>
          <a:xfrm>
            <a:off x="-173990" y="-504190"/>
            <a:ext cx="12421870" cy="8281035"/>
          </a:xfrm>
          <a:prstGeom prst="rect">
            <a:avLst/>
          </a:prstGeom>
        </p:spPr>
      </p:pic>
      <p:sp>
        <p:nvSpPr>
          <p:cNvPr id="8" name="矩形 7"/>
          <p:cNvSpPr/>
          <p:nvPr/>
        </p:nvSpPr>
        <p:spPr>
          <a:xfrm rot="10800000">
            <a:off x="-514350" y="-929640"/>
            <a:ext cx="12762230" cy="8238490"/>
          </a:xfrm>
          <a:prstGeom prst="rect">
            <a:avLst/>
          </a:prstGeom>
          <a:gradFill>
            <a:gsLst>
              <a:gs pos="0">
                <a:schemeClr val="bg1"/>
              </a:gs>
              <a:gs pos="47000">
                <a:srgbClr val="FFFFFF">
                  <a:alpha val="62456"/>
                </a:srgbClr>
              </a:gs>
              <a:gs pos="23000">
                <a:schemeClr val="bg1">
                  <a:alpha val="94000"/>
                </a:schemeClr>
              </a:gs>
              <a:gs pos="69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等线"/>
              <a:ea typeface="等线"/>
              <a:cs typeface="+mn-cs"/>
            </a:endParaRPr>
          </a:p>
        </p:txBody>
      </p:sp>
      <p:sp>
        <p:nvSpPr>
          <p:cNvPr id="6" name="矩形 5"/>
          <p:cNvSpPr/>
          <p:nvPr/>
        </p:nvSpPr>
        <p:spPr>
          <a:xfrm>
            <a:off x="-280035" y="-1048385"/>
            <a:ext cx="12802235" cy="8184515"/>
          </a:xfrm>
          <a:prstGeom prst="rect">
            <a:avLst/>
          </a:prstGeom>
          <a:gradFill>
            <a:gsLst>
              <a:gs pos="0">
                <a:schemeClr val="bg1"/>
              </a:gs>
              <a:gs pos="47000">
                <a:srgbClr val="FFFFFF">
                  <a:alpha val="62456"/>
                </a:srgbClr>
              </a:gs>
              <a:gs pos="23000">
                <a:schemeClr val="bg1">
                  <a:alpha val="94000"/>
                </a:schemeClr>
              </a:gs>
              <a:gs pos="69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等线"/>
              <a:ea typeface="等线"/>
              <a:cs typeface="+mn-cs"/>
            </a:endParaRPr>
          </a:p>
        </p:txBody>
      </p:sp>
      <p:sp>
        <p:nvSpPr>
          <p:cNvPr id="2" name="矩形 1"/>
          <p:cNvSpPr/>
          <p:nvPr/>
        </p:nvSpPr>
        <p:spPr>
          <a:xfrm>
            <a:off x="0" y="0"/>
            <a:ext cx="209550" cy="6858000"/>
          </a:xfrm>
          <a:prstGeom prst="rect">
            <a:avLst/>
          </a:prstGeom>
          <a:solidFill>
            <a:srgbClr val="1F6FEB"/>
          </a:solidFill>
          <a:ln w="0">
            <a:solidFill>
              <a:srgbClr val="000000">
                <a:alpha val="0"/>
              </a:srgbClr>
            </a:solidFill>
            <a:prstDash val="solid"/>
          </a:ln>
        </p:spPr>
      </p:sp>
      <p:sp>
        <p:nvSpPr>
          <p:cNvPr id="3" name="矩形 2"/>
          <p:cNvSpPr/>
          <p:nvPr/>
        </p:nvSpPr>
        <p:spPr>
          <a:xfrm>
            <a:off x="209550" y="0"/>
            <a:ext cx="95250" cy="6858000"/>
          </a:xfrm>
          <a:prstGeom prst="rect">
            <a:avLst/>
          </a:prstGeom>
          <a:solidFill>
            <a:srgbClr val="2EAD66"/>
          </a:solidFill>
          <a:ln w="0">
            <a:solidFill>
              <a:srgbClr val="000000">
                <a:alpha val="0"/>
              </a:srgbClr>
            </a:solidFill>
            <a:prstDash val="solid"/>
          </a:ln>
        </p:spPr>
      </p:sp>
      <p:sp>
        <p:nvSpPr>
          <p:cNvPr id="4" name="矩形: 圆角 3"/>
          <p:cNvSpPr/>
          <p:nvPr/>
        </p:nvSpPr>
        <p:spPr>
          <a:xfrm>
            <a:off x="9191625" y="361950"/>
            <a:ext cx="1619250" cy="266700"/>
          </a:xfrm>
          <a:prstGeom prst="roundRect">
            <a:avLst>
              <a:gd name="adj" fmla="val 28571"/>
            </a:avLst>
          </a:prstGeom>
          <a:solidFill>
            <a:srgbClr val="F6F8FB"/>
          </a:solidFill>
          <a:ln w="9525">
            <a:solidFill>
              <a:srgbClr val="C9D4E2"/>
            </a:solidFill>
            <a:prstDash val="solid"/>
          </a:ln>
        </p:spPr>
      </p:sp>
      <p:sp>
        <p:nvSpPr>
          <p:cNvPr id="5" name="矩形 4"/>
          <p:cNvSpPr/>
          <p:nvPr/>
        </p:nvSpPr>
        <p:spPr>
          <a:xfrm>
            <a:off x="9296400" y="428625"/>
            <a:ext cx="1409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90" b="1">
                <a:solidFill>
                  <a:srgbClr val="12355B"/>
                </a:solidFill>
                <a:latin typeface="Aptos"/>
                <a:ea typeface="Aptos"/>
                <a:cs typeface="Aptos"/>
              </a:defRPr>
            </a:pPr>
            <a:r>
              <a:rPr sz="790" b="1">
                <a:solidFill>
                  <a:srgbClr val="12355B"/>
                </a:solidFill>
                <a:latin typeface="Aptos"/>
                <a:ea typeface="Aptos"/>
                <a:cs typeface="Aptos"/>
              </a:rPr>
              <a:t>Presenter: </a:t>
            </a:r>
            <a:r>
              <a:rPr lang="en-US" sz="790" b="1">
                <a:solidFill>
                  <a:srgbClr val="12355B"/>
                </a:solidFill>
                <a:latin typeface="Aptos"/>
                <a:ea typeface="Aptos"/>
                <a:cs typeface="Aptos"/>
              </a:rPr>
              <a:t>Liu XuTong</a:t>
            </a:r>
            <a:endParaRPr lang="en-US" sz="790" b="1">
              <a:solidFill>
                <a:srgbClr val="12355B"/>
              </a:solidFill>
              <a:latin typeface="Aptos"/>
              <a:ea typeface="Aptos"/>
              <a:cs typeface="Aptos"/>
            </a:endParaRPr>
          </a:p>
        </p:txBody>
      </p:sp>
      <p:sp>
        <p:nvSpPr>
          <p:cNvPr id="9" name="矩形: 圆角 8"/>
          <p:cNvSpPr/>
          <p:nvPr/>
        </p:nvSpPr>
        <p:spPr>
          <a:xfrm>
            <a:off x="735965" y="4857750"/>
            <a:ext cx="6174105" cy="876300"/>
          </a:xfrm>
          <a:prstGeom prst="roundRect">
            <a:avLst>
              <a:gd name="adj" fmla="val 0"/>
            </a:avLst>
          </a:prstGeom>
          <a:solidFill>
            <a:srgbClr val="F6F8FB"/>
          </a:solidFill>
          <a:ln w="9525">
            <a:solidFill>
              <a:srgbClr val="C9D4E2"/>
            </a:solidFill>
            <a:prstDash val="solid"/>
          </a:ln>
        </p:spPr>
      </p:sp>
      <p:sp>
        <p:nvSpPr>
          <p:cNvPr id="10" name="矩形 9"/>
          <p:cNvSpPr/>
          <p:nvPr/>
        </p:nvSpPr>
        <p:spPr>
          <a:xfrm>
            <a:off x="828040" y="4987925"/>
            <a:ext cx="6456680" cy="30861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72033"/>
                </a:solidFill>
                <a:latin typeface="Aptos"/>
                <a:ea typeface="Aptos"/>
                <a:cs typeface="Aptos"/>
              </a:defRPr>
            </a:pPr>
            <a:r>
              <a:rPr sz="1200" b="0">
                <a:solidFill>
                  <a:srgbClr val="172033"/>
                </a:solidFill>
                <a:latin typeface="Aptos"/>
                <a:ea typeface="Aptos"/>
                <a:cs typeface="Aptos"/>
              </a:rPr>
              <a:t>Team members: </a:t>
            </a:r>
            <a:r>
              <a:rPr lang="en-US" sz="1200" b="0">
                <a:solidFill>
                  <a:srgbClr val="172033"/>
                </a:solidFill>
                <a:latin typeface="Aptos"/>
                <a:ea typeface="Aptos"/>
                <a:cs typeface="Aptos"/>
              </a:rPr>
              <a:t>Liu JunHan</a:t>
            </a:r>
            <a:r>
              <a:rPr lang="en-US" altLang="zh-CN" sz="1200" b="0">
                <a:solidFill>
                  <a:srgbClr val="172033"/>
                </a:solidFill>
                <a:latin typeface="Aptos"/>
                <a:ea typeface="宋体" charset="-122"/>
                <a:cs typeface="Aptos"/>
              </a:rPr>
              <a:t>,</a:t>
            </a:r>
            <a:r>
              <a:rPr sz="1200" b="0">
                <a:solidFill>
                  <a:srgbClr val="172033"/>
                </a:solidFill>
                <a:latin typeface="Aptos"/>
                <a:ea typeface="Aptos"/>
                <a:cs typeface="Aptos"/>
              </a:rPr>
              <a:t> </a:t>
            </a:r>
            <a:r>
              <a:rPr lang="en-US" sz="1200" b="0">
                <a:solidFill>
                  <a:srgbClr val="172033"/>
                </a:solidFill>
                <a:latin typeface="Aptos"/>
                <a:ea typeface="Aptos"/>
                <a:cs typeface="Aptos"/>
              </a:rPr>
              <a:t>Dang JiaYing,Liu XuTong,Guo GuangHan,Ning WanZheng</a:t>
            </a:r>
            <a:endParaRPr sz="1200" b="0">
              <a:solidFill>
                <a:srgbClr val="172033"/>
              </a:solidFill>
              <a:latin typeface="Aptos"/>
              <a:ea typeface="Aptos"/>
              <a:cs typeface="Aptos"/>
            </a:endParaRPr>
          </a:p>
        </p:txBody>
      </p:sp>
      <p:sp>
        <p:nvSpPr>
          <p:cNvPr id="11" name="矩形 10"/>
          <p:cNvSpPr/>
          <p:nvPr/>
        </p:nvSpPr>
        <p:spPr>
          <a:xfrm>
            <a:off x="1159510" y="5296535"/>
            <a:ext cx="4973320" cy="31686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F6B7A"/>
                </a:solidFill>
                <a:latin typeface="Aptos"/>
                <a:ea typeface="Aptos"/>
                <a:cs typeface="Aptos"/>
              </a:defRPr>
            </a:pPr>
            <a:r>
              <a:rPr sz="1125" b="0">
                <a:solidFill>
                  <a:srgbClr val="5F6B7A"/>
                </a:solidFill>
                <a:latin typeface="Aptos"/>
                <a:ea typeface="Aptos"/>
                <a:cs typeface="Aptos"/>
              </a:rPr>
              <a:t>order: </a:t>
            </a:r>
            <a:r>
              <a:rPr lang="en-US" sz="1125" b="0">
                <a:solidFill>
                  <a:srgbClr val="5F6B7A"/>
                </a:solidFill>
                <a:latin typeface="Aptos"/>
                <a:ea typeface="Aptos"/>
                <a:cs typeface="Aptos"/>
              </a:rPr>
              <a:t>Liu XuTong,Liu JunHan,Dang JiaYin,Guo GuangHan,Ning WanZheng</a:t>
            </a:r>
            <a:endParaRPr lang="en-US" sz="1125" b="0">
              <a:solidFill>
                <a:srgbClr val="5F6B7A"/>
              </a:solidFill>
              <a:latin typeface="Aptos"/>
              <a:ea typeface="Aptos"/>
              <a:cs typeface="Aptos"/>
            </a:endParaRPr>
          </a:p>
        </p:txBody>
      </p:sp>
      <p:sp>
        <p:nvSpPr>
          <p:cNvPr id="12" name="矩形: 圆角 11"/>
          <p:cNvSpPr/>
          <p:nvPr/>
        </p:nvSpPr>
        <p:spPr>
          <a:xfrm>
            <a:off x="7965440" y="3686810"/>
            <a:ext cx="3464560" cy="874395"/>
          </a:xfrm>
          <a:prstGeom prst="roundRect">
            <a:avLst>
              <a:gd name="adj" fmla="val 9756"/>
            </a:avLst>
          </a:prstGeom>
          <a:solidFill>
            <a:srgbClr val="DDF7E9"/>
          </a:solidFill>
          <a:ln w="9525">
            <a:solidFill>
              <a:srgbClr val="2EAD66"/>
            </a:solidFill>
            <a:prstDash val="solid"/>
          </a:ln>
        </p:spPr>
      </p:sp>
      <p:sp>
        <p:nvSpPr>
          <p:cNvPr id="13" name="矩形 12"/>
          <p:cNvSpPr/>
          <p:nvPr/>
        </p:nvSpPr>
        <p:spPr>
          <a:xfrm>
            <a:off x="8334375" y="3686810"/>
            <a:ext cx="1460500" cy="44005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2EAD66"/>
                </a:solidFill>
                <a:latin typeface="Aptos"/>
                <a:ea typeface="Aptos"/>
                <a:cs typeface="Aptos"/>
              </a:defRPr>
            </a:pPr>
            <a:r>
              <a:rPr sz="1600" b="1">
                <a:solidFill>
                  <a:srgbClr val="2EAD66"/>
                </a:solidFill>
                <a:latin typeface="Aptos"/>
                <a:ea typeface="Aptos"/>
                <a:cs typeface="Aptos"/>
              </a:rPr>
              <a:t>Core idea</a:t>
            </a:r>
            <a:endParaRPr sz="1600" b="1">
              <a:solidFill>
                <a:srgbClr val="2EAD66"/>
              </a:solidFill>
              <a:latin typeface="Aptos"/>
              <a:ea typeface="Aptos"/>
              <a:cs typeface="Aptos"/>
            </a:endParaRPr>
          </a:p>
        </p:txBody>
      </p:sp>
      <p:sp>
        <p:nvSpPr>
          <p:cNvPr id="14" name="矩形 13"/>
          <p:cNvSpPr/>
          <p:nvPr/>
        </p:nvSpPr>
        <p:spPr>
          <a:xfrm>
            <a:off x="8334375" y="4010025"/>
            <a:ext cx="2476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2355B"/>
                </a:solidFill>
                <a:latin typeface="Aptos"/>
                <a:ea typeface="Aptos"/>
                <a:cs typeface="Aptos"/>
              </a:defRPr>
            </a:pPr>
            <a:r>
              <a:rPr sz="1275" b="1">
                <a:solidFill>
                  <a:srgbClr val="12355B"/>
                </a:solidFill>
                <a:latin typeface="Aptos"/>
                <a:ea typeface="Aptos"/>
                <a:cs typeface="Aptos"/>
              </a:rPr>
              <a:t>Less mass -&gt; less energy demand</a:t>
            </a:r>
            <a:endParaRPr sz="1275" b="1">
              <a:solidFill>
                <a:srgbClr val="12355B"/>
              </a:solidFill>
              <a:latin typeface="Aptos"/>
              <a:ea typeface="Aptos"/>
              <a:cs typeface="Aptos"/>
            </a:endParaRPr>
          </a:p>
        </p:txBody>
      </p:sp>
      <p:sp>
        <p:nvSpPr>
          <p:cNvPr id="17" name="文本框 16"/>
          <p:cNvSpPr txBox="1"/>
          <p:nvPr/>
        </p:nvSpPr>
        <p:spPr>
          <a:xfrm>
            <a:off x="666750" y="428625"/>
            <a:ext cx="8368030" cy="313944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sz="4000" b="1" u="none">
              <a:solidFill>
                <a:srgbClr val="12355B"/>
              </a:solidFill>
              <a:latin typeface="Arial Rounded MT Bold" charset="0"/>
              <a:ea typeface="Apple SD Gothic Neo Regular" charset="-122"/>
              <a:cs typeface="Aptos Display"/>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sz="4000" b="1" u="none">
                <a:solidFill>
                  <a:srgbClr val="12355B"/>
                </a:solidFill>
                <a:latin typeface="Arial Rounded MT Bold" charset="0"/>
                <a:ea typeface="Apple SD Gothic Neo Regular" charset="-122"/>
                <a:cs typeface="Aptos Display"/>
                <a:sym typeface="+mn-ea"/>
              </a:rPr>
              <a:t>Lightweight Recycled Carbon Fiber Carriage Materials for Sustainable High-Speed Rail</a:t>
            </a:r>
            <a:endParaRPr sz="4000" b="1" u="none">
              <a:solidFill>
                <a:srgbClr val="12355B"/>
              </a:solidFill>
              <a:latin typeface="Arial Rounded MT Bold" charset="0"/>
              <a:ea typeface="Apple SD Gothic Neo Regular" charset="-122"/>
              <a:cs typeface="Aptos Display"/>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4000" b="1" u="none" strike="noStrike" kern="1200" cap="none" spc="0" normalizeH="0" baseline="0" noProof="0">
              <a:ln>
                <a:noFill/>
              </a:ln>
              <a:gradFill>
                <a:gsLst>
                  <a:gs pos="0">
                    <a:srgbClr val="1F3E94"/>
                  </a:gs>
                  <a:gs pos="69000">
                    <a:srgbClr val="1F3E94">
                      <a:alpha val="2000"/>
                    </a:srgbClr>
                  </a:gs>
                </a:gsLst>
                <a:lin ang="5400000" scaled="0"/>
              </a:gradFill>
              <a:effectLst/>
              <a:uLnTx/>
              <a:uFillTx/>
              <a:latin typeface="Arial Rounded MT Bold" charset="0"/>
              <a:ea typeface="Apple SD Gothic Neo Regular" charset="-122"/>
              <a:cs typeface="+mn-cs"/>
            </a:endParaRPr>
          </a:p>
        </p:txBody>
      </p:sp>
      <p:sp>
        <p:nvSpPr>
          <p:cNvPr id="20" name="文本框 19"/>
          <p:cNvSpPr txBox="1"/>
          <p:nvPr/>
        </p:nvSpPr>
        <p:spPr>
          <a:xfrm>
            <a:off x="735965" y="3051810"/>
            <a:ext cx="7004050" cy="1310640"/>
          </a:xfrm>
          <a:prstGeom prst="rect">
            <a:avLst/>
          </a:prstGeom>
          <a:noFill/>
        </p:spPr>
        <p:txBody>
          <a:bodyPr wrap="square" rtlCol="0">
            <a:spAutoFit/>
          </a:bodyPr>
          <a:lstStyle/>
          <a:p>
            <a:pPr lvl="0">
              <a:defRPr/>
            </a:pPr>
            <a:r>
              <a:rPr sz="2000">
                <a:solidFill>
                  <a:srgbClr val="002060"/>
                </a:solidFill>
                <a:latin typeface="Aptos"/>
                <a:ea typeface="Aptos"/>
                <a:cs typeface="Aptos"/>
                <a:sym typeface="+mn-ea"/>
              </a:rPr>
              <a:t>Reducing energy use and carbon emissions through lighter carriage design</a:t>
            </a:r>
            <a:endParaRPr sz="2000" b="0">
              <a:solidFill>
                <a:srgbClr val="002060"/>
              </a:solidFill>
              <a:latin typeface="Aptos"/>
              <a:ea typeface="Aptos"/>
              <a:cs typeface="Aptos"/>
              <a:sym typeface="+mn-ea"/>
            </a:endParaRPr>
          </a:p>
          <a:p>
            <a:pPr lvl="0">
              <a:defRPr/>
            </a:pPr>
            <a:endParaRPr lang="en-US" altLang="zh-CN" sz="2000" b="0" dirty="0">
              <a:solidFill>
                <a:srgbClr val="002060"/>
              </a:solidFill>
              <a:latin typeface="Aptos"/>
              <a:ea typeface="Aptos"/>
              <a:cs typeface="Aptos"/>
              <a:sym typeface="+mn-ea"/>
            </a:endParaRPr>
          </a:p>
          <a:p>
            <a:pPr lvl="0">
              <a:defRPr/>
            </a:pPr>
            <a:endParaRPr lang="en-US" altLang="zh-CN" sz="2000" b="0" dirty="0">
              <a:solidFill>
                <a:srgbClr val="002060"/>
              </a:solidFill>
              <a:latin typeface="Aptos"/>
              <a:ea typeface="Aptos"/>
              <a:cs typeface="Aptos"/>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0" y="0"/>
            <a:ext cx="12192000" cy="6858000"/>
          </a:xfrm>
          <a:prstGeom prst="rect">
            <a:avLst/>
          </a:prstGeom>
          <a:solidFill>
            <a:srgbClr val="FFFFFF"/>
          </a:solidFill>
          <a:ln w="0">
            <a:solidFill>
              <a:srgbClr val="000000">
                <a:alpha val="0"/>
              </a:srgbClr>
            </a:solidFill>
            <a:prstDash val="solid"/>
          </a:ln>
        </p:spPr>
      </p:sp>
      <p:sp>
        <p:nvSpPr>
          <p:cNvPr id="2" name="矩形 1"/>
          <p:cNvSpPr/>
          <p:nvPr/>
        </p:nvSpPr>
        <p:spPr>
          <a:xfrm>
            <a:off x="0" y="0"/>
            <a:ext cx="12192000" cy="85725"/>
          </a:xfrm>
          <a:prstGeom prst="rect">
            <a:avLst/>
          </a:prstGeom>
          <a:solidFill>
            <a:srgbClr val="1F6FEB"/>
          </a:solidFill>
          <a:ln w="0">
            <a:solidFill>
              <a:srgbClr val="000000">
                <a:alpha val="0"/>
              </a:srgbClr>
            </a:solidFill>
            <a:prstDash val="solid"/>
          </a:ln>
        </p:spPr>
      </p:sp>
      <p:sp>
        <p:nvSpPr>
          <p:cNvPr id="3" name="矩形 2"/>
          <p:cNvSpPr/>
          <p:nvPr/>
        </p:nvSpPr>
        <p:spPr>
          <a:xfrm>
            <a:off x="0" y="85725"/>
            <a:ext cx="3429000" cy="47625"/>
          </a:xfrm>
          <a:prstGeom prst="rect">
            <a:avLst/>
          </a:prstGeom>
          <a:solidFill>
            <a:srgbClr val="2EAD66"/>
          </a:solidFill>
          <a:ln w="0">
            <a:solidFill>
              <a:srgbClr val="000000">
                <a:alpha val="0"/>
              </a:srgbClr>
            </a:solidFill>
            <a:prstDash val="solid"/>
          </a:ln>
        </p:spPr>
      </p:sp>
      <p:sp>
        <p:nvSpPr>
          <p:cNvPr id="4" name="矩形 3"/>
          <p:cNvSpPr/>
          <p:nvPr/>
        </p:nvSpPr>
        <p:spPr>
          <a:xfrm>
            <a:off x="514350" y="323850"/>
            <a:ext cx="86677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12355B"/>
                </a:solidFill>
                <a:latin typeface="Aptos Display"/>
                <a:ea typeface="Aptos Display"/>
                <a:cs typeface="Aptos Display"/>
              </a:defRPr>
            </a:pPr>
            <a:r>
              <a:rPr sz="2325" b="1">
                <a:solidFill>
                  <a:srgbClr val="12355B"/>
                </a:solidFill>
                <a:latin typeface="Aptos Display"/>
                <a:ea typeface="Aptos Display"/>
                <a:cs typeface="Aptos Display"/>
              </a:rPr>
              <a:t>Context: Australia’s Future High-Speed Rail</a:t>
            </a:r>
            <a:endParaRPr sz="2325" b="1">
              <a:solidFill>
                <a:srgbClr val="12355B"/>
              </a:solidFill>
              <a:latin typeface="Aptos Display"/>
              <a:ea typeface="Aptos Display"/>
              <a:cs typeface="Aptos Display"/>
            </a:endParaRPr>
          </a:p>
        </p:txBody>
      </p:sp>
      <p:sp>
        <p:nvSpPr>
          <p:cNvPr id="5" name="矩形 4"/>
          <p:cNvSpPr/>
          <p:nvPr/>
        </p:nvSpPr>
        <p:spPr>
          <a:xfrm>
            <a:off x="533400" y="762000"/>
            <a:ext cx="8382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F6B7A"/>
                </a:solidFill>
                <a:latin typeface="Aptos"/>
                <a:ea typeface="Aptos"/>
                <a:cs typeface="Aptos"/>
              </a:defRPr>
            </a:pPr>
            <a:r>
              <a:rPr sz="1200" b="0">
                <a:solidFill>
                  <a:srgbClr val="5F6B7A"/>
                </a:solidFill>
                <a:latin typeface="Aptos"/>
                <a:ea typeface="Aptos"/>
                <a:cs typeface="Aptos"/>
              </a:rPr>
              <a:t>Newcastle-Sydney is the case example for this design project.</a:t>
            </a:r>
            <a:endParaRPr sz="1200" b="0">
              <a:solidFill>
                <a:srgbClr val="5F6B7A"/>
              </a:solidFill>
              <a:latin typeface="Aptos"/>
              <a:ea typeface="Aptos"/>
              <a:cs typeface="Aptos"/>
            </a:endParaRPr>
          </a:p>
        </p:txBody>
      </p:sp>
      <p:sp>
        <p:nvSpPr>
          <p:cNvPr id="6" name="矩形 5"/>
          <p:cNvSpPr/>
          <p:nvPr/>
        </p:nvSpPr>
        <p:spPr>
          <a:xfrm>
            <a:off x="11106150" y="3619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F6B7A"/>
                </a:solidFill>
                <a:latin typeface="Aptos"/>
                <a:ea typeface="Aptos"/>
                <a:cs typeface="Aptos"/>
              </a:defRPr>
            </a:pPr>
            <a:r>
              <a:rPr sz="1050" b="0">
                <a:solidFill>
                  <a:srgbClr val="5F6B7A"/>
                </a:solidFill>
                <a:latin typeface="Aptos"/>
                <a:ea typeface="Aptos"/>
                <a:cs typeface="Aptos"/>
              </a:rPr>
              <a:t>02</a:t>
            </a:r>
            <a:endParaRPr sz="1050" b="0">
              <a:solidFill>
                <a:srgbClr val="5F6B7A"/>
              </a:solidFill>
              <a:latin typeface="Aptos"/>
              <a:ea typeface="Aptos"/>
              <a:cs typeface="Aptos"/>
            </a:endParaRPr>
          </a:p>
        </p:txBody>
      </p:sp>
      <p:sp>
        <p:nvSpPr>
          <p:cNvPr id="7" name="矩形 6"/>
          <p:cNvSpPr/>
          <p:nvPr/>
        </p:nvSpPr>
        <p:spPr>
          <a:xfrm>
            <a:off x="514350" y="6534150"/>
            <a:ext cx="9810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7A8594"/>
                </a:solidFill>
                <a:latin typeface="Aptos"/>
                <a:ea typeface="Aptos"/>
                <a:cs typeface="Aptos"/>
              </a:defRPr>
            </a:pPr>
            <a:r>
              <a:rPr sz="675" b="0">
                <a:solidFill>
                  <a:srgbClr val="7A8594"/>
                </a:solidFill>
                <a:latin typeface="Aptos"/>
                <a:ea typeface="Aptos"/>
                <a:cs typeface="Aptos"/>
              </a:rPr>
              <a:t>Sources: Infrastructure Australia; High Speed Rail Authority</a:t>
            </a:r>
            <a:endParaRPr sz="675" b="0">
              <a:solidFill>
                <a:srgbClr val="7A8594"/>
              </a:solidFill>
              <a:latin typeface="Aptos"/>
              <a:ea typeface="Aptos"/>
              <a:cs typeface="Aptos"/>
            </a:endParaRPr>
          </a:p>
        </p:txBody>
      </p:sp>
      <p:sp>
        <p:nvSpPr>
          <p:cNvPr id="8" name="矩形: 圆角 7"/>
          <p:cNvSpPr/>
          <p:nvPr/>
        </p:nvSpPr>
        <p:spPr>
          <a:xfrm>
            <a:off x="9191625" y="361950"/>
            <a:ext cx="1619250" cy="266700"/>
          </a:xfrm>
          <a:prstGeom prst="roundRect">
            <a:avLst>
              <a:gd name="adj" fmla="val 28571"/>
            </a:avLst>
          </a:prstGeom>
          <a:solidFill>
            <a:srgbClr val="F6F8FB"/>
          </a:solidFill>
          <a:ln w="9525">
            <a:solidFill>
              <a:srgbClr val="C9D4E2"/>
            </a:solidFill>
            <a:prstDash val="solid"/>
          </a:ln>
        </p:spPr>
      </p:sp>
      <p:sp>
        <p:nvSpPr>
          <p:cNvPr id="9" name="矩形 8"/>
          <p:cNvSpPr/>
          <p:nvPr/>
        </p:nvSpPr>
        <p:spPr>
          <a:xfrm>
            <a:off x="9296400" y="428625"/>
            <a:ext cx="1409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90" b="1">
                <a:solidFill>
                  <a:srgbClr val="12355B"/>
                </a:solidFill>
                <a:latin typeface="Aptos"/>
                <a:ea typeface="Aptos"/>
                <a:cs typeface="Aptos"/>
              </a:defRPr>
            </a:pPr>
            <a:r>
              <a:rPr sz="790" b="1">
                <a:solidFill>
                  <a:srgbClr val="12355B"/>
                </a:solidFill>
                <a:latin typeface="Aptos"/>
                <a:ea typeface="Aptos"/>
                <a:cs typeface="Aptos"/>
              </a:rPr>
              <a:t>Presenter:</a:t>
            </a:r>
            <a:r>
              <a:rPr lang="en-US" sz="790" b="1">
                <a:solidFill>
                  <a:srgbClr val="12355B"/>
                </a:solidFill>
                <a:latin typeface="Aptos"/>
                <a:ea typeface="Aptos"/>
                <a:cs typeface="Aptos"/>
              </a:rPr>
              <a:t>Liu XuTong</a:t>
            </a:r>
            <a:endParaRPr lang="en-US" sz="790" b="1">
              <a:solidFill>
                <a:srgbClr val="12355B"/>
              </a:solidFill>
              <a:latin typeface="Aptos"/>
              <a:ea typeface="Aptos"/>
              <a:cs typeface="Aptos"/>
            </a:endParaRPr>
          </a:p>
        </p:txBody>
      </p:sp>
      <p:sp>
        <p:nvSpPr>
          <p:cNvPr id="11" name="矩形 10"/>
          <p:cNvSpPr/>
          <p:nvPr/>
        </p:nvSpPr>
        <p:spPr>
          <a:xfrm>
            <a:off x="1028700" y="1323975"/>
            <a:ext cx="4476750" cy="323850"/>
          </a:xfrm>
          <a:prstGeom prst="rect">
            <a:avLst/>
          </a:prstGeom>
          <a:solidFill>
            <a:srgbClr val="000000">
              <a:alpha val="0"/>
            </a:srgbClr>
          </a:solidFill>
          <a:ln w="0">
            <a:solidFill>
              <a:srgbClr val="000000">
                <a:alpha val="0"/>
              </a:srgbClr>
            </a:solidFill>
            <a:prstDash val="solid"/>
          </a:ln>
        </p:spPr>
        <p:txBody>
          <a:bodyPr lIns="95250" tIns="76200" rIns="95250" bIns="76200" anchor="t"/>
          <a:lstStyle/>
          <a:p>
            <a:pPr algn="l">
              <a:defRPr sz="1875" b="1">
                <a:solidFill>
                  <a:srgbClr val="12355B"/>
                </a:solidFill>
                <a:latin typeface="Aptos"/>
                <a:ea typeface="Aptos"/>
                <a:cs typeface="Aptos"/>
              </a:defRPr>
            </a:pPr>
            <a:r>
              <a:rPr sz="1875" b="1">
                <a:solidFill>
                  <a:srgbClr val="12355B"/>
                </a:solidFill>
                <a:latin typeface="Aptos"/>
                <a:ea typeface="Aptos"/>
                <a:cs typeface="Aptos"/>
              </a:rPr>
              <a:t>Newcastle-Sydney: first major stage</a:t>
            </a:r>
            <a:endParaRPr sz="1875" b="1">
              <a:solidFill>
                <a:srgbClr val="12355B"/>
              </a:solidFill>
              <a:latin typeface="Aptos"/>
              <a:ea typeface="Aptos"/>
              <a:cs typeface="Aptos"/>
            </a:endParaRPr>
          </a:p>
        </p:txBody>
      </p:sp>
      <p:sp>
        <p:nvSpPr>
          <p:cNvPr id="12" name="矩形: 圆角 11"/>
          <p:cNvSpPr/>
          <p:nvPr/>
        </p:nvSpPr>
        <p:spPr>
          <a:xfrm>
            <a:off x="704850" y="2171700"/>
            <a:ext cx="2857500" cy="1104900"/>
          </a:xfrm>
          <a:prstGeom prst="roundRect">
            <a:avLst>
              <a:gd name="adj" fmla="val 6897"/>
            </a:avLst>
          </a:prstGeom>
          <a:solidFill>
            <a:srgbClr val="D9EAFE"/>
          </a:solidFill>
          <a:ln w="9525">
            <a:solidFill>
              <a:srgbClr val="1F6FEB"/>
            </a:solidFill>
            <a:prstDash val="solid"/>
          </a:ln>
        </p:spPr>
      </p:sp>
      <p:sp>
        <p:nvSpPr>
          <p:cNvPr id="13" name="矩形 12"/>
          <p:cNvSpPr/>
          <p:nvPr/>
        </p:nvSpPr>
        <p:spPr>
          <a:xfrm>
            <a:off x="876300" y="2362200"/>
            <a:ext cx="2476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6FEB"/>
                </a:solidFill>
                <a:latin typeface="Aptos"/>
                <a:ea typeface="Aptos"/>
                <a:cs typeface="Aptos"/>
              </a:defRPr>
            </a:pPr>
            <a:r>
              <a:rPr sz="2025" b="1">
                <a:solidFill>
                  <a:srgbClr val="1F6FEB"/>
                </a:solidFill>
                <a:latin typeface="Aptos"/>
                <a:ea typeface="Aptos"/>
                <a:cs typeface="Aptos"/>
              </a:rPr>
              <a:t>194 km</a:t>
            </a:r>
            <a:endParaRPr sz="2025" b="1">
              <a:solidFill>
                <a:srgbClr val="1F6FEB"/>
              </a:solidFill>
              <a:latin typeface="Aptos"/>
              <a:ea typeface="Aptos"/>
              <a:cs typeface="Aptos"/>
            </a:endParaRPr>
          </a:p>
        </p:txBody>
      </p:sp>
      <p:pic>
        <p:nvPicPr>
          <p:cNvPr id="31" name="图片 30"/>
          <p:cNvPicPr>
            <a:picLocks noChangeAspect="1"/>
          </p:cNvPicPr>
          <p:nvPr/>
        </p:nvPicPr>
        <p:blipFill>
          <a:blip r:embed="rId1" cstate="screen"/>
          <a:stretch>
            <a:fillRect/>
          </a:stretch>
        </p:blipFill>
        <p:spPr>
          <a:xfrm>
            <a:off x="2842260" y="2743200"/>
            <a:ext cx="5327015" cy="2063115"/>
          </a:xfrm>
          <a:prstGeom prst="rect">
            <a:avLst/>
          </a:prstGeom>
        </p:spPr>
      </p:pic>
      <p:sp>
        <p:nvSpPr>
          <p:cNvPr id="14" name="矩形 13"/>
          <p:cNvSpPr/>
          <p:nvPr/>
        </p:nvSpPr>
        <p:spPr>
          <a:xfrm>
            <a:off x="876300" y="2743200"/>
            <a:ext cx="23812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72033"/>
                </a:solidFill>
                <a:latin typeface="Aptos"/>
                <a:ea typeface="Aptos"/>
                <a:cs typeface="Aptos"/>
              </a:defRPr>
            </a:pPr>
            <a:r>
              <a:rPr sz="1200" b="0">
                <a:solidFill>
                  <a:srgbClr val="172033"/>
                </a:solidFill>
                <a:latin typeface="Aptos"/>
                <a:ea typeface="Aptos"/>
                <a:cs typeface="Aptos"/>
              </a:rPr>
              <a:t>proposed alignment</a:t>
            </a:r>
            <a:endParaRPr sz="1200" b="0">
              <a:solidFill>
                <a:srgbClr val="172033"/>
              </a:solidFill>
              <a:latin typeface="Aptos"/>
              <a:ea typeface="Aptos"/>
              <a:cs typeface="Aptos"/>
            </a:endParaRPr>
          </a:p>
        </p:txBody>
      </p:sp>
      <p:sp>
        <p:nvSpPr>
          <p:cNvPr id="15" name="矩形: 圆角 14"/>
          <p:cNvSpPr/>
          <p:nvPr/>
        </p:nvSpPr>
        <p:spPr>
          <a:xfrm>
            <a:off x="4076700" y="2171700"/>
            <a:ext cx="2857500" cy="1104900"/>
          </a:xfrm>
          <a:prstGeom prst="roundRect">
            <a:avLst>
              <a:gd name="adj" fmla="val 6897"/>
            </a:avLst>
          </a:prstGeom>
          <a:solidFill>
            <a:srgbClr val="D9EAFE"/>
          </a:solidFill>
          <a:ln w="9525">
            <a:solidFill>
              <a:srgbClr val="1F6FEB"/>
            </a:solidFill>
            <a:prstDash val="solid"/>
          </a:ln>
        </p:spPr>
      </p:sp>
      <p:sp>
        <p:nvSpPr>
          <p:cNvPr id="16" name="矩形 15"/>
          <p:cNvSpPr/>
          <p:nvPr/>
        </p:nvSpPr>
        <p:spPr>
          <a:xfrm>
            <a:off x="4248150" y="2362200"/>
            <a:ext cx="2476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6FEB"/>
                </a:solidFill>
                <a:latin typeface="Aptos"/>
                <a:ea typeface="Aptos"/>
                <a:cs typeface="Aptos"/>
              </a:defRPr>
            </a:pPr>
            <a:r>
              <a:rPr sz="2025" b="1">
                <a:solidFill>
                  <a:srgbClr val="1F6FEB"/>
                </a:solidFill>
                <a:latin typeface="Aptos"/>
                <a:ea typeface="Aptos"/>
                <a:cs typeface="Aptos"/>
              </a:rPr>
              <a:t>Up to 320 km/h</a:t>
            </a:r>
            <a:endParaRPr sz="2025" b="1">
              <a:solidFill>
                <a:srgbClr val="1F6FEB"/>
              </a:solidFill>
              <a:latin typeface="Aptos"/>
              <a:ea typeface="Aptos"/>
              <a:cs typeface="Aptos"/>
            </a:endParaRPr>
          </a:p>
        </p:txBody>
      </p:sp>
      <p:sp>
        <p:nvSpPr>
          <p:cNvPr id="17" name="矩形 16"/>
          <p:cNvSpPr/>
          <p:nvPr/>
        </p:nvSpPr>
        <p:spPr>
          <a:xfrm>
            <a:off x="4248150" y="2743200"/>
            <a:ext cx="23812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72033"/>
                </a:solidFill>
                <a:latin typeface="Aptos"/>
                <a:ea typeface="Aptos"/>
                <a:cs typeface="Aptos"/>
              </a:defRPr>
            </a:pPr>
            <a:r>
              <a:rPr sz="1200" b="0">
                <a:solidFill>
                  <a:srgbClr val="172033"/>
                </a:solidFill>
                <a:latin typeface="Aptos"/>
                <a:ea typeface="Aptos"/>
                <a:cs typeface="Aptos"/>
              </a:rPr>
              <a:t>planned speed outside tunnels</a:t>
            </a:r>
            <a:endParaRPr sz="1200" b="0">
              <a:solidFill>
                <a:srgbClr val="172033"/>
              </a:solidFill>
              <a:latin typeface="Aptos"/>
              <a:ea typeface="Aptos"/>
              <a:cs typeface="Aptos"/>
            </a:endParaRPr>
          </a:p>
        </p:txBody>
      </p:sp>
      <p:sp>
        <p:nvSpPr>
          <p:cNvPr id="18" name="矩形: 圆角 17"/>
          <p:cNvSpPr/>
          <p:nvPr/>
        </p:nvSpPr>
        <p:spPr>
          <a:xfrm>
            <a:off x="7448550" y="2171700"/>
            <a:ext cx="2857500" cy="1104900"/>
          </a:xfrm>
          <a:prstGeom prst="roundRect">
            <a:avLst>
              <a:gd name="adj" fmla="val 6897"/>
            </a:avLst>
          </a:prstGeom>
          <a:solidFill>
            <a:srgbClr val="DDF7E9"/>
          </a:solidFill>
          <a:ln w="9525">
            <a:solidFill>
              <a:srgbClr val="2EAD66"/>
            </a:solidFill>
            <a:prstDash val="solid"/>
          </a:ln>
        </p:spPr>
      </p:sp>
      <p:sp>
        <p:nvSpPr>
          <p:cNvPr id="19" name="矩形 18"/>
          <p:cNvSpPr/>
          <p:nvPr/>
        </p:nvSpPr>
        <p:spPr>
          <a:xfrm>
            <a:off x="7620000" y="2362200"/>
            <a:ext cx="2476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2EAD66"/>
                </a:solidFill>
                <a:latin typeface="Aptos"/>
                <a:ea typeface="Aptos"/>
                <a:cs typeface="Aptos"/>
              </a:defRPr>
            </a:pPr>
            <a:r>
              <a:rPr sz="2025" b="1">
                <a:solidFill>
                  <a:srgbClr val="2EAD66"/>
                </a:solidFill>
                <a:latin typeface="Aptos"/>
                <a:ea typeface="Aptos"/>
                <a:cs typeface="Aptos"/>
              </a:rPr>
              <a:t>Long-term need</a:t>
            </a:r>
            <a:endParaRPr sz="2025" b="1">
              <a:solidFill>
                <a:srgbClr val="2EAD66"/>
              </a:solidFill>
              <a:latin typeface="Aptos"/>
              <a:ea typeface="Aptos"/>
              <a:cs typeface="Aptos"/>
            </a:endParaRPr>
          </a:p>
        </p:txBody>
      </p:sp>
      <p:sp>
        <p:nvSpPr>
          <p:cNvPr id="20" name="矩形 19"/>
          <p:cNvSpPr/>
          <p:nvPr/>
        </p:nvSpPr>
        <p:spPr>
          <a:xfrm>
            <a:off x="7620000" y="2743200"/>
            <a:ext cx="23812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72033"/>
                </a:solidFill>
                <a:latin typeface="Aptos"/>
                <a:ea typeface="Aptos"/>
                <a:cs typeface="Aptos"/>
              </a:defRPr>
            </a:pPr>
            <a:r>
              <a:rPr sz="1200" b="0">
                <a:solidFill>
                  <a:srgbClr val="172033"/>
                </a:solidFill>
                <a:latin typeface="Aptos"/>
                <a:ea typeface="Aptos"/>
                <a:cs typeface="Aptos"/>
              </a:rPr>
              <a:t>energy-efficient and sustainable operation</a:t>
            </a:r>
            <a:endParaRPr sz="1200" b="0">
              <a:solidFill>
                <a:srgbClr val="172033"/>
              </a:solidFill>
              <a:latin typeface="Aptos"/>
              <a:ea typeface="Aptos"/>
              <a:cs typeface="Aptos"/>
            </a:endParaRPr>
          </a:p>
        </p:txBody>
      </p:sp>
      <p:sp>
        <p:nvSpPr>
          <p:cNvPr id="21" name="矩形 20"/>
          <p:cNvSpPr/>
          <p:nvPr/>
        </p:nvSpPr>
        <p:spPr>
          <a:xfrm>
            <a:off x="1352550" y="4657725"/>
            <a:ext cx="8667750" cy="66675"/>
          </a:xfrm>
          <a:prstGeom prst="rect">
            <a:avLst/>
          </a:prstGeom>
          <a:solidFill>
            <a:srgbClr val="1F6FEB"/>
          </a:solidFill>
          <a:ln w="9525">
            <a:solidFill>
              <a:srgbClr val="1F6FEB"/>
            </a:solidFill>
            <a:prstDash val="solid"/>
          </a:ln>
        </p:spPr>
      </p:sp>
      <p:sp>
        <p:nvSpPr>
          <p:cNvPr id="22" name="椭圆 21"/>
          <p:cNvSpPr/>
          <p:nvPr/>
        </p:nvSpPr>
        <p:spPr>
          <a:xfrm>
            <a:off x="1409700" y="4514850"/>
            <a:ext cx="342900" cy="342900"/>
          </a:xfrm>
          <a:prstGeom prst="ellipse">
            <a:avLst/>
          </a:prstGeom>
          <a:solidFill>
            <a:srgbClr val="FFFFFF"/>
          </a:solidFill>
          <a:ln w="38100">
            <a:solidFill>
              <a:srgbClr val="1F6FEB"/>
            </a:solidFill>
            <a:prstDash val="solid"/>
          </a:ln>
        </p:spPr>
      </p:sp>
      <p:sp>
        <p:nvSpPr>
          <p:cNvPr id="23" name="矩形 22"/>
          <p:cNvSpPr/>
          <p:nvPr/>
        </p:nvSpPr>
        <p:spPr>
          <a:xfrm>
            <a:off x="838200" y="4972050"/>
            <a:ext cx="1485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2355B"/>
                </a:solidFill>
                <a:latin typeface="Aptos"/>
                <a:ea typeface="Aptos"/>
                <a:cs typeface="Aptos"/>
              </a:defRPr>
            </a:pPr>
            <a:r>
              <a:rPr sz="1125" b="1">
                <a:solidFill>
                  <a:srgbClr val="12355B"/>
                </a:solidFill>
                <a:latin typeface="Aptos"/>
                <a:ea typeface="Aptos"/>
                <a:cs typeface="Aptos"/>
              </a:rPr>
              <a:t>Newcastle</a:t>
            </a:r>
            <a:endParaRPr sz="1125" b="1">
              <a:solidFill>
                <a:srgbClr val="12355B"/>
              </a:solidFill>
              <a:latin typeface="Aptos"/>
              <a:ea typeface="Aptos"/>
              <a:cs typeface="Aptos"/>
            </a:endParaRPr>
          </a:p>
        </p:txBody>
      </p:sp>
      <p:sp>
        <p:nvSpPr>
          <p:cNvPr id="24" name="椭圆 23"/>
          <p:cNvSpPr/>
          <p:nvPr/>
        </p:nvSpPr>
        <p:spPr>
          <a:xfrm>
            <a:off x="5486400" y="4514850"/>
            <a:ext cx="342900" cy="342900"/>
          </a:xfrm>
          <a:prstGeom prst="ellipse">
            <a:avLst/>
          </a:prstGeom>
          <a:solidFill>
            <a:srgbClr val="FFFFFF"/>
          </a:solidFill>
          <a:ln w="38100">
            <a:solidFill>
              <a:srgbClr val="2EAD66"/>
            </a:solidFill>
            <a:prstDash val="solid"/>
          </a:ln>
        </p:spPr>
      </p:sp>
      <p:sp>
        <p:nvSpPr>
          <p:cNvPr id="25" name="矩形 24"/>
          <p:cNvSpPr/>
          <p:nvPr/>
        </p:nvSpPr>
        <p:spPr>
          <a:xfrm>
            <a:off x="4914900" y="4972050"/>
            <a:ext cx="1485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2355B"/>
                </a:solidFill>
                <a:latin typeface="Aptos"/>
                <a:ea typeface="Aptos"/>
                <a:cs typeface="Aptos"/>
              </a:defRPr>
            </a:pPr>
            <a:r>
              <a:rPr sz="1125" b="1">
                <a:solidFill>
                  <a:srgbClr val="12355B"/>
                </a:solidFill>
                <a:latin typeface="Aptos"/>
                <a:ea typeface="Aptos"/>
                <a:cs typeface="Aptos"/>
              </a:rPr>
              <a:t>Central Coast</a:t>
            </a:r>
            <a:endParaRPr sz="1125" b="1">
              <a:solidFill>
                <a:srgbClr val="12355B"/>
              </a:solidFill>
              <a:latin typeface="Aptos"/>
              <a:ea typeface="Aptos"/>
              <a:cs typeface="Aptos"/>
            </a:endParaRPr>
          </a:p>
        </p:txBody>
      </p:sp>
      <p:sp>
        <p:nvSpPr>
          <p:cNvPr id="26" name="椭圆 25"/>
          <p:cNvSpPr/>
          <p:nvPr/>
        </p:nvSpPr>
        <p:spPr>
          <a:xfrm>
            <a:off x="9601200" y="4514850"/>
            <a:ext cx="342900" cy="342900"/>
          </a:xfrm>
          <a:prstGeom prst="ellipse">
            <a:avLst/>
          </a:prstGeom>
          <a:solidFill>
            <a:srgbClr val="FFFFFF"/>
          </a:solidFill>
          <a:ln w="38100">
            <a:solidFill>
              <a:srgbClr val="1F6FEB"/>
            </a:solidFill>
            <a:prstDash val="solid"/>
          </a:ln>
        </p:spPr>
      </p:sp>
      <p:sp>
        <p:nvSpPr>
          <p:cNvPr id="27" name="矩形 26"/>
          <p:cNvSpPr/>
          <p:nvPr/>
        </p:nvSpPr>
        <p:spPr>
          <a:xfrm>
            <a:off x="9029700" y="4972050"/>
            <a:ext cx="1485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2355B"/>
                </a:solidFill>
                <a:latin typeface="Aptos"/>
                <a:ea typeface="Aptos"/>
                <a:cs typeface="Aptos"/>
              </a:defRPr>
            </a:pPr>
            <a:r>
              <a:rPr sz="1125" b="1">
                <a:solidFill>
                  <a:srgbClr val="12355B"/>
                </a:solidFill>
                <a:latin typeface="Aptos"/>
                <a:ea typeface="Aptos"/>
                <a:cs typeface="Aptos"/>
              </a:rPr>
              <a:t>Sydney</a:t>
            </a:r>
            <a:endParaRPr sz="1125" b="1">
              <a:solidFill>
                <a:srgbClr val="12355B"/>
              </a:solidFill>
              <a:latin typeface="Aptos"/>
              <a:ea typeface="Aptos"/>
              <a:cs typeface="Aptos"/>
            </a:endParaRPr>
          </a:p>
        </p:txBody>
      </p:sp>
      <p:sp>
        <p:nvSpPr>
          <p:cNvPr id="29" name="矩形 28"/>
          <p:cNvSpPr/>
          <p:nvPr/>
        </p:nvSpPr>
        <p:spPr>
          <a:xfrm>
            <a:off x="1809750" y="5403850"/>
            <a:ext cx="7982585" cy="482600"/>
          </a:xfrm>
          <a:prstGeom prst="rect">
            <a:avLst/>
          </a:prstGeom>
          <a:solidFill>
            <a:srgbClr val="F6F8FB"/>
          </a:solidFill>
          <a:ln w="9525">
            <a:solidFill>
              <a:srgbClr val="C9D4E2"/>
            </a:solidFill>
            <a:prstDash val="solid"/>
          </a:ln>
        </p:spPr>
        <p:txBody>
          <a:bodyPr lIns="95250" tIns="76200" rIns="95250" bIns="76200" anchor="t"/>
          <a:lstStyle/>
          <a:p>
            <a:pPr algn="ctr">
              <a:defRPr sz="1725" b="1">
                <a:solidFill>
                  <a:srgbClr val="12355B"/>
                </a:solidFill>
                <a:latin typeface="Aptos"/>
                <a:ea typeface="Aptos"/>
                <a:cs typeface="Aptos"/>
              </a:defRPr>
            </a:pPr>
            <a:r>
              <a:rPr sz="1725" b="1">
                <a:solidFill>
                  <a:srgbClr val="12355B"/>
                </a:solidFill>
                <a:latin typeface="Aptos"/>
                <a:ea typeface="Aptos"/>
                <a:cs typeface="Aptos"/>
              </a:rPr>
              <a:t>Design focus: lower energy per carriage</a:t>
            </a:r>
            <a:endParaRPr sz="1725" b="1">
              <a:solidFill>
                <a:srgbClr val="12355B"/>
              </a:solidFill>
              <a:latin typeface="Aptos"/>
              <a:ea typeface="Aptos"/>
              <a:cs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2" name="矩形 1"/>
          <p:cNvSpPr/>
          <p:nvPr/>
        </p:nvSpPr>
        <p:spPr>
          <a:xfrm>
            <a:off x="0" y="0"/>
            <a:ext cx="12192000" cy="85725"/>
          </a:xfrm>
          <a:prstGeom prst="rect">
            <a:avLst/>
          </a:prstGeom>
          <a:solidFill>
            <a:srgbClr val="1F6FEB"/>
          </a:solidFill>
          <a:ln w="0">
            <a:solidFill>
              <a:srgbClr val="000000">
                <a:alpha val="0"/>
              </a:srgbClr>
            </a:solidFill>
            <a:prstDash val="solid"/>
          </a:ln>
        </p:spPr>
      </p:sp>
      <p:sp>
        <p:nvSpPr>
          <p:cNvPr id="3" name="矩形 2"/>
          <p:cNvSpPr/>
          <p:nvPr/>
        </p:nvSpPr>
        <p:spPr>
          <a:xfrm>
            <a:off x="0" y="85725"/>
            <a:ext cx="3429000" cy="47625"/>
          </a:xfrm>
          <a:prstGeom prst="rect">
            <a:avLst/>
          </a:prstGeom>
          <a:solidFill>
            <a:srgbClr val="2EAD66"/>
          </a:solidFill>
          <a:ln w="0">
            <a:solidFill>
              <a:srgbClr val="000000">
                <a:alpha val="0"/>
              </a:srgbClr>
            </a:solidFill>
            <a:prstDash val="solid"/>
          </a:ln>
        </p:spPr>
      </p:sp>
      <p:sp>
        <p:nvSpPr>
          <p:cNvPr id="4" name="矩形 3"/>
          <p:cNvSpPr/>
          <p:nvPr/>
        </p:nvSpPr>
        <p:spPr>
          <a:xfrm>
            <a:off x="514350" y="323850"/>
            <a:ext cx="86677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12355B"/>
                </a:solidFill>
                <a:latin typeface="Aptos Display"/>
                <a:ea typeface="Aptos Display"/>
                <a:cs typeface="Aptos Display"/>
              </a:defRPr>
            </a:pPr>
            <a:r>
              <a:rPr sz="2325" b="1">
                <a:solidFill>
                  <a:srgbClr val="12355B"/>
                </a:solidFill>
                <a:latin typeface="Aptos Display"/>
                <a:ea typeface="Aptos Display"/>
                <a:cs typeface="Aptos Display"/>
              </a:rPr>
              <a:t>Problem Definition</a:t>
            </a:r>
            <a:endParaRPr sz="2325" b="1">
              <a:solidFill>
                <a:srgbClr val="12355B"/>
              </a:solidFill>
              <a:latin typeface="Aptos Display"/>
              <a:ea typeface="Aptos Display"/>
              <a:cs typeface="Aptos Display"/>
            </a:endParaRPr>
          </a:p>
        </p:txBody>
      </p:sp>
      <p:sp>
        <p:nvSpPr>
          <p:cNvPr id="5" name="矩形 4"/>
          <p:cNvSpPr/>
          <p:nvPr/>
        </p:nvSpPr>
        <p:spPr>
          <a:xfrm>
            <a:off x="533400" y="762000"/>
            <a:ext cx="8382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F6B7A"/>
                </a:solidFill>
                <a:latin typeface="Aptos"/>
                <a:ea typeface="Aptos"/>
                <a:cs typeface="Aptos"/>
              </a:defRPr>
            </a:pPr>
            <a:r>
              <a:rPr sz="1200" b="0">
                <a:solidFill>
                  <a:srgbClr val="5F6B7A"/>
                </a:solidFill>
                <a:latin typeface="Aptos"/>
                <a:ea typeface="Aptos"/>
                <a:cs typeface="Aptos"/>
              </a:rPr>
              <a:t>Heavy carriage materials can increase energy demand across the operating life of high-speed rail.</a:t>
            </a:r>
            <a:endParaRPr sz="1200" b="0">
              <a:solidFill>
                <a:srgbClr val="5F6B7A"/>
              </a:solidFill>
              <a:latin typeface="Aptos"/>
              <a:ea typeface="Aptos"/>
              <a:cs typeface="Aptos"/>
            </a:endParaRPr>
          </a:p>
        </p:txBody>
      </p:sp>
      <p:sp>
        <p:nvSpPr>
          <p:cNvPr id="6" name="矩形 5"/>
          <p:cNvSpPr/>
          <p:nvPr/>
        </p:nvSpPr>
        <p:spPr>
          <a:xfrm>
            <a:off x="11106150" y="3619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F6B7A"/>
                </a:solidFill>
                <a:latin typeface="Aptos"/>
                <a:ea typeface="Aptos"/>
                <a:cs typeface="Aptos"/>
              </a:defRPr>
            </a:pPr>
            <a:r>
              <a:rPr sz="1050" b="0">
                <a:solidFill>
                  <a:srgbClr val="5F6B7A"/>
                </a:solidFill>
                <a:latin typeface="Aptos"/>
                <a:ea typeface="Aptos"/>
                <a:cs typeface="Aptos"/>
              </a:rPr>
              <a:t>03</a:t>
            </a:r>
            <a:endParaRPr sz="1050" b="0">
              <a:solidFill>
                <a:srgbClr val="5F6B7A"/>
              </a:solidFill>
              <a:latin typeface="Aptos"/>
              <a:ea typeface="Aptos"/>
              <a:cs typeface="Aptos"/>
            </a:endParaRPr>
          </a:p>
        </p:txBody>
      </p:sp>
      <p:sp>
        <p:nvSpPr>
          <p:cNvPr id="7" name="矩形: 圆角 6"/>
          <p:cNvSpPr/>
          <p:nvPr/>
        </p:nvSpPr>
        <p:spPr>
          <a:xfrm>
            <a:off x="9191625" y="361950"/>
            <a:ext cx="1619250" cy="266700"/>
          </a:xfrm>
          <a:prstGeom prst="roundRect">
            <a:avLst>
              <a:gd name="adj" fmla="val 28571"/>
            </a:avLst>
          </a:prstGeom>
          <a:solidFill>
            <a:srgbClr val="F6F8FB"/>
          </a:solidFill>
          <a:ln w="9525">
            <a:solidFill>
              <a:srgbClr val="C9D4E2"/>
            </a:solidFill>
            <a:prstDash val="solid"/>
          </a:ln>
        </p:spPr>
      </p:sp>
      <p:sp>
        <p:nvSpPr>
          <p:cNvPr id="8" name="矩形 7"/>
          <p:cNvSpPr/>
          <p:nvPr/>
        </p:nvSpPr>
        <p:spPr>
          <a:xfrm>
            <a:off x="9296400" y="428625"/>
            <a:ext cx="1409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90" b="1">
                <a:solidFill>
                  <a:srgbClr val="12355B"/>
                </a:solidFill>
                <a:latin typeface="Aptos"/>
                <a:ea typeface="Aptos"/>
                <a:cs typeface="Aptos"/>
              </a:defRPr>
            </a:pPr>
            <a:r>
              <a:rPr sz="790" b="1">
                <a:solidFill>
                  <a:srgbClr val="12355B"/>
                </a:solidFill>
                <a:latin typeface="Aptos"/>
                <a:ea typeface="Aptos"/>
                <a:cs typeface="Aptos"/>
              </a:rPr>
              <a:t>Presenter:</a:t>
            </a:r>
            <a:r>
              <a:rPr lang="en-US" sz="790" b="1">
                <a:solidFill>
                  <a:srgbClr val="12355B"/>
                </a:solidFill>
                <a:latin typeface="Aptos"/>
                <a:ea typeface="Aptos"/>
                <a:cs typeface="Aptos"/>
              </a:rPr>
              <a:t>Liu JunHan</a:t>
            </a:r>
            <a:endParaRPr lang="en-US" sz="790" b="1">
              <a:solidFill>
                <a:srgbClr val="12355B"/>
              </a:solidFill>
              <a:latin typeface="Aptos"/>
              <a:ea typeface="Aptos"/>
              <a:cs typeface="Aptos"/>
            </a:endParaRPr>
          </a:p>
        </p:txBody>
      </p:sp>
      <p:sp>
        <p:nvSpPr>
          <p:cNvPr id="9" name="矩形: 圆角 8"/>
          <p:cNvSpPr/>
          <p:nvPr/>
        </p:nvSpPr>
        <p:spPr>
          <a:xfrm>
            <a:off x="704850" y="1257300"/>
            <a:ext cx="10134600" cy="933450"/>
          </a:xfrm>
          <a:prstGeom prst="roundRect">
            <a:avLst>
              <a:gd name="adj" fmla="val 8163"/>
            </a:avLst>
          </a:prstGeom>
          <a:solidFill>
            <a:srgbClr val="F6F8FB"/>
          </a:solidFill>
          <a:ln w="9525">
            <a:solidFill>
              <a:srgbClr val="C9D4E2"/>
            </a:solidFill>
            <a:prstDash val="solid"/>
          </a:ln>
        </p:spPr>
      </p:sp>
      <p:sp>
        <p:nvSpPr>
          <p:cNvPr id="10" name="矩形 9"/>
          <p:cNvSpPr/>
          <p:nvPr/>
        </p:nvSpPr>
        <p:spPr>
          <a:xfrm>
            <a:off x="971550" y="1466850"/>
            <a:ext cx="1143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6FEB"/>
                </a:solidFill>
                <a:latin typeface="Aptos"/>
                <a:ea typeface="Aptos"/>
                <a:cs typeface="Aptos"/>
              </a:defRPr>
            </a:pPr>
            <a:r>
              <a:rPr sz="1350" b="1">
                <a:solidFill>
                  <a:srgbClr val="1F6FEB"/>
                </a:solidFill>
                <a:latin typeface="Aptos"/>
                <a:ea typeface="Aptos"/>
                <a:cs typeface="Aptos"/>
              </a:rPr>
              <a:t>Problem</a:t>
            </a:r>
            <a:endParaRPr sz="1350" b="1">
              <a:solidFill>
                <a:srgbClr val="1F6FEB"/>
              </a:solidFill>
              <a:latin typeface="Aptos"/>
              <a:ea typeface="Aptos"/>
              <a:cs typeface="Aptos"/>
            </a:endParaRPr>
          </a:p>
        </p:txBody>
      </p:sp>
      <p:sp>
        <p:nvSpPr>
          <p:cNvPr id="11" name="矩形 10"/>
          <p:cNvSpPr/>
          <p:nvPr/>
        </p:nvSpPr>
        <p:spPr>
          <a:xfrm>
            <a:off x="971550" y="1752600"/>
            <a:ext cx="7239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72033"/>
                </a:solidFill>
                <a:latin typeface="Aptos"/>
                <a:ea typeface="Aptos"/>
                <a:cs typeface="Aptos"/>
              </a:defRPr>
            </a:pPr>
            <a:r>
              <a:rPr sz="1800" b="1">
                <a:solidFill>
                  <a:srgbClr val="172033"/>
                </a:solidFill>
                <a:latin typeface="Aptos"/>
                <a:ea typeface="Aptos"/>
                <a:cs typeface="Aptos"/>
              </a:rPr>
              <a:t>Heavy carriages increase lifetime energy and emissions pressure.</a:t>
            </a:r>
            <a:endParaRPr sz="1800" b="1">
              <a:solidFill>
                <a:srgbClr val="172033"/>
              </a:solidFill>
              <a:latin typeface="Aptos"/>
              <a:ea typeface="Aptos"/>
              <a:cs typeface="Aptos"/>
            </a:endParaRPr>
          </a:p>
        </p:txBody>
      </p:sp>
      <p:sp>
        <p:nvSpPr>
          <p:cNvPr id="12" name="矩形: 圆角 11"/>
          <p:cNvSpPr/>
          <p:nvPr/>
        </p:nvSpPr>
        <p:spPr>
          <a:xfrm>
            <a:off x="714375" y="3390900"/>
            <a:ext cx="2095500" cy="1066800"/>
          </a:xfrm>
          <a:prstGeom prst="roundRect">
            <a:avLst>
              <a:gd name="adj" fmla="val 7143"/>
            </a:avLst>
          </a:prstGeom>
          <a:solidFill>
            <a:srgbClr val="D9EAFE"/>
          </a:solidFill>
          <a:ln w="13335">
            <a:solidFill>
              <a:srgbClr val="1F6FEB"/>
            </a:solidFill>
            <a:prstDash val="solid"/>
          </a:ln>
        </p:spPr>
      </p:sp>
      <p:sp>
        <p:nvSpPr>
          <p:cNvPr id="13" name="矩形 12"/>
          <p:cNvSpPr/>
          <p:nvPr/>
        </p:nvSpPr>
        <p:spPr>
          <a:xfrm>
            <a:off x="847725" y="3600450"/>
            <a:ext cx="1828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12355B"/>
                </a:solidFill>
                <a:latin typeface="Aptos"/>
                <a:ea typeface="Aptos"/>
                <a:cs typeface="Aptos"/>
              </a:defRPr>
            </a:pPr>
            <a:r>
              <a:rPr sz="1425" b="1">
                <a:solidFill>
                  <a:srgbClr val="12355B"/>
                </a:solidFill>
                <a:latin typeface="Aptos"/>
                <a:ea typeface="Aptos"/>
                <a:cs typeface="Aptos"/>
              </a:rPr>
              <a:t>Heavier carriage</a:t>
            </a:r>
            <a:endParaRPr sz="1425" b="1">
              <a:solidFill>
                <a:srgbClr val="12355B"/>
              </a:solidFill>
              <a:latin typeface="Aptos"/>
              <a:ea typeface="Aptos"/>
              <a:cs typeface="Aptos"/>
            </a:endParaRPr>
          </a:p>
        </p:txBody>
      </p:sp>
      <p:sp>
        <p:nvSpPr>
          <p:cNvPr id="14" name="矩形 13"/>
          <p:cNvSpPr/>
          <p:nvPr/>
        </p:nvSpPr>
        <p:spPr>
          <a:xfrm>
            <a:off x="885825" y="3943350"/>
            <a:ext cx="17526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5F6B7A"/>
                </a:solidFill>
                <a:latin typeface="Aptos"/>
                <a:ea typeface="Aptos"/>
                <a:cs typeface="Aptos"/>
              </a:defRPr>
            </a:pPr>
            <a:r>
              <a:rPr sz="1050" b="0">
                <a:solidFill>
                  <a:srgbClr val="5F6B7A"/>
                </a:solidFill>
                <a:latin typeface="Aptos"/>
                <a:ea typeface="Aptos"/>
                <a:cs typeface="Aptos"/>
              </a:rPr>
              <a:t>More mass to move</a:t>
            </a:r>
            <a:endParaRPr sz="1050" b="0">
              <a:solidFill>
                <a:srgbClr val="5F6B7A"/>
              </a:solidFill>
              <a:latin typeface="Aptos"/>
              <a:ea typeface="Aptos"/>
              <a:cs typeface="Aptos"/>
            </a:endParaRPr>
          </a:p>
        </p:txBody>
      </p:sp>
      <p:sp>
        <p:nvSpPr>
          <p:cNvPr id="15" name="箭头: 右 14"/>
          <p:cNvSpPr/>
          <p:nvPr/>
        </p:nvSpPr>
        <p:spPr>
          <a:xfrm>
            <a:off x="2886075" y="3752850"/>
            <a:ext cx="514350" cy="342900"/>
          </a:xfrm>
          <a:prstGeom prst="rightArrow">
            <a:avLst/>
          </a:prstGeom>
          <a:solidFill>
            <a:srgbClr val="1F6FEB"/>
          </a:solidFill>
          <a:ln w="9525">
            <a:solidFill>
              <a:srgbClr val="1F6FEB"/>
            </a:solidFill>
            <a:prstDash val="solid"/>
          </a:ln>
        </p:spPr>
      </p:sp>
      <p:sp>
        <p:nvSpPr>
          <p:cNvPr id="16" name="矩形: 圆角 15"/>
          <p:cNvSpPr/>
          <p:nvPr/>
        </p:nvSpPr>
        <p:spPr>
          <a:xfrm>
            <a:off x="3438525" y="3390900"/>
            <a:ext cx="2095500" cy="1066800"/>
          </a:xfrm>
          <a:prstGeom prst="roundRect">
            <a:avLst>
              <a:gd name="adj" fmla="val 7143"/>
            </a:avLst>
          </a:prstGeom>
          <a:solidFill>
            <a:srgbClr val="D9EAFE"/>
          </a:solidFill>
          <a:ln w="13335">
            <a:solidFill>
              <a:srgbClr val="1F6FEB"/>
            </a:solidFill>
            <a:prstDash val="solid"/>
          </a:ln>
        </p:spPr>
      </p:sp>
      <p:sp>
        <p:nvSpPr>
          <p:cNvPr id="17" name="矩形 16"/>
          <p:cNvSpPr/>
          <p:nvPr/>
        </p:nvSpPr>
        <p:spPr>
          <a:xfrm>
            <a:off x="3571875" y="3600450"/>
            <a:ext cx="1828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12355B"/>
                </a:solidFill>
                <a:latin typeface="Aptos"/>
                <a:ea typeface="Aptos"/>
                <a:cs typeface="Aptos"/>
              </a:defRPr>
            </a:pPr>
            <a:r>
              <a:rPr sz="1425" b="1">
                <a:solidFill>
                  <a:srgbClr val="12355B"/>
                </a:solidFill>
                <a:latin typeface="Aptos"/>
                <a:ea typeface="Aptos"/>
                <a:cs typeface="Aptos"/>
              </a:rPr>
              <a:t>Higher energy use</a:t>
            </a:r>
            <a:endParaRPr sz="1425" b="1">
              <a:solidFill>
                <a:srgbClr val="12355B"/>
              </a:solidFill>
              <a:latin typeface="Aptos"/>
              <a:ea typeface="Aptos"/>
              <a:cs typeface="Aptos"/>
            </a:endParaRPr>
          </a:p>
        </p:txBody>
      </p:sp>
      <p:sp>
        <p:nvSpPr>
          <p:cNvPr id="18" name="矩形 17"/>
          <p:cNvSpPr/>
          <p:nvPr/>
        </p:nvSpPr>
        <p:spPr>
          <a:xfrm>
            <a:off x="3609975" y="3943350"/>
            <a:ext cx="17526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5F6B7A"/>
                </a:solidFill>
                <a:latin typeface="Aptos"/>
                <a:ea typeface="Aptos"/>
                <a:cs typeface="Aptos"/>
              </a:defRPr>
            </a:pPr>
            <a:r>
              <a:rPr sz="1050" b="0">
                <a:solidFill>
                  <a:srgbClr val="5F6B7A"/>
                </a:solidFill>
                <a:latin typeface="Aptos"/>
                <a:ea typeface="Aptos"/>
                <a:cs typeface="Aptos"/>
              </a:rPr>
              <a:t>More electricity</a:t>
            </a:r>
            <a:endParaRPr sz="1050" b="0">
              <a:solidFill>
                <a:srgbClr val="5F6B7A"/>
              </a:solidFill>
              <a:latin typeface="Aptos"/>
              <a:ea typeface="Aptos"/>
              <a:cs typeface="Aptos"/>
            </a:endParaRPr>
          </a:p>
        </p:txBody>
      </p:sp>
      <p:sp>
        <p:nvSpPr>
          <p:cNvPr id="19" name="箭头: 右 18"/>
          <p:cNvSpPr/>
          <p:nvPr/>
        </p:nvSpPr>
        <p:spPr>
          <a:xfrm>
            <a:off x="5610225" y="3752850"/>
            <a:ext cx="514350" cy="342900"/>
          </a:xfrm>
          <a:prstGeom prst="rightArrow">
            <a:avLst/>
          </a:prstGeom>
          <a:solidFill>
            <a:srgbClr val="1F6FEB"/>
          </a:solidFill>
          <a:ln w="9525">
            <a:solidFill>
              <a:srgbClr val="1F6FEB"/>
            </a:solidFill>
            <a:prstDash val="solid"/>
          </a:ln>
        </p:spPr>
      </p:sp>
      <p:sp>
        <p:nvSpPr>
          <p:cNvPr id="20" name="矩形: 圆角 19"/>
          <p:cNvSpPr/>
          <p:nvPr/>
        </p:nvSpPr>
        <p:spPr>
          <a:xfrm>
            <a:off x="6162675" y="3390900"/>
            <a:ext cx="2095500" cy="1066800"/>
          </a:xfrm>
          <a:prstGeom prst="roundRect">
            <a:avLst>
              <a:gd name="adj" fmla="val 7143"/>
            </a:avLst>
          </a:prstGeom>
          <a:solidFill>
            <a:srgbClr val="D9EAFE"/>
          </a:solidFill>
          <a:ln w="13335">
            <a:solidFill>
              <a:srgbClr val="1F6FEB"/>
            </a:solidFill>
            <a:prstDash val="solid"/>
          </a:ln>
        </p:spPr>
      </p:sp>
      <p:sp>
        <p:nvSpPr>
          <p:cNvPr id="21" name="矩形 20"/>
          <p:cNvSpPr/>
          <p:nvPr/>
        </p:nvSpPr>
        <p:spPr>
          <a:xfrm>
            <a:off x="6296025" y="3600450"/>
            <a:ext cx="1828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12355B"/>
                </a:solidFill>
                <a:latin typeface="Aptos"/>
                <a:ea typeface="Aptos"/>
                <a:cs typeface="Aptos"/>
              </a:defRPr>
            </a:pPr>
            <a:r>
              <a:rPr sz="1425" b="1">
                <a:solidFill>
                  <a:srgbClr val="12355B"/>
                </a:solidFill>
                <a:latin typeface="Aptos"/>
                <a:ea typeface="Aptos"/>
                <a:cs typeface="Aptos"/>
              </a:rPr>
              <a:t>Higher cost + CO2-e</a:t>
            </a:r>
            <a:endParaRPr sz="1425" b="1">
              <a:solidFill>
                <a:srgbClr val="12355B"/>
              </a:solidFill>
              <a:latin typeface="Aptos"/>
              <a:ea typeface="Aptos"/>
              <a:cs typeface="Aptos"/>
            </a:endParaRPr>
          </a:p>
        </p:txBody>
      </p:sp>
      <p:sp>
        <p:nvSpPr>
          <p:cNvPr id="22" name="矩形 21"/>
          <p:cNvSpPr/>
          <p:nvPr/>
        </p:nvSpPr>
        <p:spPr>
          <a:xfrm>
            <a:off x="6334125" y="3943350"/>
            <a:ext cx="17526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5F6B7A"/>
                </a:solidFill>
                <a:latin typeface="Aptos"/>
                <a:ea typeface="Aptos"/>
                <a:cs typeface="Aptos"/>
              </a:defRPr>
            </a:pPr>
            <a:r>
              <a:rPr sz="1050" b="0">
                <a:solidFill>
                  <a:srgbClr val="5F6B7A"/>
                </a:solidFill>
                <a:latin typeface="Aptos"/>
                <a:ea typeface="Aptos"/>
                <a:cs typeface="Aptos"/>
              </a:rPr>
              <a:t>More pressure</a:t>
            </a:r>
            <a:endParaRPr sz="1050" b="0">
              <a:solidFill>
                <a:srgbClr val="5F6B7A"/>
              </a:solidFill>
              <a:latin typeface="Aptos"/>
              <a:ea typeface="Aptos"/>
              <a:cs typeface="Aptos"/>
            </a:endParaRPr>
          </a:p>
        </p:txBody>
      </p:sp>
      <p:sp>
        <p:nvSpPr>
          <p:cNvPr id="23" name="箭头: 右 22"/>
          <p:cNvSpPr/>
          <p:nvPr/>
        </p:nvSpPr>
        <p:spPr>
          <a:xfrm>
            <a:off x="8334375" y="3752850"/>
            <a:ext cx="514350" cy="342900"/>
          </a:xfrm>
          <a:prstGeom prst="rightArrow">
            <a:avLst/>
          </a:prstGeom>
          <a:solidFill>
            <a:srgbClr val="1F6FEB"/>
          </a:solidFill>
          <a:ln w="9525">
            <a:solidFill>
              <a:srgbClr val="1F6FEB"/>
            </a:solidFill>
            <a:prstDash val="solid"/>
          </a:ln>
        </p:spPr>
      </p:sp>
      <p:sp>
        <p:nvSpPr>
          <p:cNvPr id="24" name="矩形: 圆角 23"/>
          <p:cNvSpPr/>
          <p:nvPr/>
        </p:nvSpPr>
        <p:spPr>
          <a:xfrm>
            <a:off x="8886825" y="3390900"/>
            <a:ext cx="2095500" cy="1066800"/>
          </a:xfrm>
          <a:prstGeom prst="roundRect">
            <a:avLst>
              <a:gd name="adj" fmla="val 7143"/>
            </a:avLst>
          </a:prstGeom>
          <a:solidFill>
            <a:srgbClr val="DDF7E9"/>
          </a:solidFill>
          <a:ln w="13335">
            <a:solidFill>
              <a:srgbClr val="2EAD66"/>
            </a:solidFill>
            <a:prstDash val="solid"/>
          </a:ln>
        </p:spPr>
      </p:sp>
      <p:sp>
        <p:nvSpPr>
          <p:cNvPr id="25" name="矩形 24"/>
          <p:cNvSpPr/>
          <p:nvPr/>
        </p:nvSpPr>
        <p:spPr>
          <a:xfrm>
            <a:off x="9020175" y="3600450"/>
            <a:ext cx="1828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2EAD66"/>
                </a:solidFill>
                <a:latin typeface="Aptos"/>
                <a:ea typeface="Aptos"/>
                <a:cs typeface="Aptos"/>
              </a:defRPr>
            </a:pPr>
            <a:r>
              <a:rPr sz="1425" b="1">
                <a:solidFill>
                  <a:srgbClr val="2EAD66"/>
                </a:solidFill>
                <a:latin typeface="Aptos"/>
                <a:ea typeface="Aptos"/>
                <a:cs typeface="Aptos"/>
              </a:rPr>
              <a:t>Lower sustainability</a:t>
            </a:r>
            <a:endParaRPr sz="1425" b="1">
              <a:solidFill>
                <a:srgbClr val="2EAD66"/>
              </a:solidFill>
              <a:latin typeface="Aptos"/>
              <a:ea typeface="Aptos"/>
              <a:cs typeface="Aptos"/>
            </a:endParaRPr>
          </a:p>
        </p:txBody>
      </p:sp>
      <p:sp>
        <p:nvSpPr>
          <p:cNvPr id="26" name="矩形 25"/>
          <p:cNvSpPr/>
          <p:nvPr/>
        </p:nvSpPr>
        <p:spPr>
          <a:xfrm>
            <a:off x="9058275" y="3943350"/>
            <a:ext cx="17526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5F6B7A"/>
                </a:solidFill>
                <a:latin typeface="Aptos"/>
                <a:ea typeface="Aptos"/>
                <a:cs typeface="Aptos"/>
              </a:defRPr>
            </a:pPr>
            <a:r>
              <a:rPr sz="1050" b="0">
                <a:solidFill>
                  <a:srgbClr val="5F6B7A"/>
                </a:solidFill>
                <a:latin typeface="Aptos"/>
                <a:ea typeface="Aptos"/>
                <a:cs typeface="Aptos"/>
              </a:rPr>
              <a:t>Long-term impact</a:t>
            </a:r>
            <a:endParaRPr sz="1050" b="0">
              <a:solidFill>
                <a:srgbClr val="5F6B7A"/>
              </a:solidFill>
              <a:latin typeface="Aptos"/>
              <a:ea typeface="Aptos"/>
              <a:cs typeface="Aptos"/>
            </a:endParaRPr>
          </a:p>
        </p:txBody>
      </p:sp>
      <p:pic>
        <p:nvPicPr>
          <p:cNvPr id="27" name="图形 26"/>
          <p:cNvPicPr>
            <a:picLocks noChangeAspect="1"/>
          </p:cNvPicPr>
          <p:nvPr/>
        </p:nvPicPr>
        <p:blipFill>
          <a:blip/>
          <a:stretch>
            <a:fillRect/>
          </a:stretch>
        </p:blipFill>
        <p:spPr>
          <a:xfrm>
            <a:off x="1123950" y="4648200"/>
            <a:ext cx="323850" cy="323850"/>
          </a:xfrm>
          <a:prstGeom prst="rect">
            <a:avLst/>
          </a:prstGeom>
        </p:spPr>
      </p:pic>
      <p:pic>
        <p:nvPicPr>
          <p:cNvPr id="28" name="图形 27"/>
          <p:cNvPicPr>
            <a:picLocks noChangeAspect="1"/>
          </p:cNvPicPr>
          <p:nvPr/>
        </p:nvPicPr>
        <p:blipFill>
          <a:blip/>
          <a:stretch>
            <a:fillRect/>
          </a:stretch>
        </p:blipFill>
        <p:spPr>
          <a:xfrm>
            <a:off x="3867150" y="4648200"/>
            <a:ext cx="323850" cy="323850"/>
          </a:xfrm>
          <a:prstGeom prst="rect">
            <a:avLst/>
          </a:prstGeom>
        </p:spPr>
      </p:pic>
      <p:pic>
        <p:nvPicPr>
          <p:cNvPr id="29" name="图形 28"/>
          <p:cNvPicPr>
            <a:picLocks noChangeAspect="1"/>
          </p:cNvPicPr>
          <p:nvPr/>
        </p:nvPicPr>
        <p:blipFill>
          <a:blip/>
          <a:stretch>
            <a:fillRect/>
          </a:stretch>
        </p:blipFill>
        <p:spPr>
          <a:xfrm>
            <a:off x="6610350" y="4648200"/>
            <a:ext cx="323850" cy="323850"/>
          </a:xfrm>
          <a:prstGeom prst="rect">
            <a:avLst/>
          </a:prstGeom>
        </p:spPr>
      </p:pic>
      <p:pic>
        <p:nvPicPr>
          <p:cNvPr id="30" name="图形 29"/>
          <p:cNvPicPr>
            <a:picLocks noChangeAspect="1"/>
          </p:cNvPicPr>
          <p:nvPr/>
        </p:nvPicPr>
        <p:blipFill>
          <a:blip/>
          <a:stretch>
            <a:fillRect/>
          </a:stretch>
        </p:blipFill>
        <p:spPr>
          <a:xfrm>
            <a:off x="9353550" y="4648200"/>
            <a:ext cx="323850" cy="323850"/>
          </a:xfrm>
          <a:prstGeom prst="rect">
            <a:avLst/>
          </a:prstGeom>
        </p:spPr>
      </p:pic>
      <p:sp>
        <p:nvSpPr>
          <p:cNvPr id="31" name="矩形 30"/>
          <p:cNvSpPr/>
          <p:nvPr/>
        </p:nvSpPr>
        <p:spPr>
          <a:xfrm>
            <a:off x="1562100" y="5619750"/>
            <a:ext cx="8286750" cy="361950"/>
          </a:xfrm>
          <a:prstGeom prst="rect">
            <a:avLst/>
          </a:prstGeom>
          <a:solidFill>
            <a:srgbClr val="000000">
              <a:alpha val="0"/>
            </a:srgbClr>
          </a:solidFill>
          <a:ln w="0">
            <a:solidFill>
              <a:srgbClr val="000000">
                <a:alpha val="0"/>
              </a:srgbClr>
            </a:solidFill>
            <a:prstDash val="solid"/>
          </a:ln>
        </p:spPr>
        <p:txBody>
          <a:bodyPr lIns="95250" tIns="76200" rIns="95250" bIns="76200" anchor="t"/>
          <a:lstStyle/>
          <a:p>
            <a:pPr algn="ctr">
              <a:defRPr sz="1950" b="1">
                <a:solidFill>
                  <a:srgbClr val="12355B"/>
                </a:solidFill>
                <a:latin typeface="Aptos"/>
                <a:ea typeface="Aptos"/>
                <a:cs typeface="Aptos"/>
              </a:defRPr>
            </a:pPr>
            <a:r>
              <a:rPr sz="1950" b="1">
                <a:solidFill>
                  <a:srgbClr val="12355B"/>
                </a:solidFill>
                <a:latin typeface="Aptos"/>
                <a:ea typeface="Aptos"/>
                <a:cs typeface="Aptos"/>
              </a:rPr>
              <a:t>Design target: carriage mass</a:t>
            </a:r>
            <a:endParaRPr sz="1950" b="1">
              <a:solidFill>
                <a:srgbClr val="12355B"/>
              </a:solidFill>
              <a:latin typeface="Aptos"/>
              <a:ea typeface="Aptos"/>
              <a:cs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矩形: 圆角 90"/>
          <p:cNvSpPr/>
          <p:nvPr/>
        </p:nvSpPr>
        <p:spPr>
          <a:xfrm>
            <a:off x="9191625" y="361950"/>
            <a:ext cx="1619250" cy="266700"/>
          </a:xfrm>
          <a:prstGeom prst="roundRect">
            <a:avLst>
              <a:gd name="adj" fmla="val 28571"/>
            </a:avLst>
          </a:prstGeom>
          <a:solidFill>
            <a:srgbClr val="F6F8FB"/>
          </a:solidFill>
          <a:ln w="9525">
            <a:solidFill>
              <a:srgbClr val="C9D4E2"/>
            </a:solidFill>
            <a:prstDash val="solid"/>
          </a:ln>
        </p:spPr>
      </p:sp>
      <p:sp>
        <p:nvSpPr>
          <p:cNvPr id="2" name="TextBox 1"/>
          <p:cNvSpPr txBox="1"/>
          <p:nvPr/>
        </p:nvSpPr>
        <p:spPr>
          <a:xfrm>
            <a:off x="457200" y="216663"/>
            <a:ext cx="7955279" cy="446276"/>
          </a:xfrm>
          <a:prstGeom prst="rect">
            <a:avLst/>
          </a:prstGeom>
          <a:noFill/>
        </p:spPr>
        <p:txBody>
          <a:bodyPr wrap="square" lIns="0" tIns="0" rIns="0" bIns="0">
            <a:spAutoFit/>
          </a:bodyPr>
          <a:lstStyle/>
          <a:p>
            <a:pPr algn="l"/>
            <a:r>
              <a:rPr lang="en-US" sz="2900" b="1" dirty="0">
                <a:solidFill>
                  <a:srgbClr val="000000"/>
                </a:solidFill>
                <a:latin typeface="Arial" charset="0"/>
              </a:rPr>
              <a:t>S</a:t>
            </a:r>
            <a:r>
              <a:rPr lang="en-US" altLang="zh-CN" sz="2900" b="1" dirty="0">
                <a:solidFill>
                  <a:srgbClr val="000000"/>
                </a:solidFill>
                <a:latin typeface="Arial" charset="0"/>
              </a:rPr>
              <a:t>olutions</a:t>
            </a:r>
            <a:endParaRPr sz="2900" b="1" dirty="0">
              <a:solidFill>
                <a:srgbClr val="000000"/>
              </a:solidFill>
              <a:latin typeface="Arial" charset="0"/>
            </a:endParaRPr>
          </a:p>
        </p:txBody>
      </p:sp>
      <p:sp>
        <p:nvSpPr>
          <p:cNvPr id="3" name="TextBox 2"/>
          <p:cNvSpPr txBox="1"/>
          <p:nvPr/>
        </p:nvSpPr>
        <p:spPr>
          <a:xfrm>
            <a:off x="530352" y="758952"/>
            <a:ext cx="7772400" cy="237744"/>
          </a:xfrm>
          <a:prstGeom prst="rect">
            <a:avLst/>
          </a:prstGeom>
          <a:noFill/>
        </p:spPr>
        <p:txBody>
          <a:bodyPr wrap="square" lIns="0" tIns="0" rIns="0" bIns="0">
            <a:spAutoFit/>
          </a:bodyPr>
          <a:lstStyle/>
          <a:p>
            <a:pPr algn="l"/>
            <a:r>
              <a:rPr sz="1300" b="0" dirty="0">
                <a:solidFill>
                  <a:srgbClr val="525252"/>
                </a:solidFill>
                <a:latin typeface="Arial" charset="0"/>
              </a:rPr>
              <a:t>Problems mapped to options, then filtered by impact, feasibility, and risk.</a:t>
            </a:r>
            <a:endParaRPr sz="1300" b="0" dirty="0">
              <a:solidFill>
                <a:srgbClr val="525252"/>
              </a:solidFill>
              <a:latin typeface="Arial" charset="0"/>
            </a:endParaRPr>
          </a:p>
        </p:txBody>
      </p:sp>
      <p:sp>
        <p:nvSpPr>
          <p:cNvPr id="5" name="Rounded Rectangle 4"/>
          <p:cNvSpPr/>
          <p:nvPr/>
        </p:nvSpPr>
        <p:spPr>
          <a:xfrm>
            <a:off x="502920" y="1225296"/>
            <a:ext cx="1874519" cy="347472"/>
          </a:xfrm>
          <a:prstGeom prst="roundRect">
            <a:avLst/>
          </a:prstGeom>
          <a:solidFill>
            <a:srgbClr val="F6ABD3"/>
          </a:solidFill>
          <a:ln w="15240">
            <a:solidFill>
              <a:srgbClr val="F6ABD3"/>
            </a:solidFill>
          </a:ln>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a:solidFill>
                  <a:srgbClr val="000000"/>
                </a:solidFill>
                <a:latin typeface="Arial" charset="0"/>
              </a:rPr>
              <a:t>Problems</a:t>
            </a:r>
            <a:endParaRPr sz="1300" b="1">
              <a:solidFill>
                <a:srgbClr val="000000"/>
              </a:solidFill>
              <a:latin typeface="Arial" charset="0"/>
            </a:endParaRPr>
          </a:p>
        </p:txBody>
      </p:sp>
      <p:sp>
        <p:nvSpPr>
          <p:cNvPr id="6" name="Rounded Rectangle 5"/>
          <p:cNvSpPr/>
          <p:nvPr/>
        </p:nvSpPr>
        <p:spPr>
          <a:xfrm>
            <a:off x="502920" y="1755648"/>
            <a:ext cx="1874519" cy="640080"/>
          </a:xfrm>
          <a:prstGeom prst="roundRect">
            <a:avLst/>
          </a:prstGeom>
          <a:solidFill>
            <a:srgbClr val="F6F6F6"/>
          </a:solidFill>
          <a:ln w="15240">
            <a:solidFill>
              <a:srgbClr val="E0E0E0"/>
            </a:solidFill>
          </a:ln>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p>
        </p:txBody>
      </p:sp>
      <p:sp>
        <p:nvSpPr>
          <p:cNvPr id="7" name="Oval 6"/>
          <p:cNvSpPr/>
          <p:nvPr/>
        </p:nvSpPr>
        <p:spPr>
          <a:xfrm>
            <a:off x="621792" y="1892807"/>
            <a:ext cx="365760" cy="365760"/>
          </a:xfrm>
          <a:prstGeom prst="ellipse">
            <a:avLst/>
          </a:prstGeom>
          <a:solidFill>
            <a:srgbClr val="4C94D6"/>
          </a:solidFill>
          <a:ln w="12700">
            <a:solidFill>
              <a:srgbClr val="4C94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ightning Bolt 7"/>
          <p:cNvSpPr/>
          <p:nvPr/>
        </p:nvSpPr>
        <p:spPr>
          <a:xfrm>
            <a:off x="704088" y="1911095"/>
            <a:ext cx="201168" cy="329184"/>
          </a:xfrm>
          <a:prstGeom prst="lightningBol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65960"/>
            <a:ext cx="1143000" cy="201168"/>
          </a:xfrm>
          <a:prstGeom prst="rect">
            <a:avLst/>
          </a:prstGeom>
          <a:noFill/>
        </p:spPr>
        <p:txBody>
          <a:bodyPr wrap="square" lIns="0" tIns="0" rIns="0" bIns="0">
            <a:spAutoFit/>
          </a:bodyPr>
          <a:lstStyle/>
          <a:p>
            <a:pPr algn="l"/>
            <a:r>
              <a:rPr sz="1050" b="1">
                <a:solidFill>
                  <a:srgbClr val="000000"/>
                </a:solidFill>
                <a:latin typeface="Arial" charset="0"/>
              </a:rPr>
              <a:t>Energy use</a:t>
            </a:r>
            <a:endParaRPr sz="1050" b="1">
              <a:solidFill>
                <a:srgbClr val="000000"/>
              </a:solidFill>
              <a:latin typeface="Arial" charset="0"/>
            </a:endParaRPr>
          </a:p>
        </p:txBody>
      </p:sp>
      <p:sp>
        <p:nvSpPr>
          <p:cNvPr id="10" name="Rounded Rectangle 9"/>
          <p:cNvSpPr/>
          <p:nvPr/>
        </p:nvSpPr>
        <p:spPr>
          <a:xfrm>
            <a:off x="502920" y="2542032"/>
            <a:ext cx="1874519" cy="640080"/>
          </a:xfrm>
          <a:prstGeom prst="roundRect">
            <a:avLst/>
          </a:prstGeom>
          <a:solidFill>
            <a:srgbClr val="F6F6F6"/>
          </a:solidFill>
          <a:ln w="15240">
            <a:solidFill>
              <a:srgbClr val="E0E0E0"/>
            </a:solidFill>
          </a:ln>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p>
        </p:txBody>
      </p:sp>
      <p:sp>
        <p:nvSpPr>
          <p:cNvPr id="11" name="Oval 10"/>
          <p:cNvSpPr/>
          <p:nvPr/>
        </p:nvSpPr>
        <p:spPr>
          <a:xfrm>
            <a:off x="621792" y="2679191"/>
            <a:ext cx="365760" cy="365760"/>
          </a:xfrm>
          <a:prstGeom prst="ellipse">
            <a:avLst/>
          </a:prstGeom>
          <a:solidFill>
            <a:srgbClr val="62A669"/>
          </a:solidFill>
          <a:ln w="12700">
            <a:solidFill>
              <a:srgbClr val="62A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loud 11"/>
          <p:cNvSpPr/>
          <p:nvPr/>
        </p:nvSpPr>
        <p:spPr>
          <a:xfrm>
            <a:off x="640080" y="2743200"/>
            <a:ext cx="329184" cy="228600"/>
          </a:xfrm>
          <a:prstGeom prst="cloud">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24912"/>
            <a:ext cx="329184" cy="256032"/>
          </a:xfrm>
          <a:prstGeom prst="rect">
            <a:avLst/>
          </a:prstGeom>
          <a:noFill/>
        </p:spPr>
        <p:txBody>
          <a:bodyPr wrap="none" lIns="0" tIns="0" rIns="0" bIns="0">
            <a:spAutoFit/>
          </a:bodyPr>
          <a:lstStyle/>
          <a:p>
            <a:pPr algn="ctr"/>
            <a:r>
              <a:rPr sz="1000" b="1">
                <a:solidFill>
                  <a:srgbClr val="62A669"/>
                </a:solidFill>
                <a:latin typeface="Arial" charset="0"/>
              </a:rPr>
              <a:t>C</a:t>
            </a:r>
            <a:endParaRPr sz="1000" b="1">
              <a:solidFill>
                <a:srgbClr val="62A669"/>
              </a:solidFill>
              <a:latin typeface="Arial" charset="0"/>
            </a:endParaRPr>
          </a:p>
        </p:txBody>
      </p:sp>
      <p:sp>
        <p:nvSpPr>
          <p:cNvPr id="14" name="TextBox 13"/>
          <p:cNvSpPr txBox="1"/>
          <p:nvPr/>
        </p:nvSpPr>
        <p:spPr>
          <a:xfrm>
            <a:off x="1097280" y="2752344"/>
            <a:ext cx="1143000" cy="201168"/>
          </a:xfrm>
          <a:prstGeom prst="rect">
            <a:avLst/>
          </a:prstGeom>
          <a:noFill/>
        </p:spPr>
        <p:txBody>
          <a:bodyPr wrap="square" lIns="0" tIns="0" rIns="0" bIns="0">
            <a:spAutoFit/>
          </a:bodyPr>
          <a:lstStyle/>
          <a:p>
            <a:pPr algn="l"/>
            <a:r>
              <a:rPr sz="1050" b="1">
                <a:solidFill>
                  <a:srgbClr val="000000"/>
                </a:solidFill>
                <a:latin typeface="Arial" charset="0"/>
              </a:rPr>
              <a:t>Carbon pressure</a:t>
            </a:r>
            <a:endParaRPr sz="1050" b="1">
              <a:solidFill>
                <a:srgbClr val="000000"/>
              </a:solidFill>
              <a:latin typeface="Arial" charset="0"/>
            </a:endParaRPr>
          </a:p>
        </p:txBody>
      </p:sp>
      <p:sp>
        <p:nvSpPr>
          <p:cNvPr id="15" name="Rounded Rectangle 14"/>
          <p:cNvSpPr/>
          <p:nvPr/>
        </p:nvSpPr>
        <p:spPr>
          <a:xfrm>
            <a:off x="502920" y="3328416"/>
            <a:ext cx="1874519" cy="640080"/>
          </a:xfrm>
          <a:prstGeom prst="roundRect">
            <a:avLst/>
          </a:prstGeom>
          <a:solidFill>
            <a:srgbClr val="F6F6F6"/>
          </a:solidFill>
          <a:ln w="15240">
            <a:solidFill>
              <a:srgbClr val="E0E0E0"/>
            </a:solidFill>
          </a:ln>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p>
        </p:txBody>
      </p:sp>
      <p:sp>
        <p:nvSpPr>
          <p:cNvPr id="16" name="Oval 15"/>
          <p:cNvSpPr/>
          <p:nvPr/>
        </p:nvSpPr>
        <p:spPr>
          <a:xfrm>
            <a:off x="621792" y="3465576"/>
            <a:ext cx="365760" cy="365760"/>
          </a:xfrm>
          <a:prstGeom prst="ellipse">
            <a:avLst/>
          </a:prstGeom>
          <a:solidFill>
            <a:srgbClr val="F4C452"/>
          </a:solidFill>
          <a:ln w="12700">
            <a:solidFill>
              <a:srgbClr val="F4C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entagon 16"/>
          <p:cNvSpPr/>
          <p:nvPr/>
        </p:nvSpPr>
        <p:spPr>
          <a:xfrm>
            <a:off x="667512" y="3493008"/>
            <a:ext cx="274320" cy="310896"/>
          </a:xfrm>
          <a:prstGeom prst="homePlat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502152"/>
            <a:ext cx="329184" cy="256032"/>
          </a:xfrm>
          <a:prstGeom prst="rect">
            <a:avLst/>
          </a:prstGeom>
          <a:noFill/>
        </p:spPr>
        <p:txBody>
          <a:bodyPr wrap="none" lIns="0" tIns="0" rIns="0" bIns="0">
            <a:spAutoFit/>
          </a:bodyPr>
          <a:lstStyle/>
          <a:p>
            <a:pPr algn="ctr"/>
            <a:r>
              <a:rPr sz="900" b="1">
                <a:solidFill>
                  <a:srgbClr val="F4C452"/>
                </a:solidFill>
                <a:latin typeface="Arial" charset="0"/>
              </a:rPr>
              <a:t>?</a:t>
            </a:r>
            <a:endParaRPr sz="900" b="1">
              <a:solidFill>
                <a:srgbClr val="F4C452"/>
              </a:solidFill>
              <a:latin typeface="Arial" charset="0"/>
            </a:endParaRPr>
          </a:p>
        </p:txBody>
      </p:sp>
      <p:sp>
        <p:nvSpPr>
          <p:cNvPr id="19" name="TextBox 18"/>
          <p:cNvSpPr txBox="1"/>
          <p:nvPr/>
        </p:nvSpPr>
        <p:spPr>
          <a:xfrm>
            <a:off x="1097280" y="3538728"/>
            <a:ext cx="1143000" cy="201168"/>
          </a:xfrm>
          <a:prstGeom prst="rect">
            <a:avLst/>
          </a:prstGeom>
          <a:noFill/>
        </p:spPr>
        <p:txBody>
          <a:bodyPr wrap="square" lIns="0" tIns="0" rIns="0" bIns="0">
            <a:spAutoFit/>
          </a:bodyPr>
          <a:lstStyle/>
          <a:p>
            <a:pPr algn="l"/>
            <a:r>
              <a:rPr sz="1050" b="1">
                <a:solidFill>
                  <a:srgbClr val="000000"/>
                </a:solidFill>
                <a:latin typeface="Arial" charset="0"/>
              </a:rPr>
              <a:t>Rail safety</a:t>
            </a:r>
            <a:endParaRPr sz="1050" b="1">
              <a:solidFill>
                <a:srgbClr val="000000"/>
              </a:solidFill>
              <a:latin typeface="Arial" charset="0"/>
            </a:endParaRPr>
          </a:p>
        </p:txBody>
      </p:sp>
      <p:sp>
        <p:nvSpPr>
          <p:cNvPr id="20" name="Rounded Rectangle 19"/>
          <p:cNvSpPr/>
          <p:nvPr/>
        </p:nvSpPr>
        <p:spPr>
          <a:xfrm>
            <a:off x="502920" y="4114800"/>
            <a:ext cx="1874519" cy="640080"/>
          </a:xfrm>
          <a:prstGeom prst="roundRect">
            <a:avLst/>
          </a:prstGeom>
          <a:solidFill>
            <a:srgbClr val="F6F6F6"/>
          </a:solidFill>
          <a:ln w="15240">
            <a:solidFill>
              <a:srgbClr val="E0E0E0"/>
            </a:solidFill>
          </a:ln>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p>
        </p:txBody>
      </p:sp>
      <p:sp>
        <p:nvSpPr>
          <p:cNvPr id="21" name="Oval 20"/>
          <p:cNvSpPr/>
          <p:nvPr/>
        </p:nvSpPr>
        <p:spPr>
          <a:xfrm>
            <a:off x="621792" y="4251959"/>
            <a:ext cx="365760" cy="365760"/>
          </a:xfrm>
          <a:prstGeom prst="ellipse">
            <a:avLst/>
          </a:prstGeom>
          <a:solidFill>
            <a:srgbClr val="BE5252"/>
          </a:solidFill>
          <a:ln w="12700">
            <a:solidFill>
              <a:srgbClr val="BE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8368" y="4288536"/>
            <a:ext cx="292608" cy="292608"/>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3699" y="4306824"/>
            <a:ext cx="21945" cy="128016"/>
          </a:xfrm>
          <a:prstGeom prst="rect">
            <a:avLst/>
          </a:prstGeom>
          <a:solidFill>
            <a:srgbClr val="BE5252"/>
          </a:solidFill>
          <a:ln w="12700">
            <a:solidFill>
              <a:srgbClr val="BE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1014" y="4425696"/>
            <a:ext cx="109728" cy="21945"/>
          </a:xfrm>
          <a:prstGeom prst="rect">
            <a:avLst/>
          </a:prstGeom>
          <a:solidFill>
            <a:srgbClr val="BE5252"/>
          </a:solidFill>
          <a:ln w="12700">
            <a:solidFill>
              <a:srgbClr val="BE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325112"/>
            <a:ext cx="1143000" cy="201168"/>
          </a:xfrm>
          <a:prstGeom prst="rect">
            <a:avLst/>
          </a:prstGeom>
          <a:noFill/>
        </p:spPr>
        <p:txBody>
          <a:bodyPr wrap="square" lIns="0" tIns="0" rIns="0" bIns="0">
            <a:spAutoFit/>
          </a:bodyPr>
          <a:lstStyle/>
          <a:p>
            <a:pPr algn="l"/>
            <a:r>
              <a:rPr sz="1050" b="1">
                <a:solidFill>
                  <a:srgbClr val="000000"/>
                </a:solidFill>
                <a:latin typeface="Arial" charset="0"/>
              </a:rPr>
              <a:t>Delivery risk</a:t>
            </a:r>
            <a:endParaRPr sz="1050" b="1">
              <a:solidFill>
                <a:srgbClr val="000000"/>
              </a:solidFill>
              <a:latin typeface="Arial" charset="0"/>
            </a:endParaRPr>
          </a:p>
        </p:txBody>
      </p:sp>
      <p:sp>
        <p:nvSpPr>
          <p:cNvPr id="26" name="TextBox 25"/>
          <p:cNvSpPr txBox="1"/>
          <p:nvPr/>
        </p:nvSpPr>
        <p:spPr>
          <a:xfrm>
            <a:off x="2542032" y="2761488"/>
            <a:ext cx="320040" cy="365760"/>
          </a:xfrm>
          <a:prstGeom prst="rect">
            <a:avLst/>
          </a:prstGeom>
          <a:noFill/>
        </p:spPr>
        <p:txBody>
          <a:bodyPr wrap="square" lIns="0" tIns="0" rIns="0" bIns="0">
            <a:spAutoFit/>
          </a:bodyPr>
          <a:lstStyle/>
          <a:p>
            <a:pPr algn="ctr"/>
            <a:r>
              <a:rPr sz="3000" b="1">
                <a:solidFill>
                  <a:srgbClr val="525252"/>
                </a:solidFill>
                <a:latin typeface="Arial" charset="0"/>
              </a:rPr>
              <a:t>&gt;</a:t>
            </a:r>
            <a:endParaRPr sz="3000" b="1">
              <a:solidFill>
                <a:srgbClr val="525252"/>
              </a:solidFill>
              <a:latin typeface="Arial" charset="0"/>
            </a:endParaRPr>
          </a:p>
        </p:txBody>
      </p:sp>
      <p:sp>
        <p:nvSpPr>
          <p:cNvPr id="27" name="Rounded Rectangle 26"/>
          <p:cNvSpPr/>
          <p:nvPr/>
        </p:nvSpPr>
        <p:spPr>
          <a:xfrm>
            <a:off x="2880360" y="1225296"/>
            <a:ext cx="7635240" cy="347472"/>
          </a:xfrm>
          <a:prstGeom prst="roundRect">
            <a:avLst/>
          </a:prstGeom>
          <a:solidFill>
            <a:srgbClr val="EBEBEB"/>
          </a:solidFill>
          <a:ln w="15240">
            <a:solidFill>
              <a:srgbClr val="EBEBEB"/>
            </a:solidFill>
          </a:ln>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a:solidFill>
                  <a:srgbClr val="000000"/>
                </a:solidFill>
                <a:latin typeface="Arial" charset="0"/>
              </a:rPr>
              <a:t>Candidate solutions</a:t>
            </a:r>
            <a:endParaRPr sz="1300" b="1">
              <a:solidFill>
                <a:srgbClr val="000000"/>
              </a:solidFill>
              <a:latin typeface="Arial" charset="0"/>
            </a:endParaRPr>
          </a:p>
        </p:txBody>
      </p:sp>
      <p:sp>
        <p:nvSpPr>
          <p:cNvPr id="28" name="Rounded Rectangle 27"/>
          <p:cNvSpPr/>
          <p:nvPr/>
        </p:nvSpPr>
        <p:spPr>
          <a:xfrm>
            <a:off x="2880360" y="1810512"/>
            <a:ext cx="1691640" cy="1847088"/>
          </a:xfrm>
          <a:prstGeom prst="roundRect">
            <a:avLst/>
          </a:prstGeom>
          <a:solidFill>
            <a:srgbClr val="FCE0EF"/>
          </a:solidFill>
          <a:ln w="15240">
            <a:solidFill>
              <a:srgbClr val="F6ABD3"/>
            </a:solidFill>
          </a:ln>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p>
        </p:txBody>
      </p:sp>
      <p:sp>
        <p:nvSpPr>
          <p:cNvPr id="29" name="Oval 28"/>
          <p:cNvSpPr/>
          <p:nvPr/>
        </p:nvSpPr>
        <p:spPr>
          <a:xfrm>
            <a:off x="3497580" y="1929384"/>
            <a:ext cx="457200" cy="457200"/>
          </a:xfrm>
          <a:prstGeom prst="ellipse">
            <a:avLst/>
          </a:prstGeom>
          <a:solidFill>
            <a:srgbClr val="F6ABD3"/>
          </a:solidFill>
          <a:ln w="12700">
            <a:solidFill>
              <a:srgbClr val="F6AB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515868" y="2039112"/>
            <a:ext cx="420624" cy="21031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0732" y="2075688"/>
            <a:ext cx="109728" cy="64008"/>
          </a:xfrm>
          <a:prstGeom prst="rect">
            <a:avLst/>
          </a:prstGeom>
          <a:solidFill>
            <a:srgbClr val="F6ABD3"/>
          </a:solidFill>
          <a:ln w="12700">
            <a:solidFill>
              <a:srgbClr val="F6AB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62756" y="2075688"/>
            <a:ext cx="109728" cy="64008"/>
          </a:xfrm>
          <a:prstGeom prst="rect">
            <a:avLst/>
          </a:prstGeom>
          <a:solidFill>
            <a:srgbClr val="F6ABD3"/>
          </a:solidFill>
          <a:ln w="12700">
            <a:solidFill>
              <a:srgbClr val="F6AB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570732" y="2231136"/>
            <a:ext cx="73152" cy="73152"/>
          </a:xfrm>
          <a:prstGeom prst="ellipse">
            <a:avLst/>
          </a:prstGeom>
          <a:solidFill>
            <a:srgbClr val="F6ABD3"/>
          </a:solidFill>
          <a:ln w="12700">
            <a:solidFill>
              <a:srgbClr val="F6AB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808476" y="2231136"/>
            <a:ext cx="73152" cy="73152"/>
          </a:xfrm>
          <a:prstGeom prst="ellipse">
            <a:avLst/>
          </a:prstGeom>
          <a:solidFill>
            <a:srgbClr val="F6ABD3"/>
          </a:solidFill>
          <a:ln w="12700">
            <a:solidFill>
              <a:srgbClr val="F6AB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71800" y="2468880"/>
            <a:ext cx="1508760" cy="347472"/>
          </a:xfrm>
          <a:prstGeom prst="rect">
            <a:avLst/>
          </a:prstGeom>
          <a:noFill/>
        </p:spPr>
        <p:txBody>
          <a:bodyPr wrap="square" lIns="0" tIns="0" rIns="0" bIns="0">
            <a:spAutoFit/>
          </a:bodyPr>
          <a:lstStyle/>
          <a:p>
            <a:pPr algn="ctr"/>
            <a:r>
              <a:rPr sz="1020" b="1">
                <a:solidFill>
                  <a:srgbClr val="000000"/>
                </a:solidFill>
                <a:latin typeface="Arial" charset="0"/>
              </a:rPr>
              <a:t>Recycled CFRP
panels</a:t>
            </a:r>
            <a:endParaRPr sz="1020" b="1">
              <a:solidFill>
                <a:srgbClr val="000000"/>
              </a:solidFill>
              <a:latin typeface="Arial" charset="0"/>
            </a:endParaRPr>
          </a:p>
        </p:txBody>
      </p:sp>
      <p:sp>
        <p:nvSpPr>
          <p:cNvPr id="36" name="Rounded Rectangle 35"/>
          <p:cNvSpPr/>
          <p:nvPr/>
        </p:nvSpPr>
        <p:spPr>
          <a:xfrm>
            <a:off x="3182112" y="2880360"/>
            <a:ext cx="1088136" cy="256032"/>
          </a:xfrm>
          <a:prstGeom prst="roundRect">
            <a:avLst/>
          </a:prstGeom>
          <a:solidFill>
            <a:srgbClr val="62A669"/>
          </a:solidFill>
          <a:ln w="15240">
            <a:solidFill>
              <a:srgbClr val="62A669"/>
            </a:solidFill>
          </a:ln>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850" b="1" dirty="0">
                <a:solidFill>
                  <a:srgbClr val="FFFFFF"/>
                </a:solidFill>
                <a:latin typeface="Arial" charset="0"/>
              </a:rPr>
              <a:t>CHOSEN</a:t>
            </a:r>
            <a:endParaRPr sz="850" b="1" dirty="0">
              <a:solidFill>
                <a:srgbClr val="FFFFFF"/>
              </a:solidFill>
              <a:latin typeface="Arial" charset="0"/>
            </a:endParaRPr>
          </a:p>
        </p:txBody>
      </p:sp>
      <p:sp>
        <p:nvSpPr>
          <p:cNvPr id="37" name="TextBox 36"/>
          <p:cNvSpPr txBox="1"/>
          <p:nvPr/>
        </p:nvSpPr>
        <p:spPr>
          <a:xfrm>
            <a:off x="3017520" y="3227832"/>
            <a:ext cx="1417320" cy="237744"/>
          </a:xfrm>
          <a:prstGeom prst="rect">
            <a:avLst/>
          </a:prstGeom>
          <a:noFill/>
        </p:spPr>
        <p:txBody>
          <a:bodyPr wrap="square" lIns="0" tIns="0" rIns="0" bIns="0">
            <a:spAutoFit/>
          </a:bodyPr>
          <a:lstStyle/>
          <a:p>
            <a:pPr algn="ctr"/>
            <a:r>
              <a:rPr sz="840" b="0">
                <a:solidFill>
                  <a:srgbClr val="525252"/>
                </a:solidFill>
                <a:latin typeface="Arial" charset="0"/>
              </a:rPr>
              <a:t>Direct + testable</a:t>
            </a:r>
            <a:endParaRPr sz="840" b="0">
              <a:solidFill>
                <a:srgbClr val="525252"/>
              </a:solidFill>
              <a:latin typeface="Arial" charset="0"/>
            </a:endParaRPr>
          </a:p>
        </p:txBody>
      </p:sp>
      <p:sp>
        <p:nvSpPr>
          <p:cNvPr id="38" name="Rounded Rectangle 37"/>
          <p:cNvSpPr/>
          <p:nvPr/>
        </p:nvSpPr>
        <p:spPr>
          <a:xfrm>
            <a:off x="4828032" y="1810512"/>
            <a:ext cx="1691640" cy="1847088"/>
          </a:xfrm>
          <a:prstGeom prst="roundRect">
            <a:avLst/>
          </a:prstGeom>
          <a:solidFill>
            <a:srgbClr val="F6F6F6"/>
          </a:solidFill>
          <a:ln w="15240">
            <a:solidFill>
              <a:srgbClr val="D6D6D6"/>
            </a:solidFill>
          </a:ln>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p>
        </p:txBody>
      </p:sp>
      <p:sp>
        <p:nvSpPr>
          <p:cNvPr id="39" name="Oval 38"/>
          <p:cNvSpPr/>
          <p:nvPr/>
        </p:nvSpPr>
        <p:spPr>
          <a:xfrm>
            <a:off x="5445252" y="1929384"/>
            <a:ext cx="457200" cy="457200"/>
          </a:xfrm>
          <a:prstGeom prst="ellipse">
            <a:avLst/>
          </a:prstGeom>
          <a:solidFill>
            <a:srgbClr val="D6D6D6"/>
          </a:solidFill>
          <a:ln w="12700">
            <a:solidFill>
              <a:srgbClr val="D6D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ctagon 39"/>
          <p:cNvSpPr/>
          <p:nvPr/>
        </p:nvSpPr>
        <p:spPr>
          <a:xfrm>
            <a:off x="5509260" y="1993391"/>
            <a:ext cx="329184" cy="329184"/>
          </a:xfrm>
          <a:prstGeom prst="octagon">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509260" y="2020824"/>
            <a:ext cx="329184" cy="256032"/>
          </a:xfrm>
          <a:prstGeom prst="rect">
            <a:avLst/>
          </a:prstGeom>
          <a:noFill/>
        </p:spPr>
        <p:txBody>
          <a:bodyPr wrap="none" lIns="0" tIns="0" rIns="0" bIns="0">
            <a:spAutoFit/>
          </a:bodyPr>
          <a:lstStyle/>
          <a:p>
            <a:pPr algn="ctr"/>
            <a:r>
              <a:rPr sz="1600" b="1">
                <a:solidFill>
                  <a:srgbClr val="D6D6D6"/>
                </a:solidFill>
                <a:latin typeface="Arial" charset="0"/>
              </a:rPr>
              <a:t>!</a:t>
            </a:r>
            <a:endParaRPr sz="1600" b="1">
              <a:solidFill>
                <a:srgbClr val="D6D6D6"/>
              </a:solidFill>
              <a:latin typeface="Arial" charset="0"/>
            </a:endParaRPr>
          </a:p>
        </p:txBody>
      </p:sp>
      <p:sp>
        <p:nvSpPr>
          <p:cNvPr id="42" name="TextBox 41"/>
          <p:cNvSpPr txBox="1"/>
          <p:nvPr/>
        </p:nvSpPr>
        <p:spPr>
          <a:xfrm>
            <a:off x="4919472" y="2468880"/>
            <a:ext cx="1508760" cy="347472"/>
          </a:xfrm>
          <a:prstGeom prst="rect">
            <a:avLst/>
          </a:prstGeom>
          <a:noFill/>
        </p:spPr>
        <p:txBody>
          <a:bodyPr wrap="square" lIns="0" tIns="0" rIns="0" bIns="0">
            <a:spAutoFit/>
          </a:bodyPr>
          <a:lstStyle/>
          <a:p>
            <a:pPr algn="ctr"/>
            <a:r>
              <a:rPr sz="1020" b="1">
                <a:solidFill>
                  <a:srgbClr val="000000"/>
                </a:solidFill>
                <a:latin typeface="Arial" charset="0"/>
              </a:rPr>
              <a:t>Fewer
stops</a:t>
            </a:r>
            <a:endParaRPr sz="1020" b="1">
              <a:solidFill>
                <a:srgbClr val="000000"/>
              </a:solidFill>
              <a:latin typeface="Arial" charset="0"/>
            </a:endParaRPr>
          </a:p>
        </p:txBody>
      </p:sp>
      <p:sp>
        <p:nvSpPr>
          <p:cNvPr id="43" name="Rounded Rectangle 42"/>
          <p:cNvSpPr/>
          <p:nvPr/>
        </p:nvSpPr>
        <p:spPr>
          <a:xfrm>
            <a:off x="5193792" y="2880360"/>
            <a:ext cx="960120" cy="256032"/>
          </a:xfrm>
          <a:prstGeom prst="roundRect">
            <a:avLst/>
          </a:prstGeom>
          <a:solidFill>
            <a:srgbClr val="FCECEC"/>
          </a:solidFill>
          <a:ln w="15240">
            <a:solidFill>
              <a:srgbClr val="BE5252"/>
            </a:solidFill>
          </a:ln>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760" b="1">
                <a:solidFill>
                  <a:srgbClr val="BE5252"/>
                </a:solidFill>
                <a:latin typeface="Arial" charset="0"/>
              </a:rPr>
              <a:t>NOT SELECTED</a:t>
            </a:r>
            <a:endParaRPr sz="760" b="1">
              <a:solidFill>
                <a:srgbClr val="BE5252"/>
              </a:solidFill>
              <a:latin typeface="Arial" charset="0"/>
            </a:endParaRPr>
          </a:p>
        </p:txBody>
      </p:sp>
      <p:sp>
        <p:nvSpPr>
          <p:cNvPr id="44" name="TextBox 43"/>
          <p:cNvSpPr txBox="1"/>
          <p:nvPr/>
        </p:nvSpPr>
        <p:spPr>
          <a:xfrm>
            <a:off x="4965192" y="3227832"/>
            <a:ext cx="1417320" cy="237744"/>
          </a:xfrm>
          <a:prstGeom prst="rect">
            <a:avLst/>
          </a:prstGeom>
          <a:noFill/>
        </p:spPr>
        <p:txBody>
          <a:bodyPr wrap="square" lIns="0" tIns="0" rIns="0" bIns="0">
            <a:spAutoFit/>
          </a:bodyPr>
          <a:lstStyle/>
          <a:p>
            <a:pPr algn="ctr"/>
            <a:r>
              <a:rPr sz="830" b="0">
                <a:solidFill>
                  <a:srgbClr val="525252"/>
                </a:solidFill>
                <a:latin typeface="Arial" charset="0"/>
              </a:rPr>
              <a:t>Service trade-off</a:t>
            </a:r>
            <a:endParaRPr sz="830" b="0">
              <a:solidFill>
                <a:srgbClr val="525252"/>
              </a:solidFill>
              <a:latin typeface="Arial" charset="0"/>
            </a:endParaRPr>
          </a:p>
        </p:txBody>
      </p:sp>
      <p:sp>
        <p:nvSpPr>
          <p:cNvPr id="45" name="Rounded Rectangle 44"/>
          <p:cNvSpPr/>
          <p:nvPr/>
        </p:nvSpPr>
        <p:spPr>
          <a:xfrm>
            <a:off x="6775704" y="1810512"/>
            <a:ext cx="1691640" cy="1847088"/>
          </a:xfrm>
          <a:prstGeom prst="roundRect">
            <a:avLst/>
          </a:prstGeom>
          <a:solidFill>
            <a:srgbClr val="F6F6F6"/>
          </a:solidFill>
          <a:ln w="15240">
            <a:solidFill>
              <a:srgbClr val="D6D6D6"/>
            </a:solidFill>
          </a:ln>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p>
        </p:txBody>
      </p:sp>
      <p:sp>
        <p:nvSpPr>
          <p:cNvPr id="46" name="Oval 45"/>
          <p:cNvSpPr/>
          <p:nvPr/>
        </p:nvSpPr>
        <p:spPr>
          <a:xfrm>
            <a:off x="7392924" y="1929384"/>
            <a:ext cx="457200" cy="457200"/>
          </a:xfrm>
          <a:prstGeom prst="ellipse">
            <a:avLst/>
          </a:prstGeom>
          <a:solidFill>
            <a:srgbClr val="D6D6D6"/>
          </a:solidFill>
          <a:ln w="12700">
            <a:solidFill>
              <a:srgbClr val="D6D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484364" y="2020824"/>
            <a:ext cx="274320" cy="27432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420356" y="2066543"/>
            <a:ext cx="45720" cy="16459"/>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420356" y="2157984"/>
            <a:ext cx="45720" cy="16459"/>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420356" y="2249424"/>
            <a:ext cx="45720" cy="16459"/>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786116" y="2066543"/>
            <a:ext cx="45720" cy="16459"/>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86116" y="2157984"/>
            <a:ext cx="45720" cy="16459"/>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86116" y="2249424"/>
            <a:ext cx="45720" cy="16459"/>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530084" y="1956815"/>
            <a:ext cx="16459" cy="4572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621524" y="1956815"/>
            <a:ext cx="16459" cy="4572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12964" y="1956815"/>
            <a:ext cx="16459" cy="4572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530084" y="2322576"/>
            <a:ext cx="16459" cy="4572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621524" y="2322576"/>
            <a:ext cx="16459" cy="4572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712964" y="2322576"/>
            <a:ext cx="16459" cy="4572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56932" y="2025395"/>
            <a:ext cx="329184" cy="256032"/>
          </a:xfrm>
          <a:prstGeom prst="rect">
            <a:avLst/>
          </a:prstGeom>
          <a:noFill/>
        </p:spPr>
        <p:txBody>
          <a:bodyPr wrap="none" lIns="0" tIns="0" rIns="0" bIns="0">
            <a:spAutoFit/>
          </a:bodyPr>
          <a:lstStyle/>
          <a:p>
            <a:pPr algn="ctr"/>
            <a:r>
              <a:rPr sz="900" b="1">
                <a:solidFill>
                  <a:srgbClr val="D6D6D6"/>
                </a:solidFill>
                <a:latin typeface="Arial" charset="0"/>
              </a:rPr>
              <a:t>AI</a:t>
            </a:r>
            <a:endParaRPr sz="900" b="1">
              <a:solidFill>
                <a:srgbClr val="D6D6D6"/>
              </a:solidFill>
              <a:latin typeface="Arial" charset="0"/>
            </a:endParaRPr>
          </a:p>
        </p:txBody>
      </p:sp>
      <p:sp>
        <p:nvSpPr>
          <p:cNvPr id="61" name="TextBox 60"/>
          <p:cNvSpPr txBox="1"/>
          <p:nvPr/>
        </p:nvSpPr>
        <p:spPr>
          <a:xfrm>
            <a:off x="6867144" y="2468880"/>
            <a:ext cx="1508760" cy="347472"/>
          </a:xfrm>
          <a:prstGeom prst="rect">
            <a:avLst/>
          </a:prstGeom>
          <a:noFill/>
        </p:spPr>
        <p:txBody>
          <a:bodyPr wrap="square" lIns="0" tIns="0" rIns="0" bIns="0">
            <a:spAutoFit/>
          </a:bodyPr>
          <a:lstStyle/>
          <a:p>
            <a:pPr algn="ctr"/>
            <a:r>
              <a:rPr sz="1020" b="1">
                <a:solidFill>
                  <a:srgbClr val="000000"/>
                </a:solidFill>
                <a:latin typeface="Arial" charset="0"/>
              </a:rPr>
              <a:t>AI dynamic
routing</a:t>
            </a:r>
            <a:endParaRPr sz="1020" b="1">
              <a:solidFill>
                <a:srgbClr val="000000"/>
              </a:solidFill>
              <a:latin typeface="Arial" charset="0"/>
            </a:endParaRPr>
          </a:p>
        </p:txBody>
      </p:sp>
      <p:sp>
        <p:nvSpPr>
          <p:cNvPr id="62" name="Rounded Rectangle 61"/>
          <p:cNvSpPr/>
          <p:nvPr/>
        </p:nvSpPr>
        <p:spPr>
          <a:xfrm>
            <a:off x="7141464" y="2880360"/>
            <a:ext cx="960120" cy="256032"/>
          </a:xfrm>
          <a:prstGeom prst="roundRect">
            <a:avLst/>
          </a:prstGeom>
          <a:solidFill>
            <a:srgbClr val="FCECEC"/>
          </a:solidFill>
          <a:ln w="15240">
            <a:solidFill>
              <a:srgbClr val="BE5252"/>
            </a:solidFill>
          </a:ln>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760" b="1">
                <a:solidFill>
                  <a:srgbClr val="BE5252"/>
                </a:solidFill>
                <a:latin typeface="Arial" charset="0"/>
              </a:rPr>
              <a:t>NOT SELECTED</a:t>
            </a:r>
            <a:endParaRPr sz="760" b="1">
              <a:solidFill>
                <a:srgbClr val="BE5252"/>
              </a:solidFill>
              <a:latin typeface="Arial" charset="0"/>
            </a:endParaRPr>
          </a:p>
        </p:txBody>
      </p:sp>
      <p:sp>
        <p:nvSpPr>
          <p:cNvPr id="63" name="TextBox 62"/>
          <p:cNvSpPr txBox="1"/>
          <p:nvPr/>
        </p:nvSpPr>
        <p:spPr>
          <a:xfrm>
            <a:off x="6912864" y="3227832"/>
            <a:ext cx="1417320" cy="237744"/>
          </a:xfrm>
          <a:prstGeom prst="rect">
            <a:avLst/>
          </a:prstGeom>
          <a:noFill/>
        </p:spPr>
        <p:txBody>
          <a:bodyPr wrap="square" lIns="0" tIns="0" rIns="0" bIns="0">
            <a:spAutoFit/>
          </a:bodyPr>
          <a:lstStyle/>
          <a:p>
            <a:pPr algn="ctr"/>
            <a:r>
              <a:rPr sz="830" b="0">
                <a:solidFill>
                  <a:srgbClr val="525252"/>
                </a:solidFill>
                <a:latin typeface="Arial" charset="0"/>
              </a:rPr>
              <a:t>High tech risk</a:t>
            </a:r>
            <a:endParaRPr sz="830" b="0">
              <a:solidFill>
                <a:srgbClr val="525252"/>
              </a:solidFill>
              <a:latin typeface="Arial" charset="0"/>
            </a:endParaRPr>
          </a:p>
        </p:txBody>
      </p:sp>
      <p:sp>
        <p:nvSpPr>
          <p:cNvPr id="64" name="Rounded Rectangle 63"/>
          <p:cNvSpPr/>
          <p:nvPr/>
        </p:nvSpPr>
        <p:spPr>
          <a:xfrm>
            <a:off x="8723376" y="1810512"/>
            <a:ext cx="1691640" cy="1847088"/>
          </a:xfrm>
          <a:prstGeom prst="roundRect">
            <a:avLst/>
          </a:prstGeom>
          <a:solidFill>
            <a:srgbClr val="F6F6F6"/>
          </a:solidFill>
          <a:ln w="15240">
            <a:solidFill>
              <a:srgbClr val="D6D6D6"/>
            </a:solidFill>
          </a:ln>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p>
        </p:txBody>
      </p:sp>
      <p:sp>
        <p:nvSpPr>
          <p:cNvPr id="65" name="Oval 64"/>
          <p:cNvSpPr/>
          <p:nvPr/>
        </p:nvSpPr>
        <p:spPr>
          <a:xfrm>
            <a:off x="9340596" y="1929384"/>
            <a:ext cx="457200" cy="457200"/>
          </a:xfrm>
          <a:prstGeom prst="ellipse">
            <a:avLst/>
          </a:prstGeom>
          <a:solidFill>
            <a:srgbClr val="D6D6D6"/>
          </a:solidFill>
          <a:ln w="12700">
            <a:solidFill>
              <a:srgbClr val="D6D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9432036" y="2020824"/>
            <a:ext cx="118872" cy="118872"/>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9587484" y="2020824"/>
            <a:ext cx="118872" cy="118872"/>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rc 67"/>
          <p:cNvSpPr/>
          <p:nvPr/>
        </p:nvSpPr>
        <p:spPr>
          <a:xfrm>
            <a:off x="9386316" y="2139696"/>
            <a:ext cx="201168" cy="164592"/>
          </a:xfrm>
          <a:prstGeom prst="arc">
            <a:avLst/>
          </a:prstGeom>
          <a:solidFill>
            <a:srgbClr val="FFFFFF"/>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rc 68"/>
          <p:cNvSpPr/>
          <p:nvPr/>
        </p:nvSpPr>
        <p:spPr>
          <a:xfrm>
            <a:off x="9578340" y="2139696"/>
            <a:ext cx="201168" cy="164592"/>
          </a:xfrm>
          <a:prstGeom prst="arc">
            <a:avLst/>
          </a:prstGeom>
          <a:solidFill>
            <a:srgbClr val="FFFFFF"/>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814815" y="2468880"/>
            <a:ext cx="1508760" cy="347472"/>
          </a:xfrm>
          <a:prstGeom prst="rect">
            <a:avLst/>
          </a:prstGeom>
          <a:noFill/>
        </p:spPr>
        <p:txBody>
          <a:bodyPr wrap="square" lIns="0" tIns="0" rIns="0" bIns="0">
            <a:spAutoFit/>
          </a:bodyPr>
          <a:lstStyle/>
          <a:p>
            <a:pPr algn="ctr"/>
            <a:r>
              <a:rPr sz="1020" b="1">
                <a:solidFill>
                  <a:srgbClr val="000000"/>
                </a:solidFill>
                <a:latin typeface="Arial" charset="0"/>
              </a:rPr>
              <a:t>Study
pods</a:t>
            </a:r>
            <a:endParaRPr sz="1020" b="1">
              <a:solidFill>
                <a:srgbClr val="000000"/>
              </a:solidFill>
              <a:latin typeface="Arial" charset="0"/>
            </a:endParaRPr>
          </a:p>
        </p:txBody>
      </p:sp>
      <p:sp>
        <p:nvSpPr>
          <p:cNvPr id="71" name="Rounded Rectangle 70"/>
          <p:cNvSpPr/>
          <p:nvPr/>
        </p:nvSpPr>
        <p:spPr>
          <a:xfrm>
            <a:off x="9089136" y="2880360"/>
            <a:ext cx="960120" cy="256032"/>
          </a:xfrm>
          <a:prstGeom prst="roundRect">
            <a:avLst/>
          </a:prstGeom>
          <a:solidFill>
            <a:srgbClr val="FCECEC"/>
          </a:solidFill>
          <a:ln w="15240">
            <a:solidFill>
              <a:srgbClr val="BE5252"/>
            </a:solidFill>
          </a:ln>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760" b="1">
                <a:solidFill>
                  <a:srgbClr val="BE5252"/>
                </a:solidFill>
                <a:latin typeface="Arial" charset="0"/>
              </a:rPr>
              <a:t>NOT SELECTED</a:t>
            </a:r>
            <a:endParaRPr sz="760" b="1">
              <a:solidFill>
                <a:srgbClr val="BE5252"/>
              </a:solidFill>
              <a:latin typeface="Arial" charset="0"/>
            </a:endParaRPr>
          </a:p>
        </p:txBody>
      </p:sp>
      <p:sp>
        <p:nvSpPr>
          <p:cNvPr id="72" name="TextBox 71"/>
          <p:cNvSpPr txBox="1"/>
          <p:nvPr/>
        </p:nvSpPr>
        <p:spPr>
          <a:xfrm>
            <a:off x="8860536" y="3227832"/>
            <a:ext cx="1417320" cy="237744"/>
          </a:xfrm>
          <a:prstGeom prst="rect">
            <a:avLst/>
          </a:prstGeom>
          <a:noFill/>
        </p:spPr>
        <p:txBody>
          <a:bodyPr wrap="square" lIns="0" tIns="0" rIns="0" bIns="0">
            <a:spAutoFit/>
          </a:bodyPr>
          <a:lstStyle/>
          <a:p>
            <a:pPr algn="ctr"/>
            <a:r>
              <a:rPr sz="830" b="0">
                <a:solidFill>
                  <a:srgbClr val="525252"/>
                </a:solidFill>
                <a:latin typeface="Arial" charset="0"/>
              </a:rPr>
              <a:t>Off-scope</a:t>
            </a:r>
            <a:endParaRPr sz="830" b="0">
              <a:solidFill>
                <a:srgbClr val="525252"/>
              </a:solidFill>
              <a:latin typeface="Arial" charset="0"/>
            </a:endParaRPr>
          </a:p>
        </p:txBody>
      </p:sp>
      <p:sp>
        <p:nvSpPr>
          <p:cNvPr id="73" name="Rounded Rectangle 72"/>
          <p:cNvSpPr/>
          <p:nvPr/>
        </p:nvSpPr>
        <p:spPr>
          <a:xfrm>
            <a:off x="2880360" y="4069080"/>
            <a:ext cx="7635240" cy="1170432"/>
          </a:xfrm>
          <a:prstGeom prst="roundRect">
            <a:avLst/>
          </a:prstGeom>
          <a:solidFill>
            <a:srgbClr val="FAFAFA"/>
          </a:solidFill>
          <a:ln w="15240">
            <a:solidFill>
              <a:srgbClr val="D2D2D2"/>
            </a:solidFill>
          </a:ln>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p>
        </p:txBody>
      </p:sp>
      <p:sp>
        <p:nvSpPr>
          <p:cNvPr id="74" name="TextBox 73"/>
          <p:cNvSpPr txBox="1"/>
          <p:nvPr/>
        </p:nvSpPr>
        <p:spPr>
          <a:xfrm>
            <a:off x="3108960" y="4224528"/>
            <a:ext cx="7178040" cy="256032"/>
          </a:xfrm>
          <a:prstGeom prst="rect">
            <a:avLst/>
          </a:prstGeom>
          <a:noFill/>
        </p:spPr>
        <p:txBody>
          <a:bodyPr wrap="square" lIns="0" tIns="0" rIns="0" bIns="0">
            <a:spAutoFit/>
          </a:bodyPr>
          <a:lstStyle/>
          <a:p>
            <a:pPr algn="ctr"/>
            <a:r>
              <a:rPr sz="1650" b="1" dirty="0">
                <a:solidFill>
                  <a:srgbClr val="000000"/>
                </a:solidFill>
                <a:latin typeface="Arial" charset="0"/>
              </a:rPr>
              <a:t>Final choice: lightweight recycled CFRP carriage materials</a:t>
            </a:r>
            <a:endParaRPr sz="1650" b="1" dirty="0">
              <a:solidFill>
                <a:srgbClr val="000000"/>
              </a:solidFill>
              <a:latin typeface="Arial" charset="0"/>
            </a:endParaRPr>
          </a:p>
        </p:txBody>
      </p:sp>
      <p:sp>
        <p:nvSpPr>
          <p:cNvPr id="75" name="Oval 74"/>
          <p:cNvSpPr/>
          <p:nvPr/>
        </p:nvSpPr>
        <p:spPr>
          <a:xfrm>
            <a:off x="3136391" y="4599432"/>
            <a:ext cx="402336" cy="402336"/>
          </a:xfrm>
          <a:prstGeom prst="ellipse">
            <a:avLst/>
          </a:prstGeom>
          <a:solidFill>
            <a:srgbClr val="4C94D6"/>
          </a:solidFill>
          <a:ln w="12700">
            <a:solidFill>
              <a:srgbClr val="4C94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3127248" y="4681728"/>
            <a:ext cx="420624" cy="21031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3182112" y="4718304"/>
            <a:ext cx="109728" cy="64008"/>
          </a:xfrm>
          <a:prstGeom prst="rect">
            <a:avLst/>
          </a:prstGeom>
          <a:solidFill>
            <a:srgbClr val="4C94D6"/>
          </a:solidFill>
          <a:ln w="12700">
            <a:solidFill>
              <a:srgbClr val="4C94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374136" y="4718304"/>
            <a:ext cx="109728" cy="64008"/>
          </a:xfrm>
          <a:prstGeom prst="rect">
            <a:avLst/>
          </a:prstGeom>
          <a:solidFill>
            <a:srgbClr val="4C94D6"/>
          </a:solidFill>
          <a:ln w="12700">
            <a:solidFill>
              <a:srgbClr val="4C94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3182112" y="4873752"/>
            <a:ext cx="73152" cy="73152"/>
          </a:xfrm>
          <a:prstGeom prst="ellipse">
            <a:avLst/>
          </a:prstGeom>
          <a:solidFill>
            <a:srgbClr val="4C94D6"/>
          </a:solidFill>
          <a:ln w="12700">
            <a:solidFill>
              <a:srgbClr val="4C94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419856" y="4873752"/>
            <a:ext cx="73152" cy="73152"/>
          </a:xfrm>
          <a:prstGeom prst="ellipse">
            <a:avLst/>
          </a:prstGeom>
          <a:solidFill>
            <a:srgbClr val="4C94D6"/>
          </a:solidFill>
          <a:ln w="12700">
            <a:solidFill>
              <a:srgbClr val="4C94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611879" y="4681728"/>
            <a:ext cx="1417320" cy="237744"/>
          </a:xfrm>
          <a:prstGeom prst="rect">
            <a:avLst/>
          </a:prstGeom>
          <a:noFill/>
        </p:spPr>
        <p:txBody>
          <a:bodyPr wrap="square" lIns="0" tIns="0" rIns="0" bIns="0">
            <a:spAutoFit/>
          </a:bodyPr>
          <a:lstStyle/>
          <a:p>
            <a:pPr algn="l"/>
            <a:r>
              <a:rPr sz="1050" b="1">
                <a:solidFill>
                  <a:srgbClr val="525252"/>
                </a:solidFill>
                <a:latin typeface="Arial" charset="0"/>
              </a:rPr>
              <a:t>Cuts weight</a:t>
            </a:r>
            <a:endParaRPr sz="1050" b="1">
              <a:solidFill>
                <a:srgbClr val="525252"/>
              </a:solidFill>
              <a:latin typeface="Arial" charset="0"/>
            </a:endParaRPr>
          </a:p>
        </p:txBody>
      </p:sp>
      <p:sp>
        <p:nvSpPr>
          <p:cNvPr id="82" name="Oval 81"/>
          <p:cNvSpPr/>
          <p:nvPr/>
        </p:nvSpPr>
        <p:spPr>
          <a:xfrm>
            <a:off x="5239512" y="4599432"/>
            <a:ext cx="402336" cy="402336"/>
          </a:xfrm>
          <a:prstGeom prst="ellipse">
            <a:avLst/>
          </a:prstGeom>
          <a:solidFill>
            <a:srgbClr val="62A669"/>
          </a:solidFill>
          <a:ln w="12700">
            <a:solidFill>
              <a:srgbClr val="62A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Lightning Bolt 82"/>
          <p:cNvSpPr/>
          <p:nvPr/>
        </p:nvSpPr>
        <p:spPr>
          <a:xfrm>
            <a:off x="5340096" y="4636008"/>
            <a:ext cx="201168" cy="329184"/>
          </a:xfrm>
          <a:prstGeom prst="lightningBol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715000" y="4681728"/>
            <a:ext cx="1417320" cy="237744"/>
          </a:xfrm>
          <a:prstGeom prst="rect">
            <a:avLst/>
          </a:prstGeom>
          <a:noFill/>
        </p:spPr>
        <p:txBody>
          <a:bodyPr wrap="square" lIns="0" tIns="0" rIns="0" bIns="0">
            <a:spAutoFit/>
          </a:bodyPr>
          <a:lstStyle/>
          <a:p>
            <a:pPr algn="l"/>
            <a:r>
              <a:rPr sz="1050" b="1" dirty="0">
                <a:solidFill>
                  <a:srgbClr val="525252"/>
                </a:solidFill>
                <a:latin typeface="Arial" charset="0"/>
              </a:rPr>
              <a:t>Lowers energy</a:t>
            </a:r>
            <a:endParaRPr sz="1050" b="1" dirty="0">
              <a:solidFill>
                <a:srgbClr val="525252"/>
              </a:solidFill>
              <a:latin typeface="Arial" charset="0"/>
            </a:endParaRPr>
          </a:p>
        </p:txBody>
      </p:sp>
      <p:sp>
        <p:nvSpPr>
          <p:cNvPr id="85" name="Oval 84"/>
          <p:cNvSpPr/>
          <p:nvPr/>
        </p:nvSpPr>
        <p:spPr>
          <a:xfrm>
            <a:off x="7342631" y="4599432"/>
            <a:ext cx="402336" cy="402336"/>
          </a:xfrm>
          <a:prstGeom prst="ellipse">
            <a:avLst/>
          </a:prstGeom>
          <a:solidFill>
            <a:srgbClr val="F4C452"/>
          </a:solidFill>
          <a:ln w="12700">
            <a:solidFill>
              <a:srgbClr val="F4C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entagon 85"/>
          <p:cNvSpPr/>
          <p:nvPr/>
        </p:nvSpPr>
        <p:spPr>
          <a:xfrm>
            <a:off x="7406640" y="4645152"/>
            <a:ext cx="274320" cy="310896"/>
          </a:xfrm>
          <a:prstGeom prst="homePlat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379208" y="4654296"/>
            <a:ext cx="329184" cy="256032"/>
          </a:xfrm>
          <a:prstGeom prst="rect">
            <a:avLst/>
          </a:prstGeom>
          <a:noFill/>
        </p:spPr>
        <p:txBody>
          <a:bodyPr wrap="none" lIns="0" tIns="0" rIns="0" bIns="0">
            <a:spAutoFit/>
          </a:bodyPr>
          <a:lstStyle/>
          <a:p>
            <a:pPr algn="ctr"/>
            <a:r>
              <a:rPr sz="900" b="1">
                <a:solidFill>
                  <a:srgbClr val="F4C452"/>
                </a:solidFill>
                <a:latin typeface="Arial" charset="0"/>
              </a:rPr>
              <a:t>?</a:t>
            </a:r>
            <a:endParaRPr sz="900" b="1">
              <a:solidFill>
                <a:srgbClr val="F4C452"/>
              </a:solidFill>
              <a:latin typeface="Arial" charset="0"/>
            </a:endParaRPr>
          </a:p>
        </p:txBody>
      </p:sp>
      <p:sp>
        <p:nvSpPr>
          <p:cNvPr id="88" name="TextBox 87"/>
          <p:cNvSpPr txBox="1"/>
          <p:nvPr/>
        </p:nvSpPr>
        <p:spPr>
          <a:xfrm>
            <a:off x="7818120" y="4681728"/>
            <a:ext cx="1417320" cy="237744"/>
          </a:xfrm>
          <a:prstGeom prst="rect">
            <a:avLst/>
          </a:prstGeom>
          <a:noFill/>
        </p:spPr>
        <p:txBody>
          <a:bodyPr wrap="square" lIns="0" tIns="0" rIns="0" bIns="0">
            <a:spAutoFit/>
          </a:bodyPr>
          <a:lstStyle/>
          <a:p>
            <a:pPr algn="l"/>
            <a:r>
              <a:rPr sz="1050" b="1" dirty="0">
                <a:solidFill>
                  <a:srgbClr val="525252"/>
                </a:solidFill>
                <a:latin typeface="Arial" charset="0"/>
              </a:rPr>
              <a:t>Can be validated</a:t>
            </a:r>
            <a:endParaRPr sz="1050" b="1" dirty="0">
              <a:solidFill>
                <a:srgbClr val="525252"/>
              </a:solidFill>
              <a:latin typeface="Arial" charset="0"/>
            </a:endParaRPr>
          </a:p>
        </p:txBody>
      </p:sp>
      <p:sp>
        <p:nvSpPr>
          <p:cNvPr id="90" name="矩形 89"/>
          <p:cNvSpPr/>
          <p:nvPr/>
        </p:nvSpPr>
        <p:spPr>
          <a:xfrm>
            <a:off x="9296400" y="428625"/>
            <a:ext cx="1409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90" b="1">
                <a:solidFill>
                  <a:srgbClr val="12355B"/>
                </a:solidFill>
                <a:latin typeface="Aptos"/>
                <a:ea typeface="Aptos"/>
                <a:cs typeface="Aptos"/>
              </a:defRPr>
            </a:pPr>
            <a:r>
              <a:rPr sz="790" b="1">
                <a:solidFill>
                  <a:srgbClr val="12355B"/>
                </a:solidFill>
                <a:latin typeface="Aptos"/>
                <a:ea typeface="Aptos"/>
                <a:cs typeface="Aptos"/>
              </a:rPr>
              <a:t>Presenter: </a:t>
            </a:r>
            <a:r>
              <a:rPr lang="en-US" sz="790" b="1">
                <a:solidFill>
                  <a:srgbClr val="12355B"/>
                </a:solidFill>
                <a:latin typeface="Aptos"/>
                <a:ea typeface="Aptos"/>
                <a:cs typeface="Aptos"/>
              </a:rPr>
              <a:t>Liu JunHan</a:t>
            </a:r>
            <a:endParaRPr lang="en-US" sz="790" b="1">
              <a:solidFill>
                <a:srgbClr val="12355B"/>
              </a:solidFill>
              <a:latin typeface="Aptos"/>
              <a:ea typeface="Aptos"/>
              <a:cs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0" y="0"/>
            <a:ext cx="12192000" cy="6858000"/>
          </a:xfrm>
          <a:prstGeom prst="rect">
            <a:avLst/>
          </a:prstGeom>
          <a:solidFill>
            <a:srgbClr val="FFFFFF"/>
          </a:solidFill>
          <a:ln w="0">
            <a:solidFill>
              <a:srgbClr val="000000">
                <a:alpha val="0"/>
              </a:srgbClr>
            </a:solidFill>
            <a:prstDash val="solid"/>
          </a:ln>
        </p:spPr>
      </p:sp>
      <p:sp>
        <p:nvSpPr>
          <p:cNvPr id="2" name="矩形 1"/>
          <p:cNvSpPr/>
          <p:nvPr/>
        </p:nvSpPr>
        <p:spPr>
          <a:xfrm>
            <a:off x="0" y="0"/>
            <a:ext cx="12192000" cy="85725"/>
          </a:xfrm>
          <a:prstGeom prst="rect">
            <a:avLst/>
          </a:prstGeom>
          <a:solidFill>
            <a:srgbClr val="1F6FEB"/>
          </a:solidFill>
          <a:ln w="0">
            <a:solidFill>
              <a:srgbClr val="000000">
                <a:alpha val="0"/>
              </a:srgbClr>
            </a:solidFill>
            <a:prstDash val="solid"/>
          </a:ln>
        </p:spPr>
      </p:sp>
      <p:sp>
        <p:nvSpPr>
          <p:cNvPr id="3" name="矩形 2"/>
          <p:cNvSpPr/>
          <p:nvPr/>
        </p:nvSpPr>
        <p:spPr>
          <a:xfrm>
            <a:off x="0" y="85725"/>
            <a:ext cx="3429000" cy="47625"/>
          </a:xfrm>
          <a:prstGeom prst="rect">
            <a:avLst/>
          </a:prstGeom>
          <a:solidFill>
            <a:srgbClr val="2EAD66"/>
          </a:solidFill>
          <a:ln w="0">
            <a:solidFill>
              <a:srgbClr val="000000">
                <a:alpha val="0"/>
              </a:srgbClr>
            </a:solidFill>
            <a:prstDash val="solid"/>
          </a:ln>
        </p:spPr>
      </p:sp>
      <p:sp>
        <p:nvSpPr>
          <p:cNvPr id="4" name="矩形 3"/>
          <p:cNvSpPr/>
          <p:nvPr/>
        </p:nvSpPr>
        <p:spPr>
          <a:xfrm>
            <a:off x="514350" y="323850"/>
            <a:ext cx="86677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12355B"/>
                </a:solidFill>
                <a:latin typeface="Aptos Display"/>
                <a:ea typeface="Aptos Display"/>
                <a:cs typeface="Aptos Display"/>
              </a:defRPr>
            </a:pPr>
            <a:r>
              <a:rPr sz="2325" b="1">
                <a:solidFill>
                  <a:srgbClr val="12355B"/>
                </a:solidFill>
                <a:latin typeface="Aptos Display"/>
                <a:ea typeface="Aptos Display"/>
                <a:cs typeface="Aptos Display"/>
              </a:rPr>
              <a:t>Our Design Solution</a:t>
            </a:r>
            <a:endParaRPr sz="2325" b="1">
              <a:solidFill>
                <a:srgbClr val="12355B"/>
              </a:solidFill>
              <a:latin typeface="Aptos Display"/>
              <a:ea typeface="Aptos Display"/>
              <a:cs typeface="Aptos Display"/>
            </a:endParaRPr>
          </a:p>
        </p:txBody>
      </p:sp>
      <p:sp>
        <p:nvSpPr>
          <p:cNvPr id="5" name="矩形 4"/>
          <p:cNvSpPr/>
          <p:nvPr/>
        </p:nvSpPr>
        <p:spPr>
          <a:xfrm>
            <a:off x="533400" y="762000"/>
            <a:ext cx="8382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F6B7A"/>
                </a:solidFill>
                <a:latin typeface="Aptos"/>
                <a:ea typeface="Aptos"/>
                <a:cs typeface="Aptos"/>
              </a:defRPr>
            </a:pPr>
            <a:r>
              <a:rPr sz="1200" b="0">
                <a:solidFill>
                  <a:srgbClr val="5F6B7A"/>
                </a:solidFill>
                <a:latin typeface="Aptos"/>
                <a:ea typeface="Aptos"/>
                <a:cs typeface="Aptos"/>
              </a:rPr>
              <a:t>Use lightweight, recycled carbon fiber carriage materials for selected components.</a:t>
            </a:r>
            <a:endParaRPr sz="1200" b="0">
              <a:solidFill>
                <a:srgbClr val="5F6B7A"/>
              </a:solidFill>
              <a:latin typeface="Aptos"/>
              <a:ea typeface="Aptos"/>
              <a:cs typeface="Aptos"/>
            </a:endParaRPr>
          </a:p>
        </p:txBody>
      </p:sp>
      <p:sp>
        <p:nvSpPr>
          <p:cNvPr id="6" name="矩形 5"/>
          <p:cNvSpPr/>
          <p:nvPr/>
        </p:nvSpPr>
        <p:spPr>
          <a:xfrm>
            <a:off x="11106150" y="3619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F6B7A"/>
                </a:solidFill>
                <a:latin typeface="Aptos"/>
                <a:ea typeface="Aptos"/>
                <a:cs typeface="Aptos"/>
              </a:defRPr>
            </a:pPr>
            <a:r>
              <a:rPr lang="en-US" sz="1050" b="0">
                <a:solidFill>
                  <a:srgbClr val="5F6B7A"/>
                </a:solidFill>
                <a:latin typeface="Aptos"/>
                <a:ea typeface="Aptos"/>
                <a:cs typeface="Aptos"/>
              </a:rPr>
              <a:t>05</a:t>
            </a:r>
            <a:endParaRPr lang="en-US" sz="1050" b="0">
              <a:solidFill>
                <a:srgbClr val="5F6B7A"/>
              </a:solidFill>
              <a:latin typeface="Aptos"/>
              <a:ea typeface="Aptos"/>
              <a:cs typeface="Aptos"/>
            </a:endParaRPr>
          </a:p>
        </p:txBody>
      </p:sp>
      <p:sp>
        <p:nvSpPr>
          <p:cNvPr id="7" name="矩形 6"/>
          <p:cNvSpPr/>
          <p:nvPr/>
        </p:nvSpPr>
        <p:spPr>
          <a:xfrm>
            <a:off x="514350" y="6534150"/>
            <a:ext cx="9810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7A8594"/>
                </a:solidFill>
                <a:latin typeface="Aptos"/>
                <a:ea typeface="Aptos"/>
                <a:cs typeface="Aptos"/>
              </a:defRPr>
            </a:pPr>
            <a:r>
              <a:rPr sz="675" b="0" dirty="0">
                <a:solidFill>
                  <a:srgbClr val="7A8594"/>
                </a:solidFill>
                <a:latin typeface="Aptos"/>
                <a:ea typeface="Aptos"/>
                <a:cs typeface="Aptos"/>
              </a:rPr>
              <a:t>Sources: Ulbricht et al. 2023</a:t>
            </a:r>
            <a:endParaRPr sz="675" b="0" dirty="0">
              <a:solidFill>
                <a:srgbClr val="7A8594"/>
              </a:solidFill>
              <a:latin typeface="Aptos"/>
              <a:ea typeface="Aptos"/>
              <a:cs typeface="Aptos"/>
            </a:endParaRPr>
          </a:p>
        </p:txBody>
      </p:sp>
      <p:sp>
        <p:nvSpPr>
          <p:cNvPr id="8" name="矩形: 圆角 7"/>
          <p:cNvSpPr/>
          <p:nvPr/>
        </p:nvSpPr>
        <p:spPr>
          <a:xfrm>
            <a:off x="9191625" y="361950"/>
            <a:ext cx="1619250" cy="266700"/>
          </a:xfrm>
          <a:prstGeom prst="roundRect">
            <a:avLst>
              <a:gd name="adj" fmla="val 28571"/>
            </a:avLst>
          </a:prstGeom>
          <a:solidFill>
            <a:srgbClr val="F6F8FB"/>
          </a:solidFill>
          <a:ln w="9525">
            <a:solidFill>
              <a:srgbClr val="C9D4E2"/>
            </a:solidFill>
            <a:prstDash val="solid"/>
          </a:ln>
        </p:spPr>
      </p:sp>
      <p:sp>
        <p:nvSpPr>
          <p:cNvPr id="9" name="矩形 8"/>
          <p:cNvSpPr/>
          <p:nvPr/>
        </p:nvSpPr>
        <p:spPr>
          <a:xfrm>
            <a:off x="9296400" y="428625"/>
            <a:ext cx="1409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90" b="1">
                <a:solidFill>
                  <a:srgbClr val="12355B"/>
                </a:solidFill>
                <a:latin typeface="Aptos"/>
                <a:ea typeface="Aptos"/>
                <a:cs typeface="Aptos"/>
              </a:defRPr>
            </a:pPr>
            <a:r>
              <a:rPr sz="790" b="1" dirty="0">
                <a:solidFill>
                  <a:srgbClr val="12355B"/>
                </a:solidFill>
                <a:latin typeface="Aptos"/>
                <a:ea typeface="Aptos"/>
                <a:cs typeface="Aptos"/>
              </a:rPr>
              <a:t>Presenter: </a:t>
            </a:r>
            <a:r>
              <a:rPr lang="en-US" sz="790" b="1" dirty="0">
                <a:solidFill>
                  <a:srgbClr val="12355B"/>
                </a:solidFill>
                <a:latin typeface="Aptos"/>
                <a:ea typeface="Aptos"/>
                <a:cs typeface="Aptos"/>
              </a:rPr>
              <a:t>Dang JiaYin</a:t>
            </a:r>
            <a:endParaRPr lang="en-US" sz="790" b="1" dirty="0">
              <a:solidFill>
                <a:srgbClr val="12355B"/>
              </a:solidFill>
              <a:latin typeface="Aptos"/>
              <a:ea typeface="Aptos"/>
              <a:cs typeface="Aptos"/>
            </a:endParaRPr>
          </a:p>
        </p:txBody>
      </p:sp>
      <p:sp>
        <p:nvSpPr>
          <p:cNvPr id="10" name="矩形: 圆角 9"/>
          <p:cNvSpPr/>
          <p:nvPr/>
        </p:nvSpPr>
        <p:spPr>
          <a:xfrm>
            <a:off x="466725" y="921711"/>
            <a:ext cx="4857750" cy="1792914"/>
          </a:xfrm>
          <a:prstGeom prst="roundRect">
            <a:avLst>
              <a:gd name="adj" fmla="val 1860"/>
            </a:avLst>
          </a:prstGeom>
          <a:solidFill>
            <a:srgbClr val="F6F8FB"/>
          </a:solidFill>
          <a:ln w="9525">
            <a:solidFill>
              <a:srgbClr val="C9D4E2"/>
            </a:solidFill>
            <a:prstDash val="solid"/>
          </a:ln>
        </p:spPr>
      </p:sp>
      <p:pic>
        <p:nvPicPr>
          <p:cNvPr id="11" name="图形 10"/>
          <p:cNvPicPr>
            <a:picLocks noChangeAspect="1"/>
          </p:cNvPicPr>
          <p:nvPr/>
        </p:nvPicPr>
        <p:blipFill>
          <a:blip/>
          <a:stretch>
            <a:fillRect/>
          </a:stretch>
        </p:blipFill>
        <p:spPr>
          <a:xfrm>
            <a:off x="599881" y="1007436"/>
            <a:ext cx="438150" cy="438150"/>
          </a:xfrm>
          <a:prstGeom prst="rect">
            <a:avLst/>
          </a:prstGeom>
        </p:spPr>
      </p:pic>
      <p:sp>
        <p:nvSpPr>
          <p:cNvPr id="12" name="矩形 11"/>
          <p:cNvSpPr/>
          <p:nvPr/>
        </p:nvSpPr>
        <p:spPr>
          <a:xfrm>
            <a:off x="1171187" y="1102470"/>
            <a:ext cx="24765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EAD66"/>
                </a:solidFill>
                <a:latin typeface="Aptos"/>
                <a:ea typeface="Aptos"/>
                <a:cs typeface="Aptos"/>
              </a:defRPr>
            </a:pPr>
            <a:r>
              <a:rPr sz="1275" b="1">
                <a:solidFill>
                  <a:srgbClr val="2EAD66"/>
                </a:solidFill>
                <a:latin typeface="Aptos"/>
                <a:ea typeface="Aptos"/>
                <a:cs typeface="Aptos"/>
              </a:rPr>
              <a:t>Main solution</a:t>
            </a:r>
            <a:endParaRPr sz="1275" b="1">
              <a:solidFill>
                <a:srgbClr val="2EAD66"/>
              </a:solidFill>
              <a:latin typeface="Aptos"/>
              <a:ea typeface="Aptos"/>
              <a:cs typeface="Aptos"/>
            </a:endParaRPr>
          </a:p>
        </p:txBody>
      </p:sp>
      <p:sp>
        <p:nvSpPr>
          <p:cNvPr id="13" name="矩形 12"/>
          <p:cNvSpPr/>
          <p:nvPr/>
        </p:nvSpPr>
        <p:spPr>
          <a:xfrm>
            <a:off x="1104512" y="1430207"/>
            <a:ext cx="32385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12355B"/>
                </a:solidFill>
                <a:latin typeface="Aptos"/>
                <a:ea typeface="Aptos"/>
                <a:cs typeface="Aptos"/>
              </a:defRPr>
            </a:pPr>
            <a:r>
              <a:rPr sz="2325" b="1" dirty="0">
                <a:solidFill>
                  <a:srgbClr val="12355B"/>
                </a:solidFill>
                <a:latin typeface="Aptos"/>
                <a:ea typeface="Aptos"/>
                <a:cs typeface="Aptos"/>
              </a:rPr>
              <a:t>Recycled CFRP panels</a:t>
            </a:r>
            <a:endParaRPr sz="2325" b="1" dirty="0">
              <a:solidFill>
                <a:srgbClr val="12355B"/>
              </a:solidFill>
              <a:latin typeface="Aptos"/>
              <a:ea typeface="Aptos"/>
              <a:cs typeface="Aptos"/>
            </a:endParaRPr>
          </a:p>
        </p:txBody>
      </p:sp>
      <p:sp>
        <p:nvSpPr>
          <p:cNvPr id="14" name="矩形: 圆角 13"/>
          <p:cNvSpPr/>
          <p:nvPr/>
        </p:nvSpPr>
        <p:spPr>
          <a:xfrm>
            <a:off x="798935" y="1829529"/>
            <a:ext cx="1752600" cy="342900"/>
          </a:xfrm>
          <a:prstGeom prst="roundRect">
            <a:avLst>
              <a:gd name="adj" fmla="val 22222"/>
            </a:avLst>
          </a:prstGeom>
          <a:solidFill>
            <a:srgbClr val="DDF7E9"/>
          </a:solidFill>
          <a:ln w="9525">
            <a:solidFill>
              <a:srgbClr val="2EAD66"/>
            </a:solidFill>
            <a:prstDash val="solid"/>
          </a:ln>
        </p:spPr>
        <p:txBody>
          <a:bodyPr/>
          <a:lstStyle/>
          <a:p>
            <a:endParaRPr lang="zh-CN" altLang="en-US" dirty="0"/>
          </a:p>
        </p:txBody>
      </p:sp>
      <p:sp>
        <p:nvSpPr>
          <p:cNvPr id="15" name="矩形 14"/>
          <p:cNvSpPr/>
          <p:nvPr/>
        </p:nvSpPr>
        <p:spPr>
          <a:xfrm>
            <a:off x="809237" y="1864420"/>
            <a:ext cx="1600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12355B"/>
                </a:solidFill>
                <a:latin typeface="Aptos"/>
                <a:ea typeface="Aptos"/>
                <a:cs typeface="Aptos"/>
              </a:defRPr>
            </a:pPr>
            <a:r>
              <a:rPr sz="1050" b="1" dirty="0">
                <a:solidFill>
                  <a:srgbClr val="12355B"/>
                </a:solidFill>
                <a:latin typeface="Aptos"/>
                <a:ea typeface="Aptos"/>
                <a:cs typeface="Aptos"/>
              </a:rPr>
              <a:t>Interior panels</a:t>
            </a:r>
            <a:endParaRPr sz="1050" b="1" dirty="0">
              <a:solidFill>
                <a:srgbClr val="12355B"/>
              </a:solidFill>
              <a:latin typeface="Aptos"/>
              <a:ea typeface="Aptos"/>
              <a:cs typeface="Aptos"/>
            </a:endParaRPr>
          </a:p>
        </p:txBody>
      </p:sp>
      <p:sp>
        <p:nvSpPr>
          <p:cNvPr id="16" name="矩形: 圆角 15"/>
          <p:cNvSpPr/>
          <p:nvPr/>
        </p:nvSpPr>
        <p:spPr>
          <a:xfrm>
            <a:off x="3014274" y="1818518"/>
            <a:ext cx="1752600" cy="342900"/>
          </a:xfrm>
          <a:prstGeom prst="roundRect">
            <a:avLst>
              <a:gd name="adj" fmla="val 22222"/>
            </a:avLst>
          </a:prstGeom>
          <a:solidFill>
            <a:srgbClr val="D9EAFE"/>
          </a:solidFill>
          <a:ln w="9525">
            <a:solidFill>
              <a:srgbClr val="1F6FEB"/>
            </a:solidFill>
            <a:prstDash val="solid"/>
          </a:ln>
        </p:spPr>
      </p:sp>
      <p:sp>
        <p:nvSpPr>
          <p:cNvPr id="17" name="矩形 16"/>
          <p:cNvSpPr/>
          <p:nvPr/>
        </p:nvSpPr>
        <p:spPr>
          <a:xfrm>
            <a:off x="2995224" y="1871781"/>
            <a:ext cx="1600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12355B"/>
                </a:solidFill>
                <a:latin typeface="Aptos"/>
                <a:ea typeface="Aptos"/>
                <a:cs typeface="Aptos"/>
              </a:defRPr>
            </a:pPr>
            <a:r>
              <a:rPr sz="1050" b="1" dirty="0">
                <a:solidFill>
                  <a:srgbClr val="12355B"/>
                </a:solidFill>
                <a:latin typeface="Aptos"/>
                <a:ea typeface="Aptos"/>
                <a:cs typeface="Aptos"/>
              </a:rPr>
              <a:t>Seat shells</a:t>
            </a:r>
            <a:endParaRPr sz="1050" b="1" dirty="0">
              <a:solidFill>
                <a:srgbClr val="12355B"/>
              </a:solidFill>
              <a:latin typeface="Aptos"/>
              <a:ea typeface="Aptos"/>
              <a:cs typeface="Aptos"/>
            </a:endParaRPr>
          </a:p>
        </p:txBody>
      </p:sp>
      <p:sp>
        <p:nvSpPr>
          <p:cNvPr id="18" name="矩形: 圆角 17"/>
          <p:cNvSpPr/>
          <p:nvPr/>
        </p:nvSpPr>
        <p:spPr>
          <a:xfrm>
            <a:off x="798935" y="2213299"/>
            <a:ext cx="1752600" cy="342900"/>
          </a:xfrm>
          <a:prstGeom prst="roundRect">
            <a:avLst>
              <a:gd name="adj" fmla="val 22222"/>
            </a:avLst>
          </a:prstGeom>
          <a:solidFill>
            <a:srgbClr val="DDF7E9"/>
          </a:solidFill>
          <a:ln w="9525">
            <a:solidFill>
              <a:srgbClr val="2EAD66"/>
            </a:solidFill>
            <a:prstDash val="solid"/>
          </a:ln>
        </p:spPr>
        <p:txBody>
          <a:bodyPr/>
          <a:lstStyle/>
          <a:p>
            <a:endParaRPr lang="zh-CN" altLang="en-US" dirty="0"/>
          </a:p>
        </p:txBody>
      </p:sp>
      <p:sp>
        <p:nvSpPr>
          <p:cNvPr id="19" name="矩形 18"/>
          <p:cNvSpPr/>
          <p:nvPr/>
        </p:nvSpPr>
        <p:spPr>
          <a:xfrm>
            <a:off x="875135" y="2265755"/>
            <a:ext cx="1600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12355B"/>
                </a:solidFill>
                <a:latin typeface="Aptos"/>
                <a:ea typeface="Aptos"/>
                <a:cs typeface="Aptos"/>
              </a:defRPr>
            </a:pPr>
            <a:r>
              <a:rPr sz="1050" b="1" dirty="0">
                <a:solidFill>
                  <a:srgbClr val="12355B"/>
                </a:solidFill>
                <a:latin typeface="Aptos"/>
                <a:ea typeface="Aptos"/>
                <a:cs typeface="Aptos"/>
              </a:rPr>
              <a:t>Partitions</a:t>
            </a:r>
            <a:endParaRPr sz="1050" b="1" dirty="0">
              <a:solidFill>
                <a:srgbClr val="12355B"/>
              </a:solidFill>
              <a:latin typeface="Aptos"/>
              <a:ea typeface="Aptos"/>
              <a:cs typeface="Aptos"/>
            </a:endParaRPr>
          </a:p>
        </p:txBody>
      </p:sp>
      <p:sp>
        <p:nvSpPr>
          <p:cNvPr id="20" name="矩形: 圆角 19"/>
          <p:cNvSpPr/>
          <p:nvPr/>
        </p:nvSpPr>
        <p:spPr>
          <a:xfrm>
            <a:off x="3019037" y="2202942"/>
            <a:ext cx="1752600" cy="342900"/>
          </a:xfrm>
          <a:prstGeom prst="roundRect">
            <a:avLst>
              <a:gd name="adj" fmla="val 22222"/>
            </a:avLst>
          </a:prstGeom>
          <a:solidFill>
            <a:srgbClr val="D9EAFE"/>
          </a:solidFill>
          <a:ln w="9525">
            <a:solidFill>
              <a:srgbClr val="1F6FEB"/>
            </a:solidFill>
            <a:prstDash val="solid"/>
          </a:ln>
        </p:spPr>
      </p:sp>
      <p:sp>
        <p:nvSpPr>
          <p:cNvPr id="21" name="矩形 20"/>
          <p:cNvSpPr/>
          <p:nvPr/>
        </p:nvSpPr>
        <p:spPr>
          <a:xfrm>
            <a:off x="3156179" y="2281131"/>
            <a:ext cx="1253314" cy="235948"/>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12355B"/>
                </a:solidFill>
                <a:latin typeface="Aptos"/>
                <a:ea typeface="Aptos"/>
                <a:cs typeface="Aptos"/>
              </a:defRPr>
            </a:pPr>
            <a:r>
              <a:rPr sz="1050" b="1" dirty="0">
                <a:solidFill>
                  <a:srgbClr val="12355B"/>
                </a:solidFill>
                <a:latin typeface="Aptos"/>
                <a:ea typeface="Aptos"/>
                <a:cs typeface="Aptos"/>
              </a:rPr>
              <a:t>Covers</a:t>
            </a:r>
            <a:endParaRPr sz="1050" b="1" dirty="0">
              <a:solidFill>
                <a:srgbClr val="12355B"/>
              </a:solidFill>
              <a:latin typeface="Aptos"/>
              <a:ea typeface="Aptos"/>
              <a:cs typeface="Aptos"/>
            </a:endParaRPr>
          </a:p>
        </p:txBody>
      </p:sp>
      <p:sp>
        <p:nvSpPr>
          <p:cNvPr id="23" name="矩形: 圆角 22"/>
          <p:cNvSpPr/>
          <p:nvPr/>
        </p:nvSpPr>
        <p:spPr>
          <a:xfrm>
            <a:off x="6191250" y="1200150"/>
            <a:ext cx="2209800" cy="876300"/>
          </a:xfrm>
          <a:prstGeom prst="roundRect">
            <a:avLst>
              <a:gd name="adj" fmla="val 5195"/>
            </a:avLst>
          </a:prstGeom>
          <a:solidFill>
            <a:srgbClr val="D9EAFE"/>
          </a:solidFill>
          <a:ln w="9525">
            <a:solidFill>
              <a:srgbClr val="1F6FEB"/>
            </a:solidFill>
            <a:prstDash val="solid"/>
          </a:ln>
        </p:spPr>
        <p:txBody>
          <a:bodyPr/>
          <a:lstStyle/>
          <a:p>
            <a:endParaRPr lang="zh-CN" altLang="en-US" dirty="0"/>
          </a:p>
        </p:txBody>
      </p:sp>
      <p:pic>
        <p:nvPicPr>
          <p:cNvPr id="24" name="图形 23"/>
          <p:cNvPicPr>
            <a:picLocks noChangeAspect="1"/>
          </p:cNvPicPr>
          <p:nvPr/>
        </p:nvPicPr>
        <p:blipFill>
          <a:blip/>
          <a:stretch>
            <a:fillRect/>
          </a:stretch>
        </p:blipFill>
        <p:spPr>
          <a:xfrm>
            <a:off x="6362700" y="1362075"/>
            <a:ext cx="285750" cy="285750"/>
          </a:xfrm>
          <a:prstGeom prst="rect">
            <a:avLst/>
          </a:prstGeom>
        </p:spPr>
      </p:pic>
      <p:sp>
        <p:nvSpPr>
          <p:cNvPr id="25" name="矩形 24"/>
          <p:cNvSpPr/>
          <p:nvPr/>
        </p:nvSpPr>
        <p:spPr>
          <a:xfrm>
            <a:off x="6743700" y="1333500"/>
            <a:ext cx="15049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2355B"/>
                </a:solidFill>
                <a:latin typeface="Aptos"/>
                <a:ea typeface="Aptos"/>
                <a:cs typeface="Aptos"/>
              </a:defRPr>
            </a:pPr>
            <a:r>
              <a:rPr sz="1350" b="1">
                <a:solidFill>
                  <a:srgbClr val="12355B"/>
                </a:solidFill>
                <a:latin typeface="Aptos"/>
                <a:ea typeface="Aptos"/>
                <a:cs typeface="Aptos"/>
              </a:rPr>
              <a:t>Reduce mass</a:t>
            </a:r>
            <a:endParaRPr sz="1350" b="1">
              <a:solidFill>
                <a:srgbClr val="12355B"/>
              </a:solidFill>
              <a:latin typeface="Aptos"/>
              <a:ea typeface="Aptos"/>
              <a:cs typeface="Aptos"/>
            </a:endParaRPr>
          </a:p>
        </p:txBody>
      </p:sp>
      <p:sp>
        <p:nvSpPr>
          <p:cNvPr id="26" name="矩形 25"/>
          <p:cNvSpPr/>
          <p:nvPr/>
        </p:nvSpPr>
        <p:spPr>
          <a:xfrm>
            <a:off x="6362700" y="1695450"/>
            <a:ext cx="18669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5F6B7A"/>
                </a:solidFill>
                <a:latin typeface="Aptos"/>
                <a:ea typeface="Aptos"/>
                <a:cs typeface="Aptos"/>
              </a:defRPr>
            </a:pPr>
            <a:r>
              <a:rPr sz="1350" b="0">
                <a:solidFill>
                  <a:srgbClr val="5F6B7A"/>
                </a:solidFill>
                <a:latin typeface="Aptos"/>
                <a:ea typeface="Aptos"/>
                <a:cs typeface="Aptos"/>
              </a:rPr>
              <a:t>Less material weight</a:t>
            </a:r>
            <a:endParaRPr sz="1350" b="0">
              <a:solidFill>
                <a:srgbClr val="5F6B7A"/>
              </a:solidFill>
              <a:latin typeface="Aptos"/>
              <a:ea typeface="Aptos"/>
              <a:cs typeface="Aptos"/>
            </a:endParaRPr>
          </a:p>
        </p:txBody>
      </p:sp>
      <p:sp>
        <p:nvSpPr>
          <p:cNvPr id="27" name="矩形: 圆角 26"/>
          <p:cNvSpPr/>
          <p:nvPr/>
        </p:nvSpPr>
        <p:spPr>
          <a:xfrm>
            <a:off x="8705850" y="1200150"/>
            <a:ext cx="2209800" cy="866775"/>
          </a:xfrm>
          <a:prstGeom prst="roundRect">
            <a:avLst>
              <a:gd name="adj" fmla="val 5195"/>
            </a:avLst>
          </a:prstGeom>
          <a:solidFill>
            <a:srgbClr val="D9EAFE"/>
          </a:solidFill>
          <a:ln w="9525">
            <a:solidFill>
              <a:srgbClr val="1F6FEB"/>
            </a:solidFill>
            <a:prstDash val="solid"/>
          </a:ln>
        </p:spPr>
      </p:sp>
      <p:pic>
        <p:nvPicPr>
          <p:cNvPr id="28" name="图形 27"/>
          <p:cNvPicPr>
            <a:picLocks noChangeAspect="1"/>
          </p:cNvPicPr>
          <p:nvPr/>
        </p:nvPicPr>
        <p:blipFill>
          <a:blip/>
          <a:stretch>
            <a:fillRect/>
          </a:stretch>
        </p:blipFill>
        <p:spPr>
          <a:xfrm>
            <a:off x="8877300" y="1362075"/>
            <a:ext cx="285750" cy="285750"/>
          </a:xfrm>
          <a:prstGeom prst="rect">
            <a:avLst/>
          </a:prstGeom>
        </p:spPr>
      </p:pic>
      <p:sp>
        <p:nvSpPr>
          <p:cNvPr id="29" name="矩形 28"/>
          <p:cNvSpPr/>
          <p:nvPr/>
        </p:nvSpPr>
        <p:spPr>
          <a:xfrm>
            <a:off x="9258300" y="1333500"/>
            <a:ext cx="15049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2355B"/>
                </a:solidFill>
                <a:latin typeface="Aptos"/>
                <a:ea typeface="Aptos"/>
                <a:cs typeface="Aptos"/>
              </a:defRPr>
            </a:pPr>
            <a:r>
              <a:rPr sz="1350" b="1">
                <a:solidFill>
                  <a:srgbClr val="12355B"/>
                </a:solidFill>
                <a:latin typeface="Aptos"/>
                <a:ea typeface="Aptos"/>
                <a:cs typeface="Aptos"/>
              </a:rPr>
              <a:t>Lower energy</a:t>
            </a:r>
            <a:endParaRPr sz="1350" b="1">
              <a:solidFill>
                <a:srgbClr val="12355B"/>
              </a:solidFill>
              <a:latin typeface="Aptos"/>
              <a:ea typeface="Aptos"/>
              <a:cs typeface="Aptos"/>
            </a:endParaRPr>
          </a:p>
        </p:txBody>
      </p:sp>
      <p:sp>
        <p:nvSpPr>
          <p:cNvPr id="30" name="矩形 29"/>
          <p:cNvSpPr/>
          <p:nvPr/>
        </p:nvSpPr>
        <p:spPr>
          <a:xfrm>
            <a:off x="8877300" y="1695450"/>
            <a:ext cx="18669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5F6B7A"/>
                </a:solidFill>
                <a:latin typeface="Aptos"/>
                <a:ea typeface="Aptos"/>
                <a:cs typeface="Aptos"/>
              </a:defRPr>
            </a:pPr>
            <a:r>
              <a:rPr sz="1350" b="0">
                <a:solidFill>
                  <a:srgbClr val="5F6B7A"/>
                </a:solidFill>
                <a:latin typeface="Aptos"/>
                <a:ea typeface="Aptos"/>
                <a:cs typeface="Aptos"/>
              </a:rPr>
              <a:t>Less energy demand</a:t>
            </a:r>
            <a:endParaRPr sz="1350" b="0">
              <a:solidFill>
                <a:srgbClr val="5F6B7A"/>
              </a:solidFill>
              <a:latin typeface="Aptos"/>
              <a:ea typeface="Aptos"/>
              <a:cs typeface="Aptos"/>
            </a:endParaRPr>
          </a:p>
        </p:txBody>
      </p:sp>
      <p:sp>
        <p:nvSpPr>
          <p:cNvPr id="31" name="矩形: 圆角 30"/>
          <p:cNvSpPr/>
          <p:nvPr/>
        </p:nvSpPr>
        <p:spPr>
          <a:xfrm>
            <a:off x="6191250" y="2209800"/>
            <a:ext cx="2209800" cy="819150"/>
          </a:xfrm>
          <a:prstGeom prst="roundRect">
            <a:avLst>
              <a:gd name="adj" fmla="val 5195"/>
            </a:avLst>
          </a:prstGeom>
          <a:solidFill>
            <a:srgbClr val="DDF7E9"/>
          </a:solidFill>
          <a:ln w="9525">
            <a:solidFill>
              <a:srgbClr val="2EAD66"/>
            </a:solidFill>
            <a:prstDash val="solid"/>
          </a:ln>
        </p:spPr>
      </p:sp>
      <p:pic>
        <p:nvPicPr>
          <p:cNvPr id="32" name="图形 31"/>
          <p:cNvPicPr>
            <a:picLocks noChangeAspect="1"/>
          </p:cNvPicPr>
          <p:nvPr/>
        </p:nvPicPr>
        <p:blipFill>
          <a:blip/>
          <a:stretch>
            <a:fillRect/>
          </a:stretch>
        </p:blipFill>
        <p:spPr>
          <a:xfrm>
            <a:off x="6357549" y="2362200"/>
            <a:ext cx="285750" cy="285750"/>
          </a:xfrm>
          <a:prstGeom prst="rect">
            <a:avLst/>
          </a:prstGeom>
        </p:spPr>
      </p:pic>
      <p:sp>
        <p:nvSpPr>
          <p:cNvPr id="33" name="矩形 32"/>
          <p:cNvSpPr/>
          <p:nvPr/>
        </p:nvSpPr>
        <p:spPr>
          <a:xfrm>
            <a:off x="6743700" y="2354151"/>
            <a:ext cx="15049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2355B"/>
                </a:solidFill>
                <a:latin typeface="Aptos"/>
                <a:ea typeface="Aptos"/>
                <a:cs typeface="Aptos"/>
              </a:defRPr>
            </a:pPr>
            <a:r>
              <a:rPr sz="1350" b="1" dirty="0">
                <a:solidFill>
                  <a:srgbClr val="12355B"/>
                </a:solidFill>
                <a:latin typeface="Aptos"/>
                <a:ea typeface="Aptos"/>
                <a:cs typeface="Aptos"/>
              </a:rPr>
              <a:t>Recycle value</a:t>
            </a:r>
            <a:endParaRPr sz="1350" b="1" dirty="0">
              <a:solidFill>
                <a:srgbClr val="12355B"/>
              </a:solidFill>
              <a:latin typeface="Aptos"/>
              <a:ea typeface="Aptos"/>
              <a:cs typeface="Aptos"/>
            </a:endParaRPr>
          </a:p>
        </p:txBody>
      </p:sp>
      <p:sp>
        <p:nvSpPr>
          <p:cNvPr id="34" name="矩形 33"/>
          <p:cNvSpPr/>
          <p:nvPr/>
        </p:nvSpPr>
        <p:spPr>
          <a:xfrm>
            <a:off x="6362700" y="2714625"/>
            <a:ext cx="186690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5F6B7A"/>
                </a:solidFill>
                <a:latin typeface="Aptos"/>
                <a:ea typeface="Aptos"/>
                <a:cs typeface="Aptos"/>
              </a:defRPr>
            </a:pPr>
            <a:r>
              <a:rPr sz="1350" b="0">
                <a:solidFill>
                  <a:srgbClr val="5F6B7A"/>
                </a:solidFill>
                <a:latin typeface="Aptos"/>
                <a:ea typeface="Aptos"/>
                <a:cs typeface="Aptos"/>
              </a:rPr>
              <a:t>Circular material use</a:t>
            </a:r>
            <a:endParaRPr sz="1350" b="0">
              <a:solidFill>
                <a:srgbClr val="5F6B7A"/>
              </a:solidFill>
              <a:latin typeface="Aptos"/>
              <a:ea typeface="Aptos"/>
              <a:cs typeface="Aptos"/>
            </a:endParaRPr>
          </a:p>
        </p:txBody>
      </p:sp>
      <p:sp>
        <p:nvSpPr>
          <p:cNvPr id="35" name="矩形: 圆角 34"/>
          <p:cNvSpPr/>
          <p:nvPr/>
        </p:nvSpPr>
        <p:spPr>
          <a:xfrm>
            <a:off x="8705850" y="2181225"/>
            <a:ext cx="2209800" cy="866775"/>
          </a:xfrm>
          <a:prstGeom prst="roundRect">
            <a:avLst>
              <a:gd name="adj" fmla="val 5195"/>
            </a:avLst>
          </a:prstGeom>
          <a:solidFill>
            <a:srgbClr val="DDF7E9"/>
          </a:solidFill>
          <a:ln w="9525">
            <a:solidFill>
              <a:srgbClr val="2EAD66"/>
            </a:solidFill>
            <a:prstDash val="solid"/>
          </a:ln>
        </p:spPr>
      </p:sp>
      <p:pic>
        <p:nvPicPr>
          <p:cNvPr id="36" name="图形 35"/>
          <p:cNvPicPr>
            <a:picLocks noChangeAspect="1"/>
          </p:cNvPicPr>
          <p:nvPr/>
        </p:nvPicPr>
        <p:blipFill>
          <a:blip/>
          <a:stretch>
            <a:fillRect/>
          </a:stretch>
        </p:blipFill>
        <p:spPr>
          <a:xfrm>
            <a:off x="8839200" y="2399105"/>
            <a:ext cx="285750" cy="285750"/>
          </a:xfrm>
          <a:prstGeom prst="rect">
            <a:avLst/>
          </a:prstGeom>
        </p:spPr>
      </p:pic>
      <p:sp>
        <p:nvSpPr>
          <p:cNvPr id="37" name="矩形 36"/>
          <p:cNvSpPr/>
          <p:nvPr/>
        </p:nvSpPr>
        <p:spPr>
          <a:xfrm>
            <a:off x="9283387" y="2352675"/>
            <a:ext cx="15049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2355B"/>
                </a:solidFill>
                <a:latin typeface="Aptos"/>
                <a:ea typeface="Aptos"/>
                <a:cs typeface="Aptos"/>
              </a:defRPr>
            </a:pPr>
            <a:r>
              <a:rPr sz="1350" b="1">
                <a:solidFill>
                  <a:srgbClr val="12355B"/>
                </a:solidFill>
                <a:latin typeface="Aptos"/>
                <a:ea typeface="Aptos"/>
                <a:cs typeface="Aptos"/>
              </a:rPr>
              <a:t>Lower risk</a:t>
            </a:r>
            <a:endParaRPr sz="1350" b="1">
              <a:solidFill>
                <a:srgbClr val="12355B"/>
              </a:solidFill>
              <a:latin typeface="Aptos"/>
              <a:ea typeface="Aptos"/>
              <a:cs typeface="Aptos"/>
            </a:endParaRPr>
          </a:p>
        </p:txBody>
      </p:sp>
      <p:sp>
        <p:nvSpPr>
          <p:cNvPr id="38" name="矩形 37"/>
          <p:cNvSpPr/>
          <p:nvPr/>
        </p:nvSpPr>
        <p:spPr>
          <a:xfrm>
            <a:off x="8839200" y="2743200"/>
            <a:ext cx="18669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5F6B7A"/>
                </a:solidFill>
                <a:latin typeface="Aptos"/>
                <a:ea typeface="Aptos"/>
                <a:cs typeface="Aptos"/>
              </a:defRPr>
            </a:pPr>
            <a:r>
              <a:rPr sz="1350" b="0" dirty="0">
                <a:solidFill>
                  <a:srgbClr val="5F6B7A"/>
                </a:solidFill>
                <a:latin typeface="Aptos"/>
                <a:ea typeface="Aptos"/>
                <a:cs typeface="Aptos"/>
              </a:rPr>
              <a:t>Test selected parts first</a:t>
            </a:r>
            <a:endParaRPr sz="1350" b="0" dirty="0">
              <a:solidFill>
                <a:srgbClr val="5F6B7A"/>
              </a:solidFill>
              <a:latin typeface="Aptos"/>
              <a:ea typeface="Aptos"/>
              <a:cs typeface="Aptos"/>
            </a:endParaRPr>
          </a:p>
        </p:txBody>
      </p:sp>
      <p:sp>
        <p:nvSpPr>
          <p:cNvPr id="39" name="矩形 38"/>
          <p:cNvSpPr/>
          <p:nvPr/>
        </p:nvSpPr>
        <p:spPr>
          <a:xfrm>
            <a:off x="8705850" y="4118236"/>
            <a:ext cx="2559456" cy="793228"/>
          </a:xfrm>
          <a:prstGeom prst="rect">
            <a:avLst/>
          </a:prstGeom>
          <a:solidFill>
            <a:srgbClr val="000000">
              <a:alpha val="0"/>
            </a:srgbClr>
          </a:solidFill>
          <a:ln w="0">
            <a:solidFill>
              <a:srgbClr val="000000">
                <a:alpha val="0"/>
              </a:srgbClr>
            </a:solidFill>
            <a:prstDash val="solid"/>
          </a:ln>
        </p:spPr>
        <p:txBody>
          <a:bodyPr lIns="95250" tIns="76200" rIns="95250" bIns="76200" anchor="t"/>
          <a:lstStyle/>
          <a:p>
            <a:pPr algn="ctr">
              <a:defRPr sz="1800" b="1">
                <a:solidFill>
                  <a:srgbClr val="12355B"/>
                </a:solidFill>
                <a:latin typeface="Aptos"/>
                <a:ea typeface="Aptos"/>
                <a:cs typeface="Aptos"/>
              </a:defRPr>
            </a:pPr>
            <a:r>
              <a:rPr sz="1800" b="1" dirty="0">
                <a:solidFill>
                  <a:srgbClr val="12355B"/>
                </a:solidFill>
                <a:latin typeface="Aptos"/>
                <a:ea typeface="Aptos"/>
                <a:cs typeface="Aptos"/>
              </a:rPr>
              <a:t>Lighter carriage -&gt; lower operating energy</a:t>
            </a:r>
            <a:endParaRPr sz="1800" b="1" dirty="0">
              <a:solidFill>
                <a:srgbClr val="12355B"/>
              </a:solidFill>
              <a:latin typeface="Aptos"/>
              <a:ea typeface="Aptos"/>
              <a:cs typeface="Aptos"/>
            </a:endParaRPr>
          </a:p>
        </p:txBody>
      </p:sp>
      <p:pic>
        <p:nvPicPr>
          <p:cNvPr id="46" name="图片 45"/>
          <p:cNvPicPr>
            <a:picLocks noChangeAspect="1"/>
          </p:cNvPicPr>
          <p:nvPr/>
        </p:nvPicPr>
        <p:blipFill>
          <a:blip r:embed="rId1"/>
          <a:stretch>
            <a:fillRect/>
          </a:stretch>
        </p:blipFill>
        <p:spPr>
          <a:xfrm>
            <a:off x="47572" y="3078654"/>
            <a:ext cx="8382000" cy="3826971"/>
          </a:xfrm>
          <a:prstGeom prst="rect">
            <a:avLst/>
          </a:prstGeom>
        </p:spPr>
      </p:pic>
      <p:pic>
        <p:nvPicPr>
          <p:cNvPr id="41" name="图片 4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9572" y="3086100"/>
            <a:ext cx="3714856" cy="37719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矩形 47"/>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dirty="0"/>
          </a:p>
        </p:txBody>
      </p:sp>
      <p:sp>
        <p:nvSpPr>
          <p:cNvPr id="2" name="矩形 1"/>
          <p:cNvSpPr/>
          <p:nvPr/>
        </p:nvSpPr>
        <p:spPr>
          <a:xfrm>
            <a:off x="0" y="0"/>
            <a:ext cx="12192000" cy="85725"/>
          </a:xfrm>
          <a:prstGeom prst="rect">
            <a:avLst/>
          </a:prstGeom>
          <a:solidFill>
            <a:srgbClr val="1F6FEB"/>
          </a:solidFill>
          <a:ln w="0">
            <a:solidFill>
              <a:srgbClr val="000000">
                <a:alpha val="0"/>
              </a:srgbClr>
            </a:solidFill>
            <a:prstDash val="solid"/>
          </a:ln>
        </p:spPr>
      </p:sp>
      <p:sp>
        <p:nvSpPr>
          <p:cNvPr id="3" name="矩形 2"/>
          <p:cNvSpPr/>
          <p:nvPr/>
        </p:nvSpPr>
        <p:spPr>
          <a:xfrm>
            <a:off x="0" y="85725"/>
            <a:ext cx="3429000" cy="47625"/>
          </a:xfrm>
          <a:prstGeom prst="rect">
            <a:avLst/>
          </a:prstGeom>
          <a:solidFill>
            <a:srgbClr val="2EAD66"/>
          </a:solidFill>
          <a:ln w="0">
            <a:solidFill>
              <a:srgbClr val="000000">
                <a:alpha val="0"/>
              </a:srgbClr>
            </a:solidFill>
            <a:prstDash val="solid"/>
          </a:ln>
        </p:spPr>
      </p:sp>
      <p:sp>
        <p:nvSpPr>
          <p:cNvPr id="4" name="矩形 3"/>
          <p:cNvSpPr/>
          <p:nvPr/>
        </p:nvSpPr>
        <p:spPr>
          <a:xfrm>
            <a:off x="514350" y="323850"/>
            <a:ext cx="86677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12355B"/>
                </a:solidFill>
                <a:latin typeface="Aptos Display"/>
                <a:ea typeface="Aptos Display"/>
                <a:cs typeface="Aptos Display"/>
              </a:defRPr>
            </a:pPr>
            <a:r>
              <a:rPr sz="2325" b="1">
                <a:solidFill>
                  <a:srgbClr val="12355B"/>
                </a:solidFill>
                <a:latin typeface="Aptos Display"/>
                <a:ea typeface="Aptos Display"/>
                <a:cs typeface="Aptos Display"/>
              </a:rPr>
              <a:t>Why We Chose This Solution</a:t>
            </a:r>
            <a:endParaRPr sz="2325" b="1">
              <a:solidFill>
                <a:srgbClr val="12355B"/>
              </a:solidFill>
              <a:latin typeface="Aptos Display"/>
              <a:ea typeface="Aptos Display"/>
              <a:cs typeface="Aptos Display"/>
            </a:endParaRPr>
          </a:p>
        </p:txBody>
      </p:sp>
      <p:sp>
        <p:nvSpPr>
          <p:cNvPr id="5" name="矩形 4"/>
          <p:cNvSpPr/>
          <p:nvPr/>
        </p:nvSpPr>
        <p:spPr>
          <a:xfrm>
            <a:off x="533400" y="762000"/>
            <a:ext cx="8382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F6B7A"/>
                </a:solidFill>
                <a:latin typeface="Aptos"/>
                <a:ea typeface="Aptos"/>
                <a:cs typeface="Aptos"/>
              </a:defRPr>
            </a:pPr>
            <a:r>
              <a:rPr sz="1200" b="0">
                <a:solidFill>
                  <a:srgbClr val="5F6B7A"/>
                </a:solidFill>
                <a:latin typeface="Aptos"/>
                <a:ea typeface="Aptos"/>
                <a:cs typeface="Aptos"/>
              </a:rPr>
              <a:t>The selected option performs strongly across sustainability, efficiency, feasibility, and risk control.</a:t>
            </a:r>
            <a:endParaRPr sz="1200" b="0">
              <a:solidFill>
                <a:srgbClr val="5F6B7A"/>
              </a:solidFill>
              <a:latin typeface="Aptos"/>
              <a:ea typeface="Aptos"/>
              <a:cs typeface="Aptos"/>
            </a:endParaRPr>
          </a:p>
        </p:txBody>
      </p:sp>
      <p:sp>
        <p:nvSpPr>
          <p:cNvPr id="6" name="矩形 5"/>
          <p:cNvSpPr/>
          <p:nvPr/>
        </p:nvSpPr>
        <p:spPr>
          <a:xfrm>
            <a:off x="11106150" y="3619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F6B7A"/>
                </a:solidFill>
                <a:latin typeface="Aptos"/>
                <a:ea typeface="Aptos"/>
                <a:cs typeface="Aptos"/>
              </a:defRPr>
            </a:pPr>
            <a:r>
              <a:rPr lang="en-US" sz="1050" b="0">
                <a:solidFill>
                  <a:srgbClr val="5F6B7A"/>
                </a:solidFill>
                <a:latin typeface="Aptos"/>
                <a:ea typeface="Aptos"/>
                <a:cs typeface="Aptos"/>
              </a:rPr>
              <a:t>06</a:t>
            </a:r>
            <a:endParaRPr lang="en-US" sz="1050" b="0">
              <a:solidFill>
                <a:srgbClr val="5F6B7A"/>
              </a:solidFill>
              <a:latin typeface="Aptos"/>
              <a:ea typeface="Aptos"/>
              <a:cs typeface="Aptos"/>
            </a:endParaRPr>
          </a:p>
        </p:txBody>
      </p:sp>
      <p:sp>
        <p:nvSpPr>
          <p:cNvPr id="7" name="矩形: 圆角 6"/>
          <p:cNvSpPr/>
          <p:nvPr/>
        </p:nvSpPr>
        <p:spPr>
          <a:xfrm>
            <a:off x="9191625" y="361950"/>
            <a:ext cx="1619250" cy="266700"/>
          </a:xfrm>
          <a:prstGeom prst="roundRect">
            <a:avLst>
              <a:gd name="adj" fmla="val 28571"/>
            </a:avLst>
          </a:prstGeom>
          <a:solidFill>
            <a:srgbClr val="F6F8FB"/>
          </a:solidFill>
          <a:ln w="9525">
            <a:solidFill>
              <a:srgbClr val="C9D4E2"/>
            </a:solidFill>
            <a:prstDash val="solid"/>
          </a:ln>
        </p:spPr>
      </p:sp>
      <p:sp>
        <p:nvSpPr>
          <p:cNvPr id="8" name="矩形 7"/>
          <p:cNvSpPr/>
          <p:nvPr/>
        </p:nvSpPr>
        <p:spPr>
          <a:xfrm>
            <a:off x="9296400" y="428625"/>
            <a:ext cx="1409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90" b="1">
                <a:solidFill>
                  <a:srgbClr val="12355B"/>
                </a:solidFill>
                <a:latin typeface="Aptos"/>
                <a:ea typeface="Aptos"/>
                <a:cs typeface="Aptos"/>
              </a:defRPr>
            </a:pPr>
            <a:r>
              <a:rPr sz="790" b="1" dirty="0">
                <a:solidFill>
                  <a:srgbClr val="12355B"/>
                </a:solidFill>
                <a:latin typeface="Aptos"/>
                <a:ea typeface="Aptos"/>
                <a:cs typeface="Aptos"/>
              </a:rPr>
              <a:t>Presenter: </a:t>
            </a:r>
            <a:r>
              <a:rPr lang="en-US" sz="790" b="1" dirty="0">
                <a:solidFill>
                  <a:srgbClr val="12355B"/>
                </a:solidFill>
                <a:latin typeface="Aptos"/>
                <a:ea typeface="Aptos"/>
                <a:cs typeface="Aptos"/>
              </a:rPr>
              <a:t>Dang JiaYin</a:t>
            </a:r>
            <a:endParaRPr lang="en-US" sz="790" b="1" dirty="0">
              <a:solidFill>
                <a:srgbClr val="12355B"/>
              </a:solidFill>
              <a:latin typeface="Aptos"/>
              <a:ea typeface="Aptos"/>
              <a:cs typeface="Aptos"/>
            </a:endParaRPr>
          </a:p>
        </p:txBody>
      </p:sp>
      <p:sp>
        <p:nvSpPr>
          <p:cNvPr id="9" name="矩形: 圆角 8"/>
          <p:cNvSpPr/>
          <p:nvPr/>
        </p:nvSpPr>
        <p:spPr>
          <a:xfrm>
            <a:off x="876300" y="1257300"/>
            <a:ext cx="6191250" cy="4038600"/>
          </a:xfrm>
          <a:prstGeom prst="roundRect">
            <a:avLst>
              <a:gd name="adj" fmla="val 1887"/>
            </a:avLst>
          </a:prstGeom>
          <a:solidFill>
            <a:srgbClr val="F6F8FB"/>
          </a:solidFill>
          <a:ln w="9525">
            <a:solidFill>
              <a:srgbClr val="C9D4E2"/>
            </a:solidFill>
            <a:prstDash val="solid"/>
          </a:ln>
        </p:spPr>
      </p:sp>
      <p:sp>
        <p:nvSpPr>
          <p:cNvPr id="10" name="矩形 9"/>
          <p:cNvSpPr/>
          <p:nvPr/>
        </p:nvSpPr>
        <p:spPr>
          <a:xfrm>
            <a:off x="1123950" y="1466850"/>
            <a:ext cx="30480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12355B"/>
                </a:solidFill>
                <a:latin typeface="Aptos"/>
                <a:ea typeface="Aptos"/>
                <a:cs typeface="Aptos"/>
              </a:defRPr>
            </a:pPr>
            <a:r>
              <a:rPr sz="1725" b="1">
                <a:solidFill>
                  <a:srgbClr val="12355B"/>
                </a:solidFill>
                <a:latin typeface="Aptos"/>
                <a:ea typeface="Aptos"/>
                <a:cs typeface="Aptos"/>
              </a:rPr>
              <a:t>Decision ranking</a:t>
            </a:r>
            <a:endParaRPr sz="1725" b="1">
              <a:solidFill>
                <a:srgbClr val="12355B"/>
              </a:solidFill>
              <a:latin typeface="Aptos"/>
              <a:ea typeface="Aptos"/>
              <a:cs typeface="Aptos"/>
            </a:endParaRPr>
          </a:p>
        </p:txBody>
      </p:sp>
      <p:sp>
        <p:nvSpPr>
          <p:cNvPr id="11" name="矩形 10"/>
          <p:cNvSpPr/>
          <p:nvPr/>
        </p:nvSpPr>
        <p:spPr>
          <a:xfrm>
            <a:off x="1123950" y="2000250"/>
            <a:ext cx="2190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5" b="0">
                <a:solidFill>
                  <a:srgbClr val="172033"/>
                </a:solidFill>
                <a:latin typeface="Aptos"/>
                <a:ea typeface="Aptos"/>
                <a:cs typeface="Aptos"/>
              </a:defRPr>
            </a:pPr>
            <a:r>
              <a:rPr sz="1165" b="0">
                <a:solidFill>
                  <a:srgbClr val="172033"/>
                </a:solidFill>
                <a:latin typeface="Aptos"/>
                <a:ea typeface="Aptos"/>
                <a:cs typeface="Aptos"/>
              </a:rPr>
              <a:t>Sustainability</a:t>
            </a:r>
            <a:endParaRPr sz="1165" b="0">
              <a:solidFill>
                <a:srgbClr val="172033"/>
              </a:solidFill>
              <a:latin typeface="Aptos"/>
              <a:ea typeface="Aptos"/>
              <a:cs typeface="Aptos"/>
            </a:endParaRPr>
          </a:p>
        </p:txBody>
      </p:sp>
      <p:sp>
        <p:nvSpPr>
          <p:cNvPr id="12" name="矩形: 圆角 11"/>
          <p:cNvSpPr/>
          <p:nvPr/>
        </p:nvSpPr>
        <p:spPr>
          <a:xfrm>
            <a:off x="3638550" y="2038350"/>
            <a:ext cx="2238375" cy="152400"/>
          </a:xfrm>
          <a:prstGeom prst="roundRect">
            <a:avLst>
              <a:gd name="adj" fmla="val 50000"/>
            </a:avLst>
          </a:prstGeom>
          <a:solidFill>
            <a:srgbClr val="E6EBF2"/>
          </a:solidFill>
          <a:ln w="0">
            <a:solidFill>
              <a:srgbClr val="000000">
                <a:alpha val="0"/>
              </a:srgbClr>
            </a:solidFill>
            <a:prstDash val="solid"/>
          </a:ln>
        </p:spPr>
      </p:sp>
      <p:sp>
        <p:nvSpPr>
          <p:cNvPr id="13" name="矩形: 圆角 12"/>
          <p:cNvSpPr/>
          <p:nvPr/>
        </p:nvSpPr>
        <p:spPr>
          <a:xfrm>
            <a:off x="3638550" y="2038350"/>
            <a:ext cx="2238375" cy="152400"/>
          </a:xfrm>
          <a:prstGeom prst="roundRect">
            <a:avLst>
              <a:gd name="adj" fmla="val 50000"/>
            </a:avLst>
          </a:prstGeom>
          <a:solidFill>
            <a:srgbClr val="2EAD66"/>
          </a:solidFill>
          <a:ln w="0">
            <a:solidFill>
              <a:srgbClr val="000000">
                <a:alpha val="0"/>
              </a:srgbClr>
            </a:solidFill>
            <a:prstDash val="solid"/>
          </a:ln>
        </p:spPr>
      </p:sp>
      <p:sp>
        <p:nvSpPr>
          <p:cNvPr id="14" name="矩形 13"/>
          <p:cNvSpPr/>
          <p:nvPr/>
        </p:nvSpPr>
        <p:spPr>
          <a:xfrm>
            <a:off x="6019800" y="1990725"/>
            <a:ext cx="514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2EAD66"/>
                </a:solidFill>
                <a:latin typeface="Aptos"/>
                <a:ea typeface="Aptos"/>
                <a:cs typeface="Aptos"/>
              </a:defRPr>
            </a:pPr>
            <a:r>
              <a:rPr sz="1050" b="1">
                <a:solidFill>
                  <a:srgbClr val="2EAD66"/>
                </a:solidFill>
                <a:latin typeface="Aptos"/>
                <a:ea typeface="Aptos"/>
                <a:cs typeface="Aptos"/>
              </a:rPr>
              <a:t>5/5</a:t>
            </a:r>
            <a:endParaRPr sz="1050" b="1">
              <a:solidFill>
                <a:srgbClr val="2EAD66"/>
              </a:solidFill>
              <a:latin typeface="Aptos"/>
              <a:ea typeface="Aptos"/>
              <a:cs typeface="Aptos"/>
            </a:endParaRPr>
          </a:p>
        </p:txBody>
      </p:sp>
      <p:sp>
        <p:nvSpPr>
          <p:cNvPr id="15" name="矩形 14"/>
          <p:cNvSpPr/>
          <p:nvPr/>
        </p:nvSpPr>
        <p:spPr>
          <a:xfrm>
            <a:off x="1123950" y="2419350"/>
            <a:ext cx="2190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5" b="0">
                <a:solidFill>
                  <a:srgbClr val="172033"/>
                </a:solidFill>
                <a:latin typeface="Aptos"/>
                <a:ea typeface="Aptos"/>
                <a:cs typeface="Aptos"/>
              </a:defRPr>
            </a:pPr>
            <a:r>
              <a:rPr sz="1165" b="0">
                <a:solidFill>
                  <a:srgbClr val="172033"/>
                </a:solidFill>
                <a:latin typeface="Aptos"/>
                <a:ea typeface="Aptos"/>
                <a:cs typeface="Aptos"/>
              </a:rPr>
              <a:t>Efficiency</a:t>
            </a:r>
            <a:endParaRPr sz="1165" b="0">
              <a:solidFill>
                <a:srgbClr val="172033"/>
              </a:solidFill>
              <a:latin typeface="Aptos"/>
              <a:ea typeface="Aptos"/>
              <a:cs typeface="Aptos"/>
            </a:endParaRPr>
          </a:p>
        </p:txBody>
      </p:sp>
      <p:sp>
        <p:nvSpPr>
          <p:cNvPr id="16" name="矩形: 圆角 15"/>
          <p:cNvSpPr/>
          <p:nvPr/>
        </p:nvSpPr>
        <p:spPr>
          <a:xfrm>
            <a:off x="3638550" y="2457450"/>
            <a:ext cx="2238375" cy="152400"/>
          </a:xfrm>
          <a:prstGeom prst="roundRect">
            <a:avLst>
              <a:gd name="adj" fmla="val 50000"/>
            </a:avLst>
          </a:prstGeom>
          <a:solidFill>
            <a:srgbClr val="E6EBF2"/>
          </a:solidFill>
          <a:ln w="0">
            <a:solidFill>
              <a:srgbClr val="000000">
                <a:alpha val="0"/>
              </a:srgbClr>
            </a:solidFill>
            <a:prstDash val="solid"/>
          </a:ln>
        </p:spPr>
      </p:sp>
      <p:sp>
        <p:nvSpPr>
          <p:cNvPr id="17" name="矩形: 圆角 16"/>
          <p:cNvSpPr/>
          <p:nvPr/>
        </p:nvSpPr>
        <p:spPr>
          <a:xfrm>
            <a:off x="3638550" y="2457450"/>
            <a:ext cx="2238375" cy="152400"/>
          </a:xfrm>
          <a:prstGeom prst="roundRect">
            <a:avLst>
              <a:gd name="adj" fmla="val 50000"/>
            </a:avLst>
          </a:prstGeom>
          <a:solidFill>
            <a:srgbClr val="1F6FEB"/>
          </a:solidFill>
          <a:ln w="0">
            <a:solidFill>
              <a:srgbClr val="000000">
                <a:alpha val="0"/>
              </a:srgbClr>
            </a:solidFill>
            <a:prstDash val="solid"/>
          </a:ln>
        </p:spPr>
      </p:sp>
      <p:sp>
        <p:nvSpPr>
          <p:cNvPr id="18" name="矩形 17"/>
          <p:cNvSpPr/>
          <p:nvPr/>
        </p:nvSpPr>
        <p:spPr>
          <a:xfrm>
            <a:off x="6019800" y="2409825"/>
            <a:ext cx="514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1F6FEB"/>
                </a:solidFill>
                <a:latin typeface="Aptos"/>
                <a:ea typeface="Aptos"/>
                <a:cs typeface="Aptos"/>
              </a:defRPr>
            </a:pPr>
            <a:r>
              <a:rPr sz="1050" b="1">
                <a:solidFill>
                  <a:srgbClr val="1F6FEB"/>
                </a:solidFill>
                <a:latin typeface="Aptos"/>
                <a:ea typeface="Aptos"/>
                <a:cs typeface="Aptos"/>
              </a:rPr>
              <a:t>5/5</a:t>
            </a:r>
            <a:endParaRPr sz="1050" b="1">
              <a:solidFill>
                <a:srgbClr val="1F6FEB"/>
              </a:solidFill>
              <a:latin typeface="Aptos"/>
              <a:ea typeface="Aptos"/>
              <a:cs typeface="Aptos"/>
            </a:endParaRPr>
          </a:p>
        </p:txBody>
      </p:sp>
      <p:sp>
        <p:nvSpPr>
          <p:cNvPr id="19" name="矩形 18"/>
          <p:cNvSpPr/>
          <p:nvPr/>
        </p:nvSpPr>
        <p:spPr>
          <a:xfrm>
            <a:off x="1123950" y="2838450"/>
            <a:ext cx="2190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5" b="0">
                <a:solidFill>
                  <a:srgbClr val="172033"/>
                </a:solidFill>
                <a:latin typeface="Aptos"/>
                <a:ea typeface="Aptos"/>
                <a:cs typeface="Aptos"/>
              </a:defRPr>
            </a:pPr>
            <a:r>
              <a:rPr sz="1165" b="0">
                <a:solidFill>
                  <a:srgbClr val="172033"/>
                </a:solidFill>
                <a:latin typeface="Aptos"/>
                <a:ea typeface="Aptos"/>
                <a:cs typeface="Aptos"/>
              </a:rPr>
              <a:t>Feasibility</a:t>
            </a:r>
            <a:endParaRPr sz="1165" b="0">
              <a:solidFill>
                <a:srgbClr val="172033"/>
              </a:solidFill>
              <a:latin typeface="Aptos"/>
              <a:ea typeface="Aptos"/>
              <a:cs typeface="Aptos"/>
            </a:endParaRPr>
          </a:p>
        </p:txBody>
      </p:sp>
      <p:sp>
        <p:nvSpPr>
          <p:cNvPr id="20" name="矩形: 圆角 19"/>
          <p:cNvSpPr/>
          <p:nvPr/>
        </p:nvSpPr>
        <p:spPr>
          <a:xfrm>
            <a:off x="3638550" y="2876550"/>
            <a:ext cx="2238375" cy="152400"/>
          </a:xfrm>
          <a:prstGeom prst="roundRect">
            <a:avLst>
              <a:gd name="adj" fmla="val 50000"/>
            </a:avLst>
          </a:prstGeom>
          <a:solidFill>
            <a:srgbClr val="E6EBF2"/>
          </a:solidFill>
          <a:ln w="0">
            <a:solidFill>
              <a:srgbClr val="000000">
                <a:alpha val="0"/>
              </a:srgbClr>
            </a:solidFill>
            <a:prstDash val="solid"/>
          </a:ln>
        </p:spPr>
      </p:sp>
      <p:sp>
        <p:nvSpPr>
          <p:cNvPr id="21" name="矩形: 圆角 20"/>
          <p:cNvSpPr/>
          <p:nvPr/>
        </p:nvSpPr>
        <p:spPr>
          <a:xfrm>
            <a:off x="3638550" y="2876550"/>
            <a:ext cx="1790700" cy="152400"/>
          </a:xfrm>
          <a:prstGeom prst="roundRect">
            <a:avLst>
              <a:gd name="adj" fmla="val 50000"/>
            </a:avLst>
          </a:prstGeom>
          <a:solidFill>
            <a:srgbClr val="1F6FEB"/>
          </a:solidFill>
          <a:ln w="0">
            <a:solidFill>
              <a:srgbClr val="000000">
                <a:alpha val="0"/>
              </a:srgbClr>
            </a:solidFill>
            <a:prstDash val="solid"/>
          </a:ln>
        </p:spPr>
      </p:sp>
      <p:sp>
        <p:nvSpPr>
          <p:cNvPr id="22" name="矩形 21"/>
          <p:cNvSpPr/>
          <p:nvPr/>
        </p:nvSpPr>
        <p:spPr>
          <a:xfrm>
            <a:off x="6019800" y="2828925"/>
            <a:ext cx="514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1F6FEB"/>
                </a:solidFill>
                <a:latin typeface="Aptos"/>
                <a:ea typeface="Aptos"/>
                <a:cs typeface="Aptos"/>
              </a:defRPr>
            </a:pPr>
            <a:r>
              <a:rPr sz="1050" b="1">
                <a:solidFill>
                  <a:srgbClr val="1F6FEB"/>
                </a:solidFill>
                <a:latin typeface="Aptos"/>
                <a:ea typeface="Aptos"/>
                <a:cs typeface="Aptos"/>
              </a:rPr>
              <a:t>4/5</a:t>
            </a:r>
            <a:endParaRPr sz="1050" b="1">
              <a:solidFill>
                <a:srgbClr val="1F6FEB"/>
              </a:solidFill>
              <a:latin typeface="Aptos"/>
              <a:ea typeface="Aptos"/>
              <a:cs typeface="Aptos"/>
            </a:endParaRPr>
          </a:p>
        </p:txBody>
      </p:sp>
      <p:sp>
        <p:nvSpPr>
          <p:cNvPr id="23" name="矩形 22"/>
          <p:cNvSpPr/>
          <p:nvPr/>
        </p:nvSpPr>
        <p:spPr>
          <a:xfrm>
            <a:off x="1123950" y="3257550"/>
            <a:ext cx="2190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5" b="0">
                <a:solidFill>
                  <a:srgbClr val="172033"/>
                </a:solidFill>
                <a:latin typeface="Aptos"/>
                <a:ea typeface="Aptos"/>
                <a:cs typeface="Aptos"/>
              </a:defRPr>
            </a:pPr>
            <a:r>
              <a:rPr sz="1165" b="0">
                <a:solidFill>
                  <a:srgbClr val="172033"/>
                </a:solidFill>
                <a:latin typeface="Aptos"/>
                <a:ea typeface="Aptos"/>
                <a:cs typeface="Aptos"/>
              </a:rPr>
              <a:t>Risk control</a:t>
            </a:r>
            <a:endParaRPr sz="1165" b="0">
              <a:solidFill>
                <a:srgbClr val="172033"/>
              </a:solidFill>
              <a:latin typeface="Aptos"/>
              <a:ea typeface="Aptos"/>
              <a:cs typeface="Aptos"/>
            </a:endParaRPr>
          </a:p>
        </p:txBody>
      </p:sp>
      <p:sp>
        <p:nvSpPr>
          <p:cNvPr id="24" name="矩形: 圆角 23"/>
          <p:cNvSpPr/>
          <p:nvPr/>
        </p:nvSpPr>
        <p:spPr>
          <a:xfrm>
            <a:off x="3638550" y="3295650"/>
            <a:ext cx="2238375" cy="152400"/>
          </a:xfrm>
          <a:prstGeom prst="roundRect">
            <a:avLst>
              <a:gd name="adj" fmla="val 50000"/>
            </a:avLst>
          </a:prstGeom>
          <a:solidFill>
            <a:srgbClr val="E6EBF2"/>
          </a:solidFill>
          <a:ln w="0">
            <a:solidFill>
              <a:srgbClr val="000000">
                <a:alpha val="0"/>
              </a:srgbClr>
            </a:solidFill>
            <a:prstDash val="solid"/>
          </a:ln>
        </p:spPr>
      </p:sp>
      <p:sp>
        <p:nvSpPr>
          <p:cNvPr id="25" name="矩形: 圆角 24"/>
          <p:cNvSpPr/>
          <p:nvPr/>
        </p:nvSpPr>
        <p:spPr>
          <a:xfrm>
            <a:off x="3638550" y="3295650"/>
            <a:ext cx="1790700" cy="152400"/>
          </a:xfrm>
          <a:prstGeom prst="roundRect">
            <a:avLst>
              <a:gd name="adj" fmla="val 50000"/>
            </a:avLst>
          </a:prstGeom>
          <a:solidFill>
            <a:srgbClr val="2EAD66"/>
          </a:solidFill>
          <a:ln w="0">
            <a:solidFill>
              <a:srgbClr val="000000">
                <a:alpha val="0"/>
              </a:srgbClr>
            </a:solidFill>
            <a:prstDash val="solid"/>
          </a:ln>
        </p:spPr>
      </p:sp>
      <p:sp>
        <p:nvSpPr>
          <p:cNvPr id="26" name="矩形 25"/>
          <p:cNvSpPr/>
          <p:nvPr/>
        </p:nvSpPr>
        <p:spPr>
          <a:xfrm>
            <a:off x="6019800" y="3248025"/>
            <a:ext cx="514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2EAD66"/>
                </a:solidFill>
                <a:latin typeface="Aptos"/>
                <a:ea typeface="Aptos"/>
                <a:cs typeface="Aptos"/>
              </a:defRPr>
            </a:pPr>
            <a:r>
              <a:rPr sz="1050" b="1">
                <a:solidFill>
                  <a:srgbClr val="2EAD66"/>
                </a:solidFill>
                <a:latin typeface="Aptos"/>
                <a:ea typeface="Aptos"/>
                <a:cs typeface="Aptos"/>
              </a:rPr>
              <a:t>4/5</a:t>
            </a:r>
            <a:endParaRPr sz="1050" b="1">
              <a:solidFill>
                <a:srgbClr val="2EAD66"/>
              </a:solidFill>
              <a:latin typeface="Aptos"/>
              <a:ea typeface="Aptos"/>
              <a:cs typeface="Aptos"/>
            </a:endParaRPr>
          </a:p>
        </p:txBody>
      </p:sp>
      <p:sp>
        <p:nvSpPr>
          <p:cNvPr id="27" name="矩形 26"/>
          <p:cNvSpPr/>
          <p:nvPr/>
        </p:nvSpPr>
        <p:spPr>
          <a:xfrm>
            <a:off x="1123950" y="3676650"/>
            <a:ext cx="2190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5" b="0">
                <a:solidFill>
                  <a:srgbClr val="172033"/>
                </a:solidFill>
                <a:latin typeface="Aptos"/>
                <a:ea typeface="Aptos"/>
                <a:cs typeface="Aptos"/>
              </a:defRPr>
            </a:pPr>
            <a:r>
              <a:rPr sz="1165" b="0">
                <a:solidFill>
                  <a:srgbClr val="172033"/>
                </a:solidFill>
                <a:latin typeface="Aptos"/>
                <a:ea typeface="Aptos"/>
                <a:cs typeface="Aptos"/>
              </a:rPr>
              <a:t>Implementation ease</a:t>
            </a:r>
            <a:endParaRPr sz="1165" b="0">
              <a:solidFill>
                <a:srgbClr val="172033"/>
              </a:solidFill>
              <a:latin typeface="Aptos"/>
              <a:ea typeface="Aptos"/>
              <a:cs typeface="Aptos"/>
            </a:endParaRPr>
          </a:p>
        </p:txBody>
      </p:sp>
      <p:sp>
        <p:nvSpPr>
          <p:cNvPr id="28" name="矩形: 圆角 27"/>
          <p:cNvSpPr/>
          <p:nvPr/>
        </p:nvSpPr>
        <p:spPr>
          <a:xfrm>
            <a:off x="3638550" y="3714750"/>
            <a:ext cx="2238375" cy="152400"/>
          </a:xfrm>
          <a:prstGeom prst="roundRect">
            <a:avLst>
              <a:gd name="adj" fmla="val 50000"/>
            </a:avLst>
          </a:prstGeom>
          <a:solidFill>
            <a:srgbClr val="E6EBF2"/>
          </a:solidFill>
          <a:ln w="0">
            <a:solidFill>
              <a:srgbClr val="000000">
                <a:alpha val="0"/>
              </a:srgbClr>
            </a:solidFill>
            <a:prstDash val="solid"/>
          </a:ln>
        </p:spPr>
      </p:sp>
      <p:sp>
        <p:nvSpPr>
          <p:cNvPr id="29" name="矩形: 圆角 28"/>
          <p:cNvSpPr/>
          <p:nvPr/>
        </p:nvSpPr>
        <p:spPr>
          <a:xfrm>
            <a:off x="3638550" y="3714750"/>
            <a:ext cx="1790700" cy="152400"/>
          </a:xfrm>
          <a:prstGeom prst="roundRect">
            <a:avLst>
              <a:gd name="adj" fmla="val 50000"/>
            </a:avLst>
          </a:prstGeom>
          <a:solidFill>
            <a:srgbClr val="1F6FEB"/>
          </a:solidFill>
          <a:ln w="0">
            <a:solidFill>
              <a:srgbClr val="000000">
                <a:alpha val="0"/>
              </a:srgbClr>
            </a:solidFill>
            <a:prstDash val="solid"/>
          </a:ln>
        </p:spPr>
      </p:sp>
      <p:sp>
        <p:nvSpPr>
          <p:cNvPr id="30" name="矩形 29"/>
          <p:cNvSpPr/>
          <p:nvPr/>
        </p:nvSpPr>
        <p:spPr>
          <a:xfrm>
            <a:off x="6019800" y="3667125"/>
            <a:ext cx="514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1F6FEB"/>
                </a:solidFill>
                <a:latin typeface="Aptos"/>
                <a:ea typeface="Aptos"/>
                <a:cs typeface="Aptos"/>
              </a:defRPr>
            </a:pPr>
            <a:r>
              <a:rPr sz="1050" b="1">
                <a:solidFill>
                  <a:srgbClr val="1F6FEB"/>
                </a:solidFill>
                <a:latin typeface="Aptos"/>
                <a:ea typeface="Aptos"/>
                <a:cs typeface="Aptos"/>
              </a:rPr>
              <a:t>4/5</a:t>
            </a:r>
            <a:endParaRPr sz="1050" b="1">
              <a:solidFill>
                <a:srgbClr val="1F6FEB"/>
              </a:solidFill>
              <a:latin typeface="Aptos"/>
              <a:ea typeface="Aptos"/>
              <a:cs typeface="Aptos"/>
            </a:endParaRPr>
          </a:p>
        </p:txBody>
      </p:sp>
      <p:sp>
        <p:nvSpPr>
          <p:cNvPr id="31" name="矩形 30"/>
          <p:cNvSpPr/>
          <p:nvPr/>
        </p:nvSpPr>
        <p:spPr>
          <a:xfrm>
            <a:off x="1123950" y="4095750"/>
            <a:ext cx="2190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5" b="0">
                <a:solidFill>
                  <a:srgbClr val="172033"/>
                </a:solidFill>
                <a:latin typeface="Aptos"/>
                <a:ea typeface="Aptos"/>
                <a:cs typeface="Aptos"/>
              </a:defRPr>
            </a:pPr>
            <a:r>
              <a:rPr sz="1165" b="0">
                <a:solidFill>
                  <a:srgbClr val="172033"/>
                </a:solidFill>
                <a:latin typeface="Aptos"/>
                <a:ea typeface="Aptos"/>
                <a:cs typeface="Aptos"/>
              </a:rPr>
              <a:t>Innovation</a:t>
            </a:r>
            <a:endParaRPr sz="1165" b="0">
              <a:solidFill>
                <a:srgbClr val="172033"/>
              </a:solidFill>
              <a:latin typeface="Aptos"/>
              <a:ea typeface="Aptos"/>
              <a:cs typeface="Aptos"/>
            </a:endParaRPr>
          </a:p>
        </p:txBody>
      </p:sp>
      <p:sp>
        <p:nvSpPr>
          <p:cNvPr id="32" name="矩形: 圆角 31"/>
          <p:cNvSpPr/>
          <p:nvPr/>
        </p:nvSpPr>
        <p:spPr>
          <a:xfrm>
            <a:off x="3638550" y="4133850"/>
            <a:ext cx="2238375" cy="152400"/>
          </a:xfrm>
          <a:prstGeom prst="roundRect">
            <a:avLst>
              <a:gd name="adj" fmla="val 50000"/>
            </a:avLst>
          </a:prstGeom>
          <a:solidFill>
            <a:srgbClr val="E6EBF2"/>
          </a:solidFill>
          <a:ln w="0">
            <a:solidFill>
              <a:srgbClr val="000000">
                <a:alpha val="0"/>
              </a:srgbClr>
            </a:solidFill>
            <a:prstDash val="solid"/>
          </a:ln>
        </p:spPr>
      </p:sp>
      <p:sp>
        <p:nvSpPr>
          <p:cNvPr id="33" name="矩形: 圆角 32"/>
          <p:cNvSpPr/>
          <p:nvPr/>
        </p:nvSpPr>
        <p:spPr>
          <a:xfrm>
            <a:off x="3638550" y="4133850"/>
            <a:ext cx="1790700" cy="152400"/>
          </a:xfrm>
          <a:prstGeom prst="roundRect">
            <a:avLst>
              <a:gd name="adj" fmla="val 50000"/>
            </a:avLst>
          </a:prstGeom>
          <a:solidFill>
            <a:srgbClr val="2EAD66"/>
          </a:solidFill>
          <a:ln w="0">
            <a:solidFill>
              <a:srgbClr val="000000">
                <a:alpha val="0"/>
              </a:srgbClr>
            </a:solidFill>
            <a:prstDash val="solid"/>
          </a:ln>
        </p:spPr>
      </p:sp>
      <p:sp>
        <p:nvSpPr>
          <p:cNvPr id="34" name="矩形 33"/>
          <p:cNvSpPr/>
          <p:nvPr/>
        </p:nvSpPr>
        <p:spPr>
          <a:xfrm>
            <a:off x="6019800" y="4086225"/>
            <a:ext cx="514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2EAD66"/>
                </a:solidFill>
                <a:latin typeface="Aptos"/>
                <a:ea typeface="Aptos"/>
                <a:cs typeface="Aptos"/>
              </a:defRPr>
            </a:pPr>
            <a:r>
              <a:rPr sz="1050" b="1">
                <a:solidFill>
                  <a:srgbClr val="2EAD66"/>
                </a:solidFill>
                <a:latin typeface="Aptos"/>
                <a:ea typeface="Aptos"/>
                <a:cs typeface="Aptos"/>
              </a:rPr>
              <a:t>4/5</a:t>
            </a:r>
            <a:endParaRPr sz="1050" b="1">
              <a:solidFill>
                <a:srgbClr val="2EAD66"/>
              </a:solidFill>
              <a:latin typeface="Aptos"/>
              <a:ea typeface="Aptos"/>
              <a:cs typeface="Aptos"/>
            </a:endParaRPr>
          </a:p>
        </p:txBody>
      </p:sp>
      <p:sp>
        <p:nvSpPr>
          <p:cNvPr id="35" name="矩形 34"/>
          <p:cNvSpPr/>
          <p:nvPr/>
        </p:nvSpPr>
        <p:spPr>
          <a:xfrm>
            <a:off x="1123950" y="4514850"/>
            <a:ext cx="2190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5" b="0">
                <a:solidFill>
                  <a:srgbClr val="172033"/>
                </a:solidFill>
                <a:latin typeface="Aptos"/>
                <a:ea typeface="Aptos"/>
                <a:cs typeface="Aptos"/>
              </a:defRPr>
            </a:pPr>
            <a:r>
              <a:rPr sz="1165" b="0">
                <a:solidFill>
                  <a:srgbClr val="172033"/>
                </a:solidFill>
                <a:latin typeface="Aptos"/>
                <a:ea typeface="Aptos"/>
                <a:cs typeface="Aptos"/>
              </a:rPr>
              <a:t>Cost</a:t>
            </a:r>
            <a:endParaRPr sz="1165" b="0">
              <a:solidFill>
                <a:srgbClr val="172033"/>
              </a:solidFill>
              <a:latin typeface="Aptos"/>
              <a:ea typeface="Aptos"/>
              <a:cs typeface="Aptos"/>
            </a:endParaRPr>
          </a:p>
        </p:txBody>
      </p:sp>
      <p:sp>
        <p:nvSpPr>
          <p:cNvPr id="36" name="矩形: 圆角 35"/>
          <p:cNvSpPr/>
          <p:nvPr/>
        </p:nvSpPr>
        <p:spPr>
          <a:xfrm>
            <a:off x="3638550" y="4552950"/>
            <a:ext cx="2238375" cy="152400"/>
          </a:xfrm>
          <a:prstGeom prst="roundRect">
            <a:avLst>
              <a:gd name="adj" fmla="val 50000"/>
            </a:avLst>
          </a:prstGeom>
          <a:solidFill>
            <a:srgbClr val="E6EBF2"/>
          </a:solidFill>
          <a:ln w="0">
            <a:solidFill>
              <a:srgbClr val="000000">
                <a:alpha val="0"/>
              </a:srgbClr>
            </a:solidFill>
            <a:prstDash val="solid"/>
          </a:ln>
        </p:spPr>
      </p:sp>
      <p:sp>
        <p:nvSpPr>
          <p:cNvPr id="37" name="矩形: 圆角 36"/>
          <p:cNvSpPr/>
          <p:nvPr/>
        </p:nvSpPr>
        <p:spPr>
          <a:xfrm>
            <a:off x="3638550" y="4552950"/>
            <a:ext cx="1343025" cy="152400"/>
          </a:xfrm>
          <a:prstGeom prst="roundRect">
            <a:avLst>
              <a:gd name="adj" fmla="val 50000"/>
            </a:avLst>
          </a:prstGeom>
          <a:solidFill>
            <a:srgbClr val="F5A524"/>
          </a:solidFill>
          <a:ln w="0">
            <a:solidFill>
              <a:srgbClr val="000000">
                <a:alpha val="0"/>
              </a:srgbClr>
            </a:solidFill>
            <a:prstDash val="solid"/>
          </a:ln>
        </p:spPr>
      </p:sp>
      <p:sp>
        <p:nvSpPr>
          <p:cNvPr id="38" name="矩形 37"/>
          <p:cNvSpPr/>
          <p:nvPr/>
        </p:nvSpPr>
        <p:spPr>
          <a:xfrm>
            <a:off x="6019800" y="4505325"/>
            <a:ext cx="514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F5A524"/>
                </a:solidFill>
                <a:latin typeface="Aptos"/>
                <a:ea typeface="Aptos"/>
                <a:cs typeface="Aptos"/>
              </a:defRPr>
            </a:pPr>
            <a:r>
              <a:rPr sz="1050" b="1">
                <a:solidFill>
                  <a:srgbClr val="F5A524"/>
                </a:solidFill>
                <a:latin typeface="Aptos"/>
                <a:ea typeface="Aptos"/>
                <a:cs typeface="Aptos"/>
              </a:rPr>
              <a:t>3/5</a:t>
            </a:r>
            <a:endParaRPr sz="1050" b="1">
              <a:solidFill>
                <a:srgbClr val="F5A524"/>
              </a:solidFill>
              <a:latin typeface="Aptos"/>
              <a:ea typeface="Aptos"/>
              <a:cs typeface="Aptos"/>
            </a:endParaRPr>
          </a:p>
        </p:txBody>
      </p:sp>
      <p:sp>
        <p:nvSpPr>
          <p:cNvPr id="39" name="矩形: 圆角 38"/>
          <p:cNvSpPr/>
          <p:nvPr/>
        </p:nvSpPr>
        <p:spPr>
          <a:xfrm>
            <a:off x="7600950" y="1352550"/>
            <a:ext cx="3181350" cy="1428750"/>
          </a:xfrm>
          <a:prstGeom prst="roundRect">
            <a:avLst>
              <a:gd name="adj" fmla="val 5333"/>
            </a:avLst>
          </a:prstGeom>
          <a:solidFill>
            <a:srgbClr val="DDF7E9"/>
          </a:solidFill>
          <a:ln w="14288">
            <a:solidFill>
              <a:srgbClr val="2EAD66"/>
            </a:solidFill>
            <a:prstDash val="solid"/>
          </a:ln>
        </p:spPr>
      </p:sp>
      <p:pic>
        <p:nvPicPr>
          <p:cNvPr id="40" name="图形 39"/>
          <p:cNvPicPr>
            <a:picLocks noChangeAspect="1"/>
          </p:cNvPicPr>
          <p:nvPr/>
        </p:nvPicPr>
        <p:blipFill>
          <a:blip/>
          <a:stretch>
            <a:fillRect/>
          </a:stretch>
        </p:blipFill>
        <p:spPr>
          <a:xfrm>
            <a:off x="7867650" y="1676400"/>
            <a:ext cx="400050" cy="400050"/>
          </a:xfrm>
          <a:prstGeom prst="rect">
            <a:avLst/>
          </a:prstGeom>
        </p:spPr>
      </p:pic>
      <p:sp>
        <p:nvSpPr>
          <p:cNvPr id="41" name="矩形 40"/>
          <p:cNvSpPr/>
          <p:nvPr/>
        </p:nvSpPr>
        <p:spPr>
          <a:xfrm>
            <a:off x="8420100" y="1600200"/>
            <a:ext cx="20955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2355B"/>
                </a:solidFill>
                <a:latin typeface="Aptos"/>
                <a:ea typeface="Aptos"/>
                <a:cs typeface="Aptos"/>
              </a:defRPr>
            </a:pPr>
            <a:r>
              <a:rPr sz="1800" b="1">
                <a:solidFill>
                  <a:srgbClr val="12355B"/>
                </a:solidFill>
                <a:latin typeface="Aptos"/>
                <a:ea typeface="Aptos"/>
                <a:cs typeface="Aptos"/>
              </a:rPr>
              <a:t>Sustainability fit</a:t>
            </a:r>
            <a:endParaRPr sz="1800" b="1">
              <a:solidFill>
                <a:srgbClr val="12355B"/>
              </a:solidFill>
              <a:latin typeface="Aptos"/>
              <a:ea typeface="Aptos"/>
              <a:cs typeface="Aptos"/>
            </a:endParaRPr>
          </a:p>
        </p:txBody>
      </p:sp>
      <p:sp>
        <p:nvSpPr>
          <p:cNvPr id="42" name="矩形 41"/>
          <p:cNvSpPr/>
          <p:nvPr/>
        </p:nvSpPr>
        <p:spPr>
          <a:xfrm>
            <a:off x="8420100" y="1990725"/>
            <a:ext cx="20383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033"/>
                </a:solidFill>
                <a:latin typeface="Aptos"/>
                <a:ea typeface="Aptos"/>
                <a:cs typeface="Aptos"/>
              </a:defRPr>
            </a:pPr>
            <a:r>
              <a:rPr sz="1275" b="0">
                <a:solidFill>
                  <a:srgbClr val="172033"/>
                </a:solidFill>
                <a:latin typeface="Aptos"/>
                <a:ea typeface="Aptos"/>
                <a:cs typeface="Aptos"/>
              </a:rPr>
              <a:t>Circular material use + lower emissions potential</a:t>
            </a:r>
            <a:endParaRPr sz="1275" b="0">
              <a:solidFill>
                <a:srgbClr val="172033"/>
              </a:solidFill>
              <a:latin typeface="Aptos"/>
              <a:ea typeface="Aptos"/>
              <a:cs typeface="Aptos"/>
            </a:endParaRPr>
          </a:p>
        </p:txBody>
      </p:sp>
      <p:sp>
        <p:nvSpPr>
          <p:cNvPr id="43" name="矩形: 圆角 42"/>
          <p:cNvSpPr/>
          <p:nvPr/>
        </p:nvSpPr>
        <p:spPr>
          <a:xfrm>
            <a:off x="7600950" y="3105150"/>
            <a:ext cx="3181350" cy="1428750"/>
          </a:xfrm>
          <a:prstGeom prst="roundRect">
            <a:avLst>
              <a:gd name="adj" fmla="val 5333"/>
            </a:avLst>
          </a:prstGeom>
          <a:solidFill>
            <a:srgbClr val="D9EAFE"/>
          </a:solidFill>
          <a:ln w="14288">
            <a:solidFill>
              <a:srgbClr val="1F6FEB"/>
            </a:solidFill>
            <a:prstDash val="solid"/>
          </a:ln>
        </p:spPr>
      </p:sp>
      <p:pic>
        <p:nvPicPr>
          <p:cNvPr id="44" name="图形 43"/>
          <p:cNvPicPr>
            <a:picLocks noChangeAspect="1"/>
          </p:cNvPicPr>
          <p:nvPr/>
        </p:nvPicPr>
        <p:blipFill>
          <a:blip/>
          <a:stretch>
            <a:fillRect/>
          </a:stretch>
        </p:blipFill>
        <p:spPr>
          <a:xfrm>
            <a:off x="7867650" y="3429000"/>
            <a:ext cx="400050" cy="400050"/>
          </a:xfrm>
          <a:prstGeom prst="rect">
            <a:avLst/>
          </a:prstGeom>
        </p:spPr>
      </p:pic>
      <p:sp>
        <p:nvSpPr>
          <p:cNvPr id="45" name="矩形 44"/>
          <p:cNvSpPr/>
          <p:nvPr/>
        </p:nvSpPr>
        <p:spPr>
          <a:xfrm>
            <a:off x="8420100" y="3486150"/>
            <a:ext cx="2095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2355B"/>
                </a:solidFill>
                <a:latin typeface="Aptos"/>
                <a:ea typeface="Aptos"/>
                <a:cs typeface="Aptos"/>
              </a:defRPr>
            </a:pPr>
            <a:r>
              <a:rPr sz="1800" b="1">
                <a:solidFill>
                  <a:srgbClr val="12355B"/>
                </a:solidFill>
                <a:latin typeface="Aptos"/>
                <a:ea typeface="Aptos"/>
                <a:cs typeface="Aptos"/>
              </a:rPr>
              <a:t>Controlled risk</a:t>
            </a:r>
            <a:endParaRPr sz="1800" b="1">
              <a:solidFill>
                <a:srgbClr val="12355B"/>
              </a:solidFill>
              <a:latin typeface="Aptos"/>
              <a:ea typeface="Aptos"/>
              <a:cs typeface="Aptos"/>
            </a:endParaRPr>
          </a:p>
        </p:txBody>
      </p:sp>
      <p:sp>
        <p:nvSpPr>
          <p:cNvPr id="46" name="矩形 45"/>
          <p:cNvSpPr/>
          <p:nvPr/>
        </p:nvSpPr>
        <p:spPr>
          <a:xfrm>
            <a:off x="8420100" y="3848100"/>
            <a:ext cx="20383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72033"/>
                </a:solidFill>
                <a:latin typeface="Aptos"/>
                <a:ea typeface="Aptos"/>
                <a:cs typeface="Aptos"/>
              </a:defRPr>
            </a:pPr>
            <a:r>
              <a:rPr sz="1350" b="0">
                <a:solidFill>
                  <a:srgbClr val="172033"/>
                </a:solidFill>
                <a:latin typeface="Aptos"/>
                <a:ea typeface="Aptos"/>
                <a:cs typeface="Aptos"/>
              </a:rPr>
              <a:t>Start with selected components</a:t>
            </a:r>
            <a:endParaRPr sz="1350" b="0">
              <a:solidFill>
                <a:srgbClr val="172033"/>
              </a:solidFill>
              <a:latin typeface="Aptos"/>
              <a:ea typeface="Aptos"/>
              <a:cs typeface="Aptos"/>
            </a:endParaRPr>
          </a:p>
        </p:txBody>
      </p:sp>
      <p:sp>
        <p:nvSpPr>
          <p:cNvPr id="47" name="矩形 46"/>
          <p:cNvSpPr/>
          <p:nvPr/>
        </p:nvSpPr>
        <p:spPr>
          <a:xfrm>
            <a:off x="2266950" y="5753100"/>
            <a:ext cx="7239000" cy="323850"/>
          </a:xfrm>
          <a:prstGeom prst="rect">
            <a:avLst/>
          </a:prstGeom>
          <a:solidFill>
            <a:srgbClr val="000000">
              <a:alpha val="0"/>
            </a:srgbClr>
          </a:solidFill>
          <a:ln w="0">
            <a:solidFill>
              <a:srgbClr val="000000">
                <a:alpha val="0"/>
              </a:srgbClr>
            </a:solidFill>
            <a:prstDash val="solid"/>
          </a:ln>
        </p:spPr>
        <p:txBody>
          <a:bodyPr lIns="95250" tIns="76200" rIns="95250" bIns="76200" anchor="t"/>
          <a:lstStyle/>
          <a:p>
            <a:pPr algn="ctr">
              <a:defRPr sz="1875" b="1">
                <a:solidFill>
                  <a:srgbClr val="12355B"/>
                </a:solidFill>
                <a:latin typeface="Aptos"/>
                <a:ea typeface="Aptos"/>
                <a:cs typeface="Aptos"/>
              </a:defRPr>
            </a:pPr>
            <a:r>
              <a:rPr sz="1875" b="1">
                <a:solidFill>
                  <a:srgbClr val="12355B"/>
                </a:solidFill>
                <a:latin typeface="Aptos"/>
                <a:ea typeface="Aptos"/>
                <a:cs typeface="Aptos"/>
              </a:rPr>
              <a:t>High benefit potential + realistic validation</a:t>
            </a:r>
            <a:endParaRPr sz="1875" b="1">
              <a:solidFill>
                <a:srgbClr val="12355B"/>
              </a:solidFill>
              <a:latin typeface="Aptos"/>
              <a:ea typeface="Aptos"/>
              <a:cs typeface="Aptos"/>
            </a:endParaRPr>
          </a:p>
        </p:txBody>
      </p:sp>
      <p:pic>
        <p:nvPicPr>
          <p:cNvPr id="50" name="图片 49"/>
          <p:cNvPicPr>
            <a:picLocks noChangeAspect="1"/>
          </p:cNvPicPr>
          <p:nvPr/>
        </p:nvPicPr>
        <p:blipFill>
          <a:blip r:embed="rId1"/>
          <a:stretch>
            <a:fillRect/>
          </a:stretch>
        </p:blipFill>
        <p:spPr>
          <a:xfrm>
            <a:off x="371475" y="1038225"/>
            <a:ext cx="7172325" cy="4781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p:cNvSpPr/>
          <p:nvPr/>
        </p:nvSpPr>
        <p:spPr>
          <a:xfrm>
            <a:off x="0" y="0"/>
            <a:ext cx="12192000" cy="6858000"/>
          </a:xfrm>
          <a:prstGeom prst="rect">
            <a:avLst/>
          </a:prstGeom>
          <a:solidFill>
            <a:srgbClr val="FFFFFF"/>
          </a:solidFill>
          <a:ln w="0">
            <a:solidFill>
              <a:srgbClr val="000000">
                <a:alpha val="0"/>
              </a:srgbClr>
            </a:solidFill>
            <a:prstDash val="solid"/>
          </a:ln>
        </p:spPr>
      </p:sp>
      <p:sp>
        <p:nvSpPr>
          <p:cNvPr id="2" name="矩形 1"/>
          <p:cNvSpPr/>
          <p:nvPr/>
        </p:nvSpPr>
        <p:spPr>
          <a:xfrm>
            <a:off x="0" y="0"/>
            <a:ext cx="12192000" cy="85725"/>
          </a:xfrm>
          <a:prstGeom prst="rect">
            <a:avLst/>
          </a:prstGeom>
          <a:solidFill>
            <a:srgbClr val="1F6FEB"/>
          </a:solidFill>
          <a:ln w="0">
            <a:solidFill>
              <a:srgbClr val="000000">
                <a:alpha val="0"/>
              </a:srgbClr>
            </a:solidFill>
            <a:prstDash val="solid"/>
          </a:ln>
        </p:spPr>
      </p:sp>
      <p:sp>
        <p:nvSpPr>
          <p:cNvPr id="3" name="矩形 2"/>
          <p:cNvSpPr/>
          <p:nvPr/>
        </p:nvSpPr>
        <p:spPr>
          <a:xfrm>
            <a:off x="0" y="85725"/>
            <a:ext cx="3429000" cy="47625"/>
          </a:xfrm>
          <a:prstGeom prst="rect">
            <a:avLst/>
          </a:prstGeom>
          <a:solidFill>
            <a:srgbClr val="2EAD66"/>
          </a:solidFill>
          <a:ln w="0">
            <a:solidFill>
              <a:srgbClr val="000000">
                <a:alpha val="0"/>
              </a:srgbClr>
            </a:solidFill>
            <a:prstDash val="solid"/>
          </a:ln>
        </p:spPr>
      </p:sp>
      <p:sp>
        <p:nvSpPr>
          <p:cNvPr id="4" name="矩形 3"/>
          <p:cNvSpPr/>
          <p:nvPr/>
        </p:nvSpPr>
        <p:spPr>
          <a:xfrm>
            <a:off x="514350" y="323850"/>
            <a:ext cx="86677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12355B"/>
                </a:solidFill>
                <a:latin typeface="Aptos Display"/>
                <a:ea typeface="Aptos Display"/>
                <a:cs typeface="Aptos Display"/>
              </a:defRPr>
            </a:pPr>
            <a:r>
              <a:rPr sz="2325" b="1">
                <a:solidFill>
                  <a:srgbClr val="12355B"/>
                </a:solidFill>
                <a:latin typeface="Aptos Display"/>
                <a:ea typeface="Aptos Display"/>
                <a:cs typeface="Aptos Display"/>
              </a:rPr>
              <a:t>Base-Case Cost and Carbon Estimate</a:t>
            </a:r>
            <a:endParaRPr sz="2325" b="1">
              <a:solidFill>
                <a:srgbClr val="12355B"/>
              </a:solidFill>
              <a:latin typeface="Aptos Display"/>
              <a:ea typeface="Aptos Display"/>
              <a:cs typeface="Aptos Display"/>
            </a:endParaRPr>
          </a:p>
        </p:txBody>
      </p:sp>
      <p:sp>
        <p:nvSpPr>
          <p:cNvPr id="5" name="矩形 4"/>
          <p:cNvSpPr/>
          <p:nvPr/>
        </p:nvSpPr>
        <p:spPr>
          <a:xfrm>
            <a:off x="533400" y="762000"/>
            <a:ext cx="8382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F6B7A"/>
                </a:solidFill>
                <a:latin typeface="Aptos"/>
                <a:ea typeface="Aptos"/>
                <a:cs typeface="Aptos"/>
              </a:defRPr>
            </a:pPr>
            <a:r>
              <a:rPr sz="1200" b="0">
                <a:solidFill>
                  <a:srgbClr val="5F6B7A"/>
                </a:solidFill>
                <a:latin typeface="Aptos"/>
                <a:ea typeface="Aptos"/>
                <a:cs typeface="Aptos"/>
              </a:rPr>
              <a:t>Visible calculation, but not a guaranteed saving.</a:t>
            </a:r>
            <a:endParaRPr sz="1200" b="0">
              <a:solidFill>
                <a:srgbClr val="5F6B7A"/>
              </a:solidFill>
              <a:latin typeface="Aptos"/>
              <a:ea typeface="Aptos"/>
              <a:cs typeface="Aptos"/>
            </a:endParaRPr>
          </a:p>
        </p:txBody>
      </p:sp>
      <p:sp>
        <p:nvSpPr>
          <p:cNvPr id="7" name="矩形 6"/>
          <p:cNvSpPr/>
          <p:nvPr/>
        </p:nvSpPr>
        <p:spPr>
          <a:xfrm>
            <a:off x="514350" y="6534150"/>
            <a:ext cx="9810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7A8594"/>
                </a:solidFill>
                <a:latin typeface="Aptos"/>
                <a:ea typeface="Aptos"/>
                <a:cs typeface="Aptos"/>
              </a:defRPr>
            </a:pPr>
            <a:r>
              <a:rPr sz="675" b="0">
                <a:solidFill>
                  <a:srgbClr val="7A8594"/>
                </a:solidFill>
                <a:latin typeface="Aptos"/>
                <a:ea typeface="Aptos"/>
                <a:cs typeface="Aptos"/>
              </a:rPr>
              <a:t>Sources: Greengauge 21; AEMO Q4 2025; National Greenhouse Accounts 2025</a:t>
            </a:r>
            <a:endParaRPr sz="675" b="0">
              <a:solidFill>
                <a:srgbClr val="7A8594"/>
              </a:solidFill>
              <a:latin typeface="Aptos"/>
              <a:ea typeface="Aptos"/>
              <a:cs typeface="Aptos"/>
            </a:endParaRPr>
          </a:p>
        </p:txBody>
      </p:sp>
      <p:sp>
        <p:nvSpPr>
          <p:cNvPr id="8" name="矩形: 圆角 7"/>
          <p:cNvSpPr/>
          <p:nvPr/>
        </p:nvSpPr>
        <p:spPr>
          <a:xfrm>
            <a:off x="9191625" y="361950"/>
            <a:ext cx="1619250" cy="266700"/>
          </a:xfrm>
          <a:prstGeom prst="roundRect">
            <a:avLst>
              <a:gd name="adj" fmla="val 28571"/>
            </a:avLst>
          </a:prstGeom>
          <a:solidFill>
            <a:srgbClr val="F6F8FB"/>
          </a:solidFill>
          <a:ln w="9525">
            <a:solidFill>
              <a:srgbClr val="C9D4E2"/>
            </a:solidFill>
            <a:prstDash val="solid"/>
          </a:ln>
        </p:spPr>
      </p:sp>
      <p:sp>
        <p:nvSpPr>
          <p:cNvPr id="9" name="矩形 8"/>
          <p:cNvSpPr/>
          <p:nvPr/>
        </p:nvSpPr>
        <p:spPr>
          <a:xfrm>
            <a:off x="9296400" y="428625"/>
            <a:ext cx="1409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90" b="1">
                <a:solidFill>
                  <a:srgbClr val="12355B"/>
                </a:solidFill>
                <a:latin typeface="Aptos"/>
                <a:ea typeface="Aptos"/>
                <a:cs typeface="Aptos"/>
              </a:defRPr>
            </a:pPr>
            <a:r>
              <a:rPr sz="790" b="1" dirty="0">
                <a:solidFill>
                  <a:srgbClr val="12355B"/>
                </a:solidFill>
                <a:latin typeface="Aptos"/>
                <a:ea typeface="Aptos"/>
                <a:cs typeface="Aptos"/>
              </a:rPr>
              <a:t>Presenter: </a:t>
            </a:r>
            <a:r>
              <a:rPr lang="en-US" sz="790" b="1" dirty="0">
                <a:solidFill>
                  <a:srgbClr val="12355B"/>
                </a:solidFill>
                <a:latin typeface="Aptos"/>
                <a:ea typeface="Aptos"/>
                <a:cs typeface="Aptos"/>
              </a:rPr>
              <a:t>Guo GuangHan</a:t>
            </a:r>
            <a:endParaRPr lang="en-US" sz="790" b="1" dirty="0">
              <a:solidFill>
                <a:srgbClr val="12355B"/>
              </a:solidFill>
              <a:latin typeface="Aptos"/>
              <a:ea typeface="Aptos"/>
              <a:cs typeface="Aptos"/>
            </a:endParaRPr>
          </a:p>
        </p:txBody>
      </p:sp>
      <p:sp>
        <p:nvSpPr>
          <p:cNvPr id="10" name="矩形: 圆角 9"/>
          <p:cNvSpPr/>
          <p:nvPr/>
        </p:nvSpPr>
        <p:spPr>
          <a:xfrm>
            <a:off x="571500" y="1200150"/>
            <a:ext cx="2800350" cy="4171950"/>
          </a:xfrm>
          <a:prstGeom prst="roundRect">
            <a:avLst>
              <a:gd name="adj" fmla="val 2721"/>
            </a:avLst>
          </a:prstGeom>
          <a:solidFill>
            <a:srgbClr val="F6F8FB"/>
          </a:solidFill>
          <a:ln w="9525">
            <a:solidFill>
              <a:srgbClr val="C9D4E2"/>
            </a:solidFill>
            <a:prstDash val="solid"/>
          </a:ln>
        </p:spPr>
      </p:sp>
      <p:sp>
        <p:nvSpPr>
          <p:cNvPr id="11" name="矩形 10"/>
          <p:cNvSpPr/>
          <p:nvPr/>
        </p:nvSpPr>
        <p:spPr>
          <a:xfrm>
            <a:off x="838200" y="1390650"/>
            <a:ext cx="1619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12355B"/>
                </a:solidFill>
                <a:latin typeface="Aptos"/>
                <a:ea typeface="Aptos"/>
                <a:cs typeface="Aptos"/>
              </a:defRPr>
            </a:pPr>
            <a:r>
              <a:rPr sz="1725" b="1">
                <a:solidFill>
                  <a:srgbClr val="12355B"/>
                </a:solidFill>
                <a:latin typeface="Aptos"/>
                <a:ea typeface="Aptos"/>
                <a:cs typeface="Aptos"/>
              </a:rPr>
              <a:t>Inputs</a:t>
            </a:r>
            <a:endParaRPr sz="1725" b="1">
              <a:solidFill>
                <a:srgbClr val="12355B"/>
              </a:solidFill>
              <a:latin typeface="Aptos"/>
              <a:ea typeface="Aptos"/>
              <a:cs typeface="Aptos"/>
            </a:endParaRPr>
          </a:p>
        </p:txBody>
      </p:sp>
      <p:sp>
        <p:nvSpPr>
          <p:cNvPr id="12" name="矩形 11"/>
          <p:cNvSpPr/>
          <p:nvPr/>
        </p:nvSpPr>
        <p:spPr>
          <a:xfrm>
            <a:off x="838200" y="182880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033"/>
                </a:solidFill>
                <a:latin typeface="Aptos"/>
                <a:ea typeface="Aptos"/>
                <a:cs typeface="Aptos"/>
              </a:defRPr>
            </a:pPr>
            <a:r>
              <a:rPr sz="1275" b="0">
                <a:solidFill>
                  <a:srgbClr val="172033"/>
                </a:solidFill>
                <a:latin typeface="Aptos"/>
                <a:ea typeface="Aptos"/>
                <a:cs typeface="Aptos"/>
              </a:rPr>
              <a:t>194 km route</a:t>
            </a:r>
            <a:endParaRPr sz="1275" b="0">
              <a:solidFill>
                <a:srgbClr val="172033"/>
              </a:solidFill>
              <a:latin typeface="Aptos"/>
              <a:ea typeface="Aptos"/>
              <a:cs typeface="Aptos"/>
            </a:endParaRPr>
          </a:p>
        </p:txBody>
      </p:sp>
      <p:sp>
        <p:nvSpPr>
          <p:cNvPr id="13" name="矩形 12"/>
          <p:cNvSpPr/>
          <p:nvPr/>
        </p:nvSpPr>
        <p:spPr>
          <a:xfrm>
            <a:off x="838200" y="222885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033"/>
                </a:solidFill>
                <a:latin typeface="Aptos"/>
                <a:ea typeface="Aptos"/>
                <a:cs typeface="Aptos"/>
              </a:defRPr>
            </a:pPr>
            <a:r>
              <a:rPr sz="1275" b="0">
                <a:solidFill>
                  <a:srgbClr val="172033"/>
                </a:solidFill>
                <a:latin typeface="Aptos"/>
                <a:ea typeface="Aptos"/>
                <a:cs typeface="Aptos"/>
              </a:rPr>
              <a:t>15m trips/year</a:t>
            </a:r>
            <a:endParaRPr sz="1275" b="0">
              <a:solidFill>
                <a:srgbClr val="172033"/>
              </a:solidFill>
              <a:latin typeface="Aptos"/>
              <a:ea typeface="Aptos"/>
              <a:cs typeface="Aptos"/>
            </a:endParaRPr>
          </a:p>
        </p:txBody>
      </p:sp>
      <p:sp>
        <p:nvSpPr>
          <p:cNvPr id="14" name="矩形 13"/>
          <p:cNvSpPr/>
          <p:nvPr/>
        </p:nvSpPr>
        <p:spPr>
          <a:xfrm>
            <a:off x="838200" y="262890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033"/>
                </a:solidFill>
                <a:latin typeface="Aptos"/>
                <a:ea typeface="Aptos"/>
                <a:cs typeface="Aptos"/>
              </a:defRPr>
            </a:pPr>
            <a:r>
              <a:rPr sz="1275" b="0">
                <a:solidFill>
                  <a:srgbClr val="172033"/>
                </a:solidFill>
                <a:latin typeface="Aptos"/>
                <a:ea typeface="Aptos"/>
                <a:cs typeface="Aptos"/>
              </a:rPr>
              <a:t>0.033 kWh/seat-km</a:t>
            </a:r>
            <a:endParaRPr sz="1275" b="0">
              <a:solidFill>
                <a:srgbClr val="172033"/>
              </a:solidFill>
              <a:latin typeface="Aptos"/>
              <a:ea typeface="Aptos"/>
              <a:cs typeface="Aptos"/>
            </a:endParaRPr>
          </a:p>
        </p:txBody>
      </p:sp>
      <p:sp>
        <p:nvSpPr>
          <p:cNvPr id="15" name="矩形 14"/>
          <p:cNvSpPr/>
          <p:nvPr/>
        </p:nvSpPr>
        <p:spPr>
          <a:xfrm>
            <a:off x="838200" y="302895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033"/>
                </a:solidFill>
                <a:latin typeface="Aptos"/>
                <a:ea typeface="Aptos"/>
                <a:cs typeface="Aptos"/>
              </a:defRPr>
            </a:pPr>
            <a:r>
              <a:rPr sz="1275" b="0">
                <a:solidFill>
                  <a:srgbClr val="172033"/>
                </a:solidFill>
                <a:latin typeface="Aptos"/>
                <a:ea typeface="Aptos"/>
                <a:cs typeface="Aptos"/>
              </a:rPr>
              <a:t>70% load factor</a:t>
            </a:r>
            <a:endParaRPr sz="1275" b="0">
              <a:solidFill>
                <a:srgbClr val="172033"/>
              </a:solidFill>
              <a:latin typeface="Aptos"/>
              <a:ea typeface="Aptos"/>
              <a:cs typeface="Aptos"/>
            </a:endParaRPr>
          </a:p>
        </p:txBody>
      </p:sp>
      <p:sp>
        <p:nvSpPr>
          <p:cNvPr id="16" name="矩形 15"/>
          <p:cNvSpPr/>
          <p:nvPr/>
        </p:nvSpPr>
        <p:spPr>
          <a:xfrm>
            <a:off x="838200" y="342900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F5A524"/>
                </a:solidFill>
                <a:latin typeface="Aptos"/>
                <a:ea typeface="Aptos"/>
                <a:cs typeface="Aptos"/>
              </a:defRPr>
            </a:pPr>
            <a:r>
              <a:rPr sz="1275" b="1" dirty="0">
                <a:solidFill>
                  <a:srgbClr val="F5A524"/>
                </a:solidFill>
                <a:latin typeface="Aptos"/>
                <a:ea typeface="Aptos"/>
                <a:cs typeface="Aptos"/>
              </a:rPr>
              <a:t>5% saving assumption</a:t>
            </a:r>
            <a:endParaRPr sz="1275" b="1" dirty="0">
              <a:solidFill>
                <a:srgbClr val="F5A524"/>
              </a:solidFill>
              <a:latin typeface="Aptos"/>
              <a:ea typeface="Aptos"/>
              <a:cs typeface="Aptos"/>
            </a:endParaRPr>
          </a:p>
        </p:txBody>
      </p:sp>
      <p:sp>
        <p:nvSpPr>
          <p:cNvPr id="17" name="矩形 16"/>
          <p:cNvSpPr/>
          <p:nvPr/>
        </p:nvSpPr>
        <p:spPr>
          <a:xfrm>
            <a:off x="838200" y="382905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033"/>
                </a:solidFill>
                <a:latin typeface="Aptos"/>
                <a:ea typeface="Aptos"/>
                <a:cs typeface="Aptos"/>
              </a:defRPr>
            </a:pPr>
            <a:r>
              <a:rPr sz="1275" b="0">
                <a:solidFill>
                  <a:srgbClr val="172033"/>
                </a:solidFill>
                <a:latin typeface="Aptos"/>
                <a:ea typeface="Aptos"/>
                <a:cs typeface="Aptos"/>
              </a:rPr>
              <a:t>A$0.075/kWh</a:t>
            </a:r>
            <a:endParaRPr sz="1275" b="0">
              <a:solidFill>
                <a:srgbClr val="172033"/>
              </a:solidFill>
              <a:latin typeface="Aptos"/>
              <a:ea typeface="Aptos"/>
              <a:cs typeface="Aptos"/>
            </a:endParaRPr>
          </a:p>
        </p:txBody>
      </p:sp>
      <p:sp>
        <p:nvSpPr>
          <p:cNvPr id="18" name="矩形 17"/>
          <p:cNvSpPr/>
          <p:nvPr/>
        </p:nvSpPr>
        <p:spPr>
          <a:xfrm>
            <a:off x="838200" y="422910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033"/>
                </a:solidFill>
                <a:latin typeface="Aptos"/>
                <a:ea typeface="Aptos"/>
                <a:cs typeface="Aptos"/>
              </a:defRPr>
            </a:pPr>
            <a:r>
              <a:rPr sz="1275" b="0">
                <a:solidFill>
                  <a:srgbClr val="172033"/>
                </a:solidFill>
                <a:latin typeface="Aptos"/>
                <a:ea typeface="Aptos"/>
                <a:cs typeface="Aptos"/>
              </a:rPr>
              <a:t>0.67 kg CO2-e/kWh</a:t>
            </a:r>
            <a:endParaRPr sz="1275" b="0">
              <a:solidFill>
                <a:srgbClr val="172033"/>
              </a:solidFill>
              <a:latin typeface="Aptos"/>
              <a:ea typeface="Aptos"/>
              <a:cs typeface="Aptos"/>
            </a:endParaRPr>
          </a:p>
        </p:txBody>
      </p:sp>
      <p:sp>
        <p:nvSpPr>
          <p:cNvPr id="19" name="矩形 18"/>
          <p:cNvSpPr/>
          <p:nvPr/>
        </p:nvSpPr>
        <p:spPr>
          <a:xfrm>
            <a:off x="838200" y="4819650"/>
            <a:ext cx="2190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F5A524"/>
                </a:solidFill>
                <a:latin typeface="Aptos"/>
                <a:ea typeface="Aptos"/>
                <a:cs typeface="Aptos"/>
              </a:defRPr>
            </a:pPr>
            <a:r>
              <a:rPr sz="1425" b="1">
                <a:solidFill>
                  <a:srgbClr val="F5A524"/>
                </a:solidFill>
                <a:latin typeface="Aptos"/>
                <a:ea typeface="Aptos"/>
                <a:cs typeface="Aptos"/>
              </a:rPr>
              <a:t>Estimate inputs</a:t>
            </a:r>
            <a:endParaRPr sz="1425" b="1">
              <a:solidFill>
                <a:srgbClr val="F5A524"/>
              </a:solidFill>
              <a:latin typeface="Aptos"/>
              <a:ea typeface="Aptos"/>
              <a:cs typeface="Aptos"/>
            </a:endParaRPr>
          </a:p>
        </p:txBody>
      </p:sp>
      <p:sp>
        <p:nvSpPr>
          <p:cNvPr id="20" name="矩形: 圆角 19"/>
          <p:cNvSpPr/>
          <p:nvPr/>
        </p:nvSpPr>
        <p:spPr>
          <a:xfrm>
            <a:off x="3752850" y="1257300"/>
            <a:ext cx="3314700" cy="1314450"/>
          </a:xfrm>
          <a:prstGeom prst="roundRect">
            <a:avLst>
              <a:gd name="adj" fmla="val 5797"/>
            </a:avLst>
          </a:prstGeom>
          <a:solidFill>
            <a:srgbClr val="FFFFFF"/>
          </a:solidFill>
          <a:ln w="11430">
            <a:solidFill>
              <a:srgbClr val="1F6FEB"/>
            </a:solidFill>
            <a:prstDash val="solid"/>
          </a:ln>
        </p:spPr>
      </p:sp>
      <p:sp>
        <p:nvSpPr>
          <p:cNvPr id="21" name="矩形 20"/>
          <p:cNvSpPr/>
          <p:nvPr/>
        </p:nvSpPr>
        <p:spPr>
          <a:xfrm>
            <a:off x="3924300" y="1400175"/>
            <a:ext cx="2667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F6FEB"/>
                </a:solidFill>
                <a:latin typeface="Aptos"/>
                <a:ea typeface="Aptos"/>
                <a:cs typeface="Aptos"/>
              </a:defRPr>
            </a:pPr>
            <a:r>
              <a:rPr sz="1500" b="1">
                <a:solidFill>
                  <a:srgbClr val="1F6FEB"/>
                </a:solidFill>
                <a:latin typeface="Aptos"/>
                <a:ea typeface="Aptos"/>
                <a:cs typeface="Aptos"/>
              </a:rPr>
              <a:t>Energy use</a:t>
            </a:r>
            <a:endParaRPr sz="1500" b="1">
              <a:solidFill>
                <a:srgbClr val="1F6FEB"/>
              </a:solidFill>
              <a:latin typeface="Aptos"/>
              <a:ea typeface="Aptos"/>
              <a:cs typeface="Aptos"/>
            </a:endParaRPr>
          </a:p>
        </p:txBody>
      </p:sp>
      <p:sp>
        <p:nvSpPr>
          <p:cNvPr id="22" name="矩形 21"/>
          <p:cNvSpPr/>
          <p:nvPr/>
        </p:nvSpPr>
        <p:spPr>
          <a:xfrm>
            <a:off x="3924300" y="1771650"/>
            <a:ext cx="29146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72033"/>
                </a:solidFill>
                <a:latin typeface="Aptos Mono"/>
                <a:ea typeface="Aptos Mono"/>
                <a:cs typeface="Aptos Mono"/>
              </a:defRPr>
            </a:pPr>
            <a:r>
              <a:rPr sz="1275" b="1">
                <a:solidFill>
                  <a:srgbClr val="172033"/>
                </a:solidFill>
                <a:latin typeface="Aptos Mono"/>
                <a:ea typeface="Aptos Mono"/>
                <a:cs typeface="Aptos Mono"/>
              </a:rPr>
              <a:t>15m x 194 x 0.033 / 0.70</a:t>
            </a:r>
            <a:endParaRPr sz="1275" b="1">
              <a:solidFill>
                <a:srgbClr val="172033"/>
              </a:solidFill>
              <a:latin typeface="Aptos Mono"/>
              <a:ea typeface="Aptos Mono"/>
              <a:cs typeface="Aptos Mono"/>
            </a:endParaRPr>
          </a:p>
          <a:p>
            <a:pPr algn="l">
              <a:defRPr sz="1275" b="1">
                <a:solidFill>
                  <a:srgbClr val="172033"/>
                </a:solidFill>
                <a:latin typeface="Aptos Mono"/>
                <a:ea typeface="Aptos Mono"/>
                <a:cs typeface="Aptos Mono"/>
              </a:defRPr>
            </a:pPr>
            <a:r>
              <a:rPr sz="1275" b="1">
                <a:solidFill>
                  <a:srgbClr val="172033"/>
                </a:solidFill>
                <a:latin typeface="Aptos Mono"/>
                <a:ea typeface="Aptos Mono"/>
                <a:cs typeface="Aptos Mono"/>
              </a:rPr>
              <a:t>= 137.2 GWh/year</a:t>
            </a:r>
            <a:endParaRPr sz="1275" b="1">
              <a:solidFill>
                <a:srgbClr val="172033"/>
              </a:solidFill>
              <a:latin typeface="Aptos Mono"/>
              <a:ea typeface="Aptos Mono"/>
              <a:cs typeface="Aptos Mono"/>
            </a:endParaRPr>
          </a:p>
        </p:txBody>
      </p:sp>
      <p:sp>
        <p:nvSpPr>
          <p:cNvPr id="23" name="矩形: 圆角 22"/>
          <p:cNvSpPr/>
          <p:nvPr/>
        </p:nvSpPr>
        <p:spPr>
          <a:xfrm>
            <a:off x="7448550" y="1257300"/>
            <a:ext cx="3314700" cy="1314450"/>
          </a:xfrm>
          <a:prstGeom prst="roundRect">
            <a:avLst>
              <a:gd name="adj" fmla="val 5797"/>
            </a:avLst>
          </a:prstGeom>
          <a:solidFill>
            <a:srgbClr val="FFFFFF"/>
          </a:solidFill>
          <a:ln w="11430">
            <a:solidFill>
              <a:srgbClr val="1F6FEB"/>
            </a:solidFill>
            <a:prstDash val="solid"/>
          </a:ln>
        </p:spPr>
      </p:sp>
      <p:sp>
        <p:nvSpPr>
          <p:cNvPr id="24" name="矩形 23"/>
          <p:cNvSpPr/>
          <p:nvPr/>
        </p:nvSpPr>
        <p:spPr>
          <a:xfrm>
            <a:off x="7620000" y="1400175"/>
            <a:ext cx="2667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F6FEB"/>
                </a:solidFill>
                <a:latin typeface="Aptos"/>
                <a:ea typeface="Aptos"/>
                <a:cs typeface="Aptos"/>
              </a:defRPr>
            </a:pPr>
            <a:r>
              <a:rPr sz="1500" b="1">
                <a:solidFill>
                  <a:srgbClr val="1F6FEB"/>
                </a:solidFill>
                <a:latin typeface="Aptos"/>
                <a:ea typeface="Aptos"/>
                <a:cs typeface="Aptos"/>
              </a:rPr>
              <a:t>Energy saved</a:t>
            </a:r>
            <a:endParaRPr sz="1500" b="1">
              <a:solidFill>
                <a:srgbClr val="1F6FEB"/>
              </a:solidFill>
              <a:latin typeface="Aptos"/>
              <a:ea typeface="Aptos"/>
              <a:cs typeface="Aptos"/>
            </a:endParaRPr>
          </a:p>
        </p:txBody>
      </p:sp>
      <p:sp>
        <p:nvSpPr>
          <p:cNvPr id="25" name="矩形 24"/>
          <p:cNvSpPr/>
          <p:nvPr/>
        </p:nvSpPr>
        <p:spPr>
          <a:xfrm>
            <a:off x="7620000" y="1771650"/>
            <a:ext cx="29146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72033"/>
                </a:solidFill>
                <a:latin typeface="Aptos Mono"/>
                <a:ea typeface="Aptos Mono"/>
                <a:cs typeface="Aptos Mono"/>
              </a:defRPr>
            </a:pPr>
            <a:r>
              <a:rPr sz="1275" b="1">
                <a:solidFill>
                  <a:srgbClr val="172033"/>
                </a:solidFill>
                <a:latin typeface="Aptos Mono"/>
                <a:ea typeface="Aptos Mono"/>
                <a:cs typeface="Aptos Mono"/>
              </a:rPr>
              <a:t>137,185,714 x 5%</a:t>
            </a:r>
            <a:endParaRPr sz="1275" b="1">
              <a:solidFill>
                <a:srgbClr val="172033"/>
              </a:solidFill>
              <a:latin typeface="Aptos Mono"/>
              <a:ea typeface="Aptos Mono"/>
              <a:cs typeface="Aptos Mono"/>
            </a:endParaRPr>
          </a:p>
          <a:p>
            <a:pPr algn="l">
              <a:defRPr sz="1275" b="1">
                <a:solidFill>
                  <a:srgbClr val="172033"/>
                </a:solidFill>
                <a:latin typeface="Aptos Mono"/>
                <a:ea typeface="Aptos Mono"/>
                <a:cs typeface="Aptos Mono"/>
              </a:defRPr>
            </a:pPr>
            <a:r>
              <a:rPr sz="1275" b="1">
                <a:solidFill>
                  <a:srgbClr val="172033"/>
                </a:solidFill>
                <a:latin typeface="Aptos Mono"/>
                <a:ea typeface="Aptos Mono"/>
                <a:cs typeface="Aptos Mono"/>
              </a:rPr>
              <a:t>= 6.86 GWh/year</a:t>
            </a:r>
            <a:endParaRPr sz="1275" b="1">
              <a:solidFill>
                <a:srgbClr val="172033"/>
              </a:solidFill>
              <a:latin typeface="Aptos Mono"/>
              <a:ea typeface="Aptos Mono"/>
              <a:cs typeface="Aptos Mono"/>
            </a:endParaRPr>
          </a:p>
        </p:txBody>
      </p:sp>
      <p:sp>
        <p:nvSpPr>
          <p:cNvPr id="26" name="矩形: 圆角 25"/>
          <p:cNvSpPr/>
          <p:nvPr/>
        </p:nvSpPr>
        <p:spPr>
          <a:xfrm>
            <a:off x="3752850" y="2952750"/>
            <a:ext cx="3314700" cy="1314450"/>
          </a:xfrm>
          <a:prstGeom prst="roundRect">
            <a:avLst>
              <a:gd name="adj" fmla="val 5797"/>
            </a:avLst>
          </a:prstGeom>
          <a:solidFill>
            <a:srgbClr val="FFFFFF"/>
          </a:solidFill>
          <a:ln w="11430">
            <a:solidFill>
              <a:srgbClr val="1F6FEB"/>
            </a:solidFill>
            <a:prstDash val="solid"/>
          </a:ln>
        </p:spPr>
      </p:sp>
      <p:sp>
        <p:nvSpPr>
          <p:cNvPr id="27" name="矩形 26"/>
          <p:cNvSpPr/>
          <p:nvPr/>
        </p:nvSpPr>
        <p:spPr>
          <a:xfrm>
            <a:off x="3924300" y="3095625"/>
            <a:ext cx="2667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F6FEB"/>
                </a:solidFill>
                <a:latin typeface="Aptos"/>
                <a:ea typeface="Aptos"/>
                <a:cs typeface="Aptos"/>
              </a:defRPr>
            </a:pPr>
            <a:r>
              <a:rPr sz="1500" b="1">
                <a:solidFill>
                  <a:srgbClr val="1F6FEB"/>
                </a:solidFill>
                <a:latin typeface="Aptos"/>
                <a:ea typeface="Aptos"/>
                <a:cs typeface="Aptos"/>
              </a:rPr>
              <a:t>Cost saved</a:t>
            </a:r>
            <a:endParaRPr sz="1500" b="1">
              <a:solidFill>
                <a:srgbClr val="1F6FEB"/>
              </a:solidFill>
              <a:latin typeface="Aptos"/>
              <a:ea typeface="Aptos"/>
              <a:cs typeface="Aptos"/>
            </a:endParaRPr>
          </a:p>
        </p:txBody>
      </p:sp>
      <p:sp>
        <p:nvSpPr>
          <p:cNvPr id="28" name="矩形 27"/>
          <p:cNvSpPr/>
          <p:nvPr/>
        </p:nvSpPr>
        <p:spPr>
          <a:xfrm>
            <a:off x="3924300" y="3467100"/>
            <a:ext cx="29146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72033"/>
                </a:solidFill>
                <a:latin typeface="Aptos Mono"/>
                <a:ea typeface="Aptos Mono"/>
                <a:cs typeface="Aptos Mono"/>
              </a:defRPr>
            </a:pPr>
            <a:r>
              <a:rPr sz="1275" b="1">
                <a:solidFill>
                  <a:srgbClr val="172033"/>
                </a:solidFill>
                <a:latin typeface="Aptos Mono"/>
                <a:ea typeface="Aptos Mono"/>
                <a:cs typeface="Aptos Mono"/>
              </a:rPr>
              <a:t>6,859,286 x 0.075</a:t>
            </a:r>
            <a:endParaRPr sz="1275" b="1">
              <a:solidFill>
                <a:srgbClr val="172033"/>
              </a:solidFill>
              <a:latin typeface="Aptos Mono"/>
              <a:ea typeface="Aptos Mono"/>
              <a:cs typeface="Aptos Mono"/>
            </a:endParaRPr>
          </a:p>
          <a:p>
            <a:pPr algn="l">
              <a:defRPr sz="1275" b="1">
                <a:solidFill>
                  <a:srgbClr val="172033"/>
                </a:solidFill>
                <a:latin typeface="Aptos Mono"/>
                <a:ea typeface="Aptos Mono"/>
                <a:cs typeface="Aptos Mono"/>
              </a:defRPr>
            </a:pPr>
            <a:r>
              <a:rPr sz="1275" b="1">
                <a:solidFill>
                  <a:srgbClr val="172033"/>
                </a:solidFill>
                <a:latin typeface="Aptos Mono"/>
                <a:ea typeface="Aptos Mono"/>
                <a:cs typeface="Aptos Mono"/>
              </a:rPr>
              <a:t>≈ A$0.51m/year</a:t>
            </a:r>
            <a:endParaRPr sz="1275" b="1">
              <a:solidFill>
                <a:srgbClr val="172033"/>
              </a:solidFill>
              <a:latin typeface="Aptos Mono"/>
              <a:ea typeface="Aptos Mono"/>
              <a:cs typeface="Aptos Mono"/>
            </a:endParaRPr>
          </a:p>
        </p:txBody>
      </p:sp>
      <p:sp>
        <p:nvSpPr>
          <p:cNvPr id="29" name="矩形: 圆角 28"/>
          <p:cNvSpPr/>
          <p:nvPr/>
        </p:nvSpPr>
        <p:spPr>
          <a:xfrm>
            <a:off x="7448550" y="2952750"/>
            <a:ext cx="3314700" cy="1314450"/>
          </a:xfrm>
          <a:prstGeom prst="roundRect">
            <a:avLst>
              <a:gd name="adj" fmla="val 5797"/>
            </a:avLst>
          </a:prstGeom>
          <a:solidFill>
            <a:srgbClr val="DDF7E9"/>
          </a:solidFill>
          <a:ln w="11430">
            <a:solidFill>
              <a:srgbClr val="2EAD66"/>
            </a:solidFill>
            <a:prstDash val="solid"/>
          </a:ln>
        </p:spPr>
      </p:sp>
      <p:sp>
        <p:nvSpPr>
          <p:cNvPr id="30" name="矩形 29"/>
          <p:cNvSpPr/>
          <p:nvPr/>
        </p:nvSpPr>
        <p:spPr>
          <a:xfrm>
            <a:off x="7620000" y="3095625"/>
            <a:ext cx="2667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EAD66"/>
                </a:solidFill>
                <a:latin typeface="Aptos"/>
                <a:ea typeface="Aptos"/>
                <a:cs typeface="Aptos"/>
              </a:defRPr>
            </a:pPr>
            <a:r>
              <a:rPr sz="1500" b="1">
                <a:solidFill>
                  <a:srgbClr val="2EAD66"/>
                </a:solidFill>
                <a:latin typeface="Aptos"/>
                <a:ea typeface="Aptos"/>
                <a:cs typeface="Aptos"/>
              </a:rPr>
              <a:t>CO2-e cut</a:t>
            </a:r>
            <a:endParaRPr sz="1500" b="1">
              <a:solidFill>
                <a:srgbClr val="2EAD66"/>
              </a:solidFill>
              <a:latin typeface="Aptos"/>
              <a:ea typeface="Aptos"/>
              <a:cs typeface="Aptos"/>
            </a:endParaRPr>
          </a:p>
        </p:txBody>
      </p:sp>
      <p:sp>
        <p:nvSpPr>
          <p:cNvPr id="31" name="矩形 30"/>
          <p:cNvSpPr/>
          <p:nvPr/>
        </p:nvSpPr>
        <p:spPr>
          <a:xfrm>
            <a:off x="7620000" y="3467100"/>
            <a:ext cx="29146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72033"/>
                </a:solidFill>
                <a:latin typeface="Aptos Mono"/>
                <a:ea typeface="Aptos Mono"/>
                <a:cs typeface="Aptos Mono"/>
              </a:defRPr>
            </a:pPr>
            <a:r>
              <a:rPr sz="1275" b="1">
                <a:solidFill>
                  <a:srgbClr val="172033"/>
                </a:solidFill>
                <a:latin typeface="Aptos Mono"/>
                <a:ea typeface="Aptos Mono"/>
                <a:cs typeface="Aptos Mono"/>
              </a:rPr>
              <a:t>6,859,286 x 0.67 / 1000</a:t>
            </a:r>
            <a:endParaRPr sz="1275" b="1">
              <a:solidFill>
                <a:srgbClr val="172033"/>
              </a:solidFill>
              <a:latin typeface="Aptos Mono"/>
              <a:ea typeface="Aptos Mono"/>
              <a:cs typeface="Aptos Mono"/>
            </a:endParaRPr>
          </a:p>
          <a:p>
            <a:pPr algn="l">
              <a:defRPr sz="1275" b="1">
                <a:solidFill>
                  <a:srgbClr val="172033"/>
                </a:solidFill>
                <a:latin typeface="Aptos Mono"/>
                <a:ea typeface="Aptos Mono"/>
                <a:cs typeface="Aptos Mono"/>
              </a:defRPr>
            </a:pPr>
            <a:r>
              <a:rPr sz="1275" b="1">
                <a:solidFill>
                  <a:srgbClr val="172033"/>
                </a:solidFill>
                <a:latin typeface="Aptos Mono"/>
                <a:ea typeface="Aptos Mono"/>
                <a:cs typeface="Aptos Mono"/>
              </a:rPr>
              <a:t>= 4,596 t/year</a:t>
            </a:r>
            <a:endParaRPr sz="1275" b="1">
              <a:solidFill>
                <a:srgbClr val="172033"/>
              </a:solidFill>
              <a:latin typeface="Aptos Mono"/>
              <a:ea typeface="Aptos Mono"/>
              <a:cs typeface="Aptos Mono"/>
            </a:endParaRPr>
          </a:p>
        </p:txBody>
      </p:sp>
      <p:sp>
        <p:nvSpPr>
          <p:cNvPr id="32" name="矩形: 圆角 31"/>
          <p:cNvSpPr/>
          <p:nvPr/>
        </p:nvSpPr>
        <p:spPr>
          <a:xfrm>
            <a:off x="3752850" y="4762500"/>
            <a:ext cx="3314700" cy="876300"/>
          </a:xfrm>
          <a:prstGeom prst="roundRect">
            <a:avLst>
              <a:gd name="adj" fmla="val 8696"/>
            </a:avLst>
          </a:prstGeom>
          <a:solidFill>
            <a:srgbClr val="D9EAFE"/>
          </a:solidFill>
          <a:ln w="11430">
            <a:solidFill>
              <a:srgbClr val="1F6FEB"/>
            </a:solidFill>
            <a:prstDash val="solid"/>
          </a:ln>
        </p:spPr>
      </p:sp>
      <p:sp>
        <p:nvSpPr>
          <p:cNvPr id="33" name="矩形 32"/>
          <p:cNvSpPr/>
          <p:nvPr/>
        </p:nvSpPr>
        <p:spPr>
          <a:xfrm>
            <a:off x="3962400" y="4895850"/>
            <a:ext cx="2381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F6FEB"/>
                </a:solidFill>
                <a:latin typeface="Aptos"/>
                <a:ea typeface="Aptos"/>
                <a:cs typeface="Aptos"/>
              </a:defRPr>
            </a:pPr>
            <a:r>
              <a:rPr sz="1275" b="1">
                <a:solidFill>
                  <a:srgbClr val="1F6FEB"/>
                </a:solidFill>
                <a:latin typeface="Aptos"/>
                <a:ea typeface="Aptos"/>
                <a:cs typeface="Aptos"/>
              </a:rPr>
              <a:t>30-year gross electricity saving</a:t>
            </a:r>
            <a:endParaRPr sz="1275" b="1">
              <a:solidFill>
                <a:srgbClr val="1F6FEB"/>
              </a:solidFill>
              <a:latin typeface="Aptos"/>
              <a:ea typeface="Aptos"/>
              <a:cs typeface="Aptos"/>
            </a:endParaRPr>
          </a:p>
        </p:txBody>
      </p:sp>
      <p:sp>
        <p:nvSpPr>
          <p:cNvPr id="34" name="矩形 33"/>
          <p:cNvSpPr/>
          <p:nvPr/>
        </p:nvSpPr>
        <p:spPr>
          <a:xfrm>
            <a:off x="3962400" y="5200650"/>
            <a:ext cx="27241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2355B"/>
                </a:solidFill>
                <a:latin typeface="Aptos"/>
                <a:ea typeface="Aptos"/>
                <a:cs typeface="Aptos"/>
              </a:defRPr>
            </a:pPr>
            <a:r>
              <a:rPr sz="2025" b="1">
                <a:solidFill>
                  <a:srgbClr val="12355B"/>
                </a:solidFill>
                <a:latin typeface="Aptos"/>
                <a:ea typeface="Aptos"/>
                <a:cs typeface="Aptos"/>
              </a:rPr>
              <a:t>≈ A$15.4m</a:t>
            </a:r>
            <a:endParaRPr sz="2025" b="1">
              <a:solidFill>
                <a:srgbClr val="12355B"/>
              </a:solidFill>
              <a:latin typeface="Aptos"/>
              <a:ea typeface="Aptos"/>
              <a:cs typeface="Aptos"/>
            </a:endParaRPr>
          </a:p>
        </p:txBody>
      </p:sp>
      <p:sp>
        <p:nvSpPr>
          <p:cNvPr id="35" name="矩形: 圆角 34"/>
          <p:cNvSpPr/>
          <p:nvPr/>
        </p:nvSpPr>
        <p:spPr>
          <a:xfrm>
            <a:off x="7448550" y="4667250"/>
            <a:ext cx="3314700" cy="914400"/>
          </a:xfrm>
          <a:prstGeom prst="roundRect">
            <a:avLst>
              <a:gd name="adj" fmla="val 8333"/>
            </a:avLst>
          </a:prstGeom>
          <a:solidFill>
            <a:srgbClr val="DDF7E9"/>
          </a:solidFill>
          <a:ln w="13335">
            <a:solidFill>
              <a:srgbClr val="2EAD66"/>
            </a:solidFill>
            <a:prstDash val="solid"/>
          </a:ln>
        </p:spPr>
      </p:sp>
      <p:sp>
        <p:nvSpPr>
          <p:cNvPr id="36" name="矩形 35"/>
          <p:cNvSpPr/>
          <p:nvPr/>
        </p:nvSpPr>
        <p:spPr>
          <a:xfrm>
            <a:off x="7658100" y="4819650"/>
            <a:ext cx="1143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EAD66"/>
                </a:solidFill>
                <a:latin typeface="Aptos"/>
                <a:ea typeface="Aptos"/>
                <a:cs typeface="Aptos"/>
              </a:defRPr>
            </a:pPr>
            <a:r>
              <a:rPr sz="1275" b="1">
                <a:solidFill>
                  <a:srgbClr val="2EAD66"/>
                </a:solidFill>
                <a:latin typeface="Aptos"/>
                <a:ea typeface="Aptos"/>
                <a:cs typeface="Aptos"/>
              </a:rPr>
              <a:t>Conclusion</a:t>
            </a:r>
            <a:endParaRPr sz="1275" b="1">
              <a:solidFill>
                <a:srgbClr val="2EAD66"/>
              </a:solidFill>
              <a:latin typeface="Aptos"/>
              <a:ea typeface="Aptos"/>
              <a:cs typeface="Aptos"/>
            </a:endParaRPr>
          </a:p>
        </p:txBody>
      </p:sp>
      <p:sp>
        <p:nvSpPr>
          <p:cNvPr id="37" name="矩形 36"/>
          <p:cNvSpPr/>
          <p:nvPr/>
        </p:nvSpPr>
        <p:spPr>
          <a:xfrm>
            <a:off x="7658100" y="5067300"/>
            <a:ext cx="28575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12355B"/>
                </a:solidFill>
                <a:latin typeface="Aptos"/>
                <a:ea typeface="Aptos"/>
                <a:cs typeface="Aptos"/>
              </a:defRPr>
            </a:pPr>
            <a:r>
              <a:rPr sz="1240" b="1">
                <a:solidFill>
                  <a:srgbClr val="12355B"/>
                </a:solidFill>
                <a:latin typeface="Aptos"/>
                <a:ea typeface="Aptos"/>
                <a:cs typeface="Aptos"/>
              </a:rPr>
              <a:t>Could save per year:</a:t>
            </a:r>
            <a:endParaRPr sz="1240" b="1">
              <a:solidFill>
                <a:srgbClr val="12355B"/>
              </a:solidFill>
              <a:latin typeface="Aptos"/>
              <a:ea typeface="Aptos"/>
              <a:cs typeface="Aptos"/>
            </a:endParaRPr>
          </a:p>
          <a:p>
            <a:pPr algn="l">
              <a:defRPr sz="1240" b="1">
                <a:solidFill>
                  <a:srgbClr val="12355B"/>
                </a:solidFill>
                <a:latin typeface="Aptos"/>
                <a:ea typeface="Aptos"/>
                <a:cs typeface="Aptos"/>
              </a:defRPr>
            </a:pPr>
            <a:r>
              <a:rPr sz="1240" b="1">
                <a:solidFill>
                  <a:srgbClr val="12355B"/>
                </a:solidFill>
                <a:latin typeface="Aptos"/>
                <a:ea typeface="Aptos"/>
                <a:cs typeface="Aptos"/>
              </a:rPr>
              <a:t>6.86 GWh | A$0.51m | 4,596 t CO2-e</a:t>
            </a:r>
            <a:endParaRPr sz="1240" b="1">
              <a:solidFill>
                <a:srgbClr val="12355B"/>
              </a:solidFill>
              <a:latin typeface="Aptos"/>
              <a:ea typeface="Aptos"/>
              <a:cs typeface="Aptos"/>
            </a:endParaRPr>
          </a:p>
        </p:txBody>
      </p:sp>
      <p:sp>
        <p:nvSpPr>
          <p:cNvPr id="38" name="矩形 37"/>
          <p:cNvSpPr/>
          <p:nvPr/>
        </p:nvSpPr>
        <p:spPr>
          <a:xfrm>
            <a:off x="3981450" y="5905500"/>
            <a:ext cx="6324600" cy="323850"/>
          </a:xfrm>
          <a:prstGeom prst="rect">
            <a:avLst/>
          </a:prstGeom>
          <a:solidFill>
            <a:srgbClr val="FFF1F1"/>
          </a:solidFill>
          <a:ln w="9525">
            <a:solidFill>
              <a:srgbClr val="F0B2B2"/>
            </a:solidFill>
            <a:prstDash val="solid"/>
          </a:ln>
        </p:spPr>
        <p:txBody>
          <a:bodyPr lIns="95250" tIns="76200" rIns="95250" bIns="76200" anchor="t"/>
          <a:lstStyle/>
          <a:p>
            <a:pPr algn="ctr">
              <a:defRPr sz="1200" b="1">
                <a:solidFill>
                  <a:srgbClr val="CC3D3D"/>
                </a:solidFill>
                <a:latin typeface="Aptos"/>
                <a:ea typeface="Aptos"/>
                <a:cs typeface="Aptos"/>
              </a:defRPr>
            </a:pPr>
            <a:r>
              <a:rPr sz="1200" b="1">
                <a:solidFill>
                  <a:srgbClr val="CC3D3D"/>
                </a:solidFill>
                <a:latin typeface="Aptos"/>
                <a:ea typeface="Aptos"/>
                <a:cs typeface="Aptos"/>
              </a:rPr>
              <a:t>Gross saving before material, testing, certification, and maintenance costs</a:t>
            </a:r>
            <a:endParaRPr sz="1200" b="1">
              <a:solidFill>
                <a:srgbClr val="CC3D3D"/>
              </a:solidFill>
              <a:latin typeface="Aptos"/>
              <a:ea typeface="Aptos"/>
              <a:cs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0" y="0"/>
            <a:ext cx="12192000" cy="6858000"/>
          </a:xfrm>
          <a:prstGeom prst="rect">
            <a:avLst/>
          </a:prstGeom>
          <a:solidFill>
            <a:srgbClr val="FFFFFF"/>
          </a:solidFill>
          <a:ln w="0">
            <a:solidFill>
              <a:srgbClr val="000000">
                <a:alpha val="0"/>
              </a:srgbClr>
            </a:solidFill>
            <a:prstDash val="solid"/>
          </a:ln>
        </p:spPr>
      </p:sp>
      <p:sp>
        <p:nvSpPr>
          <p:cNvPr id="2" name="矩形 1"/>
          <p:cNvSpPr/>
          <p:nvPr/>
        </p:nvSpPr>
        <p:spPr>
          <a:xfrm>
            <a:off x="0" y="0"/>
            <a:ext cx="12192000" cy="85725"/>
          </a:xfrm>
          <a:prstGeom prst="rect">
            <a:avLst/>
          </a:prstGeom>
          <a:solidFill>
            <a:srgbClr val="1F6FEB"/>
          </a:solidFill>
          <a:ln w="0">
            <a:solidFill>
              <a:srgbClr val="000000">
                <a:alpha val="0"/>
              </a:srgbClr>
            </a:solidFill>
            <a:prstDash val="solid"/>
          </a:ln>
        </p:spPr>
      </p:sp>
      <p:sp>
        <p:nvSpPr>
          <p:cNvPr id="3" name="矩形 2"/>
          <p:cNvSpPr/>
          <p:nvPr/>
        </p:nvSpPr>
        <p:spPr>
          <a:xfrm>
            <a:off x="0" y="85725"/>
            <a:ext cx="3429000" cy="47625"/>
          </a:xfrm>
          <a:prstGeom prst="rect">
            <a:avLst/>
          </a:prstGeom>
          <a:solidFill>
            <a:srgbClr val="2EAD66"/>
          </a:solidFill>
          <a:ln w="0">
            <a:solidFill>
              <a:srgbClr val="000000">
                <a:alpha val="0"/>
              </a:srgbClr>
            </a:solidFill>
            <a:prstDash val="solid"/>
          </a:ln>
        </p:spPr>
      </p:sp>
      <p:sp>
        <p:nvSpPr>
          <p:cNvPr id="4" name="矩形 3"/>
          <p:cNvSpPr/>
          <p:nvPr/>
        </p:nvSpPr>
        <p:spPr>
          <a:xfrm>
            <a:off x="514350" y="323850"/>
            <a:ext cx="86677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12355B"/>
                </a:solidFill>
                <a:latin typeface="Aptos Display"/>
                <a:ea typeface="Aptos Display"/>
                <a:cs typeface="Aptos Display"/>
              </a:defRPr>
            </a:pPr>
            <a:r>
              <a:rPr sz="2325" b="1">
                <a:solidFill>
                  <a:srgbClr val="12355B"/>
                </a:solidFill>
                <a:latin typeface="Aptos Display"/>
                <a:ea typeface="Aptos Display"/>
                <a:cs typeface="Aptos Display"/>
              </a:rPr>
              <a:t>How the Solution Works</a:t>
            </a:r>
            <a:endParaRPr sz="2325" b="1">
              <a:solidFill>
                <a:srgbClr val="12355B"/>
              </a:solidFill>
              <a:latin typeface="Aptos Display"/>
              <a:ea typeface="Aptos Display"/>
              <a:cs typeface="Aptos Display"/>
            </a:endParaRPr>
          </a:p>
        </p:txBody>
      </p:sp>
      <p:sp>
        <p:nvSpPr>
          <p:cNvPr id="5" name="矩形 4"/>
          <p:cNvSpPr/>
          <p:nvPr/>
        </p:nvSpPr>
        <p:spPr>
          <a:xfrm>
            <a:off x="533400" y="762000"/>
            <a:ext cx="8382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F6B7A"/>
                </a:solidFill>
                <a:latin typeface="Aptos"/>
                <a:ea typeface="Aptos"/>
                <a:cs typeface="Aptos"/>
              </a:defRPr>
            </a:pPr>
            <a:r>
              <a:rPr sz="1200" b="0">
                <a:solidFill>
                  <a:srgbClr val="5F6B7A"/>
                </a:solidFill>
                <a:latin typeface="Aptos"/>
                <a:ea typeface="Aptos"/>
                <a:cs typeface="Aptos"/>
              </a:rPr>
              <a:t>Lightweight recycled CFRP reduces carriage mass while keeping structural performance in selected components.</a:t>
            </a:r>
            <a:endParaRPr sz="1200" b="0">
              <a:solidFill>
                <a:srgbClr val="5F6B7A"/>
              </a:solidFill>
              <a:latin typeface="Aptos"/>
              <a:ea typeface="Aptos"/>
              <a:cs typeface="Aptos"/>
            </a:endParaRPr>
          </a:p>
        </p:txBody>
      </p:sp>
      <p:sp>
        <p:nvSpPr>
          <p:cNvPr id="6" name="矩形 5"/>
          <p:cNvSpPr/>
          <p:nvPr/>
        </p:nvSpPr>
        <p:spPr>
          <a:xfrm>
            <a:off x="11106150" y="3619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F6B7A"/>
                </a:solidFill>
                <a:latin typeface="Aptos"/>
                <a:ea typeface="Aptos"/>
                <a:cs typeface="Aptos"/>
              </a:defRPr>
            </a:pPr>
            <a:r>
              <a:rPr lang="en-US" sz="1050" b="0">
                <a:solidFill>
                  <a:srgbClr val="5F6B7A"/>
                </a:solidFill>
                <a:latin typeface="Aptos"/>
                <a:ea typeface="Aptos"/>
                <a:cs typeface="Aptos"/>
              </a:rPr>
              <a:t>08</a:t>
            </a:r>
            <a:endParaRPr lang="en-US" sz="1050" b="0">
              <a:solidFill>
                <a:srgbClr val="5F6B7A"/>
              </a:solidFill>
              <a:latin typeface="Aptos"/>
              <a:ea typeface="Aptos"/>
              <a:cs typeface="Aptos"/>
            </a:endParaRPr>
          </a:p>
        </p:txBody>
      </p:sp>
      <p:sp>
        <p:nvSpPr>
          <p:cNvPr id="7" name="矩形: 圆角 6"/>
          <p:cNvSpPr/>
          <p:nvPr/>
        </p:nvSpPr>
        <p:spPr>
          <a:xfrm>
            <a:off x="9191625" y="361950"/>
            <a:ext cx="1619250" cy="266700"/>
          </a:xfrm>
          <a:prstGeom prst="roundRect">
            <a:avLst>
              <a:gd name="adj" fmla="val 28571"/>
            </a:avLst>
          </a:prstGeom>
          <a:solidFill>
            <a:srgbClr val="F6F8FB"/>
          </a:solidFill>
          <a:ln w="9525">
            <a:solidFill>
              <a:srgbClr val="C9D4E2"/>
            </a:solidFill>
            <a:prstDash val="solid"/>
          </a:ln>
        </p:spPr>
      </p:sp>
      <p:sp>
        <p:nvSpPr>
          <p:cNvPr id="8" name="矩形 7"/>
          <p:cNvSpPr/>
          <p:nvPr/>
        </p:nvSpPr>
        <p:spPr>
          <a:xfrm>
            <a:off x="9296400" y="428625"/>
            <a:ext cx="1409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90" b="1">
                <a:solidFill>
                  <a:srgbClr val="12355B"/>
                </a:solidFill>
                <a:latin typeface="Aptos"/>
                <a:ea typeface="Aptos"/>
                <a:cs typeface="Aptos"/>
              </a:defRPr>
            </a:pPr>
            <a:r>
              <a:rPr sz="790" b="1" dirty="0">
                <a:solidFill>
                  <a:srgbClr val="12355B"/>
                </a:solidFill>
                <a:latin typeface="Aptos"/>
                <a:ea typeface="Aptos"/>
                <a:cs typeface="Aptos"/>
              </a:rPr>
              <a:t>Presenter:</a:t>
            </a:r>
            <a:r>
              <a:rPr lang="en-US" sz="790" b="1" dirty="0">
                <a:solidFill>
                  <a:srgbClr val="12355B"/>
                </a:solidFill>
                <a:latin typeface="Aptos"/>
                <a:ea typeface="Aptos"/>
                <a:cs typeface="Aptos"/>
              </a:rPr>
              <a:t>Guo GuangHan</a:t>
            </a:r>
            <a:endParaRPr lang="en-US" sz="790" b="1" dirty="0">
              <a:solidFill>
                <a:srgbClr val="12355B"/>
              </a:solidFill>
              <a:latin typeface="Aptos"/>
              <a:ea typeface="Aptos"/>
              <a:cs typeface="Aptos"/>
            </a:endParaRPr>
          </a:p>
        </p:txBody>
      </p:sp>
      <p:pic>
        <p:nvPicPr>
          <p:cNvPr id="9" name="图片 8"/>
          <p:cNvPicPr>
            <a:picLocks noChangeAspect="1"/>
          </p:cNvPicPr>
          <p:nvPr/>
        </p:nvPicPr>
        <p:blipFill>
          <a:blip r:embed="rId1"/>
          <a:srcRect l="4123" r="4123"/>
          <a:stretch>
            <a:fillRect/>
          </a:stretch>
        </p:blipFill>
        <p:spPr>
          <a:xfrm>
            <a:off x="590550" y="1314450"/>
            <a:ext cx="5124450" cy="3143250"/>
          </a:xfrm>
          <a:prstGeom prst="rect">
            <a:avLst/>
          </a:prstGeom>
        </p:spPr>
      </p:pic>
      <p:sp>
        <p:nvSpPr>
          <p:cNvPr id="10" name="矩形 9"/>
          <p:cNvSpPr/>
          <p:nvPr/>
        </p:nvSpPr>
        <p:spPr>
          <a:xfrm>
            <a:off x="590550" y="1314450"/>
            <a:ext cx="5124450" cy="3143250"/>
          </a:xfrm>
          <a:prstGeom prst="rect">
            <a:avLst/>
          </a:prstGeom>
          <a:solidFill>
            <a:srgbClr val="000000">
              <a:alpha val="0"/>
            </a:srgbClr>
          </a:solidFill>
          <a:ln w="9525">
            <a:solidFill>
              <a:srgbClr val="C9D4E2"/>
            </a:solidFill>
            <a:prstDash val="solid"/>
          </a:ln>
        </p:spPr>
      </p:sp>
      <p:sp>
        <p:nvSpPr>
          <p:cNvPr id="11" name="矩形 10"/>
          <p:cNvSpPr/>
          <p:nvPr/>
        </p:nvSpPr>
        <p:spPr>
          <a:xfrm>
            <a:off x="990600" y="4667250"/>
            <a:ext cx="4324350" cy="304800"/>
          </a:xfrm>
          <a:prstGeom prst="rect">
            <a:avLst/>
          </a:prstGeom>
          <a:solidFill>
            <a:srgbClr val="F6F8FB"/>
          </a:solidFill>
          <a:ln w="9525">
            <a:solidFill>
              <a:srgbClr val="C9D4E2"/>
            </a:solidFill>
            <a:prstDash val="solid"/>
          </a:ln>
        </p:spPr>
        <p:txBody>
          <a:bodyPr lIns="95250" tIns="76200" rIns="95250" bIns="76200" anchor="t"/>
          <a:lstStyle/>
          <a:p>
            <a:pPr algn="ctr">
              <a:defRPr sz="1725" b="1">
                <a:solidFill>
                  <a:srgbClr val="12355B"/>
                </a:solidFill>
                <a:latin typeface="Aptos"/>
                <a:ea typeface="Aptos"/>
                <a:cs typeface="Aptos"/>
              </a:defRPr>
            </a:pPr>
            <a:r>
              <a:rPr sz="1725" b="1">
                <a:solidFill>
                  <a:srgbClr val="12355B"/>
                </a:solidFill>
                <a:latin typeface="Aptos"/>
                <a:ea typeface="Aptos"/>
                <a:cs typeface="Aptos"/>
              </a:rPr>
              <a:t>Selected carriage panels</a:t>
            </a:r>
            <a:endParaRPr sz="1725" b="1">
              <a:solidFill>
                <a:srgbClr val="12355B"/>
              </a:solidFill>
              <a:latin typeface="Aptos"/>
              <a:ea typeface="Aptos"/>
              <a:cs typeface="Aptos"/>
            </a:endParaRPr>
          </a:p>
        </p:txBody>
      </p:sp>
      <p:sp>
        <p:nvSpPr>
          <p:cNvPr id="12" name="矩形: 圆角 11"/>
          <p:cNvSpPr/>
          <p:nvPr/>
        </p:nvSpPr>
        <p:spPr>
          <a:xfrm>
            <a:off x="6238875" y="1809750"/>
            <a:ext cx="1428750" cy="1200150"/>
          </a:xfrm>
          <a:prstGeom prst="roundRect">
            <a:avLst>
              <a:gd name="adj" fmla="val 6349"/>
            </a:avLst>
          </a:prstGeom>
          <a:solidFill>
            <a:srgbClr val="D9EAFE"/>
          </a:solidFill>
          <a:ln w="13335">
            <a:solidFill>
              <a:srgbClr val="1F6FEB"/>
            </a:solidFill>
            <a:prstDash val="solid"/>
          </a:ln>
        </p:spPr>
      </p:sp>
      <p:sp>
        <p:nvSpPr>
          <p:cNvPr id="13" name="矩形 12"/>
          <p:cNvSpPr/>
          <p:nvPr/>
        </p:nvSpPr>
        <p:spPr>
          <a:xfrm>
            <a:off x="6353175" y="2038350"/>
            <a:ext cx="12001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1F6FEB"/>
                </a:solidFill>
                <a:latin typeface="Aptos"/>
                <a:ea typeface="Aptos"/>
                <a:cs typeface="Aptos"/>
              </a:defRPr>
            </a:pPr>
            <a:r>
              <a:rPr sz="1050" b="1">
                <a:solidFill>
                  <a:srgbClr val="1F6FEB"/>
                </a:solidFill>
                <a:latin typeface="Aptos"/>
                <a:ea typeface="Aptos"/>
                <a:cs typeface="Aptos"/>
              </a:rPr>
              <a:t>Material substitution</a:t>
            </a:r>
            <a:endParaRPr sz="1050" b="1">
              <a:solidFill>
                <a:srgbClr val="1F6FEB"/>
              </a:solidFill>
              <a:latin typeface="Aptos"/>
              <a:ea typeface="Aptos"/>
              <a:cs typeface="Aptos"/>
            </a:endParaRPr>
          </a:p>
        </p:txBody>
      </p:sp>
      <p:sp>
        <p:nvSpPr>
          <p:cNvPr id="14" name="矩形 13"/>
          <p:cNvSpPr/>
          <p:nvPr/>
        </p:nvSpPr>
        <p:spPr>
          <a:xfrm>
            <a:off x="6353175" y="2381250"/>
            <a:ext cx="120015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2355B"/>
                </a:solidFill>
                <a:latin typeface="Aptos"/>
                <a:ea typeface="Aptos"/>
                <a:cs typeface="Aptos"/>
              </a:defRPr>
            </a:pPr>
            <a:r>
              <a:rPr sz="1350" b="1">
                <a:solidFill>
                  <a:srgbClr val="12355B"/>
                </a:solidFill>
                <a:latin typeface="Aptos"/>
                <a:ea typeface="Aptos"/>
                <a:cs typeface="Aptos"/>
              </a:rPr>
              <a:t>Recycled CFRP panels</a:t>
            </a:r>
            <a:endParaRPr sz="1350" b="1">
              <a:solidFill>
                <a:srgbClr val="12355B"/>
              </a:solidFill>
              <a:latin typeface="Aptos"/>
              <a:ea typeface="Aptos"/>
              <a:cs typeface="Aptos"/>
            </a:endParaRPr>
          </a:p>
        </p:txBody>
      </p:sp>
      <p:sp>
        <p:nvSpPr>
          <p:cNvPr id="15" name="箭头: 右 14"/>
          <p:cNvSpPr/>
          <p:nvPr/>
        </p:nvSpPr>
        <p:spPr>
          <a:xfrm>
            <a:off x="7724775" y="2266950"/>
            <a:ext cx="342900" cy="266700"/>
          </a:xfrm>
          <a:prstGeom prst="rightArrow">
            <a:avLst/>
          </a:prstGeom>
          <a:solidFill>
            <a:srgbClr val="2EAD66"/>
          </a:solidFill>
          <a:ln w="9525">
            <a:solidFill>
              <a:srgbClr val="2EAD66"/>
            </a:solidFill>
            <a:prstDash val="solid"/>
          </a:ln>
        </p:spPr>
      </p:sp>
      <p:sp>
        <p:nvSpPr>
          <p:cNvPr id="16" name="矩形: 圆角 15"/>
          <p:cNvSpPr/>
          <p:nvPr/>
        </p:nvSpPr>
        <p:spPr>
          <a:xfrm>
            <a:off x="7991475" y="1809750"/>
            <a:ext cx="1428750" cy="1200150"/>
          </a:xfrm>
          <a:prstGeom prst="roundRect">
            <a:avLst>
              <a:gd name="adj" fmla="val 6349"/>
            </a:avLst>
          </a:prstGeom>
          <a:solidFill>
            <a:srgbClr val="DDF7E9"/>
          </a:solidFill>
          <a:ln w="13335">
            <a:solidFill>
              <a:srgbClr val="2EAD66"/>
            </a:solidFill>
            <a:prstDash val="solid"/>
          </a:ln>
        </p:spPr>
      </p:sp>
      <p:sp>
        <p:nvSpPr>
          <p:cNvPr id="17" name="矩形 16"/>
          <p:cNvSpPr/>
          <p:nvPr/>
        </p:nvSpPr>
        <p:spPr>
          <a:xfrm>
            <a:off x="8105775" y="2038350"/>
            <a:ext cx="12001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2EAD66"/>
                </a:solidFill>
                <a:latin typeface="Aptos"/>
                <a:ea typeface="Aptos"/>
                <a:cs typeface="Aptos"/>
              </a:defRPr>
            </a:pPr>
            <a:r>
              <a:rPr sz="1050" b="1">
                <a:solidFill>
                  <a:srgbClr val="2EAD66"/>
                </a:solidFill>
                <a:latin typeface="Aptos"/>
                <a:ea typeface="Aptos"/>
                <a:cs typeface="Aptos"/>
              </a:rPr>
              <a:t>Mass reduction</a:t>
            </a:r>
            <a:endParaRPr sz="1050" b="1">
              <a:solidFill>
                <a:srgbClr val="2EAD66"/>
              </a:solidFill>
              <a:latin typeface="Aptos"/>
              <a:ea typeface="Aptos"/>
              <a:cs typeface="Aptos"/>
            </a:endParaRPr>
          </a:p>
        </p:txBody>
      </p:sp>
      <p:sp>
        <p:nvSpPr>
          <p:cNvPr id="18" name="矩形 17"/>
          <p:cNvSpPr/>
          <p:nvPr/>
        </p:nvSpPr>
        <p:spPr>
          <a:xfrm>
            <a:off x="8105775" y="2381250"/>
            <a:ext cx="120015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2355B"/>
                </a:solidFill>
                <a:latin typeface="Aptos"/>
                <a:ea typeface="Aptos"/>
                <a:cs typeface="Aptos"/>
              </a:defRPr>
            </a:pPr>
            <a:r>
              <a:rPr sz="1350" b="1">
                <a:solidFill>
                  <a:srgbClr val="12355B"/>
                </a:solidFill>
                <a:latin typeface="Aptos"/>
                <a:ea typeface="Aptos"/>
                <a:cs typeface="Aptos"/>
              </a:rPr>
              <a:t>Lower carriage weight</a:t>
            </a:r>
            <a:endParaRPr sz="1350" b="1">
              <a:solidFill>
                <a:srgbClr val="12355B"/>
              </a:solidFill>
              <a:latin typeface="Aptos"/>
              <a:ea typeface="Aptos"/>
              <a:cs typeface="Aptos"/>
            </a:endParaRPr>
          </a:p>
        </p:txBody>
      </p:sp>
      <p:sp>
        <p:nvSpPr>
          <p:cNvPr id="19" name="箭头: 右 18"/>
          <p:cNvSpPr/>
          <p:nvPr/>
        </p:nvSpPr>
        <p:spPr>
          <a:xfrm>
            <a:off x="9477375" y="2266950"/>
            <a:ext cx="342900" cy="266700"/>
          </a:xfrm>
          <a:prstGeom prst="rightArrow">
            <a:avLst/>
          </a:prstGeom>
          <a:solidFill>
            <a:srgbClr val="1F6FEB"/>
          </a:solidFill>
          <a:ln w="9525">
            <a:solidFill>
              <a:srgbClr val="1F6FEB"/>
            </a:solidFill>
            <a:prstDash val="solid"/>
          </a:ln>
        </p:spPr>
      </p:sp>
      <p:sp>
        <p:nvSpPr>
          <p:cNvPr id="20" name="矩形: 圆角 19"/>
          <p:cNvSpPr/>
          <p:nvPr/>
        </p:nvSpPr>
        <p:spPr>
          <a:xfrm>
            <a:off x="9744075" y="1809750"/>
            <a:ext cx="1428750" cy="1200150"/>
          </a:xfrm>
          <a:prstGeom prst="roundRect">
            <a:avLst>
              <a:gd name="adj" fmla="val 6349"/>
            </a:avLst>
          </a:prstGeom>
          <a:solidFill>
            <a:srgbClr val="D9EAFE"/>
          </a:solidFill>
          <a:ln w="13335">
            <a:solidFill>
              <a:srgbClr val="1F6FEB"/>
            </a:solidFill>
            <a:prstDash val="solid"/>
          </a:ln>
        </p:spPr>
      </p:sp>
      <p:sp>
        <p:nvSpPr>
          <p:cNvPr id="21" name="矩形 20"/>
          <p:cNvSpPr/>
          <p:nvPr/>
        </p:nvSpPr>
        <p:spPr>
          <a:xfrm>
            <a:off x="9858375" y="2038350"/>
            <a:ext cx="12001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1F6FEB"/>
                </a:solidFill>
                <a:latin typeface="Aptos"/>
                <a:ea typeface="Aptos"/>
                <a:cs typeface="Aptos"/>
              </a:defRPr>
            </a:pPr>
            <a:r>
              <a:rPr sz="1050" b="1">
                <a:solidFill>
                  <a:srgbClr val="1F6FEB"/>
                </a:solidFill>
                <a:latin typeface="Aptos"/>
                <a:ea typeface="Aptos"/>
                <a:cs typeface="Aptos"/>
              </a:rPr>
              <a:t>Operational effect</a:t>
            </a:r>
            <a:endParaRPr sz="1050" b="1">
              <a:solidFill>
                <a:srgbClr val="1F6FEB"/>
              </a:solidFill>
              <a:latin typeface="Aptos"/>
              <a:ea typeface="Aptos"/>
              <a:cs typeface="Aptos"/>
            </a:endParaRPr>
          </a:p>
        </p:txBody>
      </p:sp>
      <p:sp>
        <p:nvSpPr>
          <p:cNvPr id="22" name="矩形 21"/>
          <p:cNvSpPr/>
          <p:nvPr/>
        </p:nvSpPr>
        <p:spPr>
          <a:xfrm>
            <a:off x="9858375" y="2381250"/>
            <a:ext cx="120015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2355B"/>
                </a:solidFill>
                <a:latin typeface="Aptos"/>
                <a:ea typeface="Aptos"/>
                <a:cs typeface="Aptos"/>
              </a:defRPr>
            </a:pPr>
            <a:r>
              <a:rPr sz="1350" b="1">
                <a:solidFill>
                  <a:srgbClr val="12355B"/>
                </a:solidFill>
                <a:latin typeface="Aptos"/>
                <a:ea typeface="Aptos"/>
                <a:cs typeface="Aptos"/>
              </a:rPr>
              <a:t>Lower energy demand</a:t>
            </a:r>
            <a:endParaRPr sz="1350" b="1">
              <a:solidFill>
                <a:srgbClr val="12355B"/>
              </a:solidFill>
              <a:latin typeface="Aptos"/>
              <a:ea typeface="Aptos"/>
              <a:cs typeface="Aptos"/>
            </a:endParaRPr>
          </a:p>
        </p:txBody>
      </p:sp>
      <p:sp>
        <p:nvSpPr>
          <p:cNvPr id="23" name="矩形: 圆角 22"/>
          <p:cNvSpPr/>
          <p:nvPr/>
        </p:nvSpPr>
        <p:spPr>
          <a:xfrm>
            <a:off x="6381750" y="3714750"/>
            <a:ext cx="4095750" cy="1066800"/>
          </a:xfrm>
          <a:prstGeom prst="roundRect">
            <a:avLst>
              <a:gd name="adj" fmla="val 7143"/>
            </a:avLst>
          </a:prstGeom>
          <a:solidFill>
            <a:srgbClr val="DDF7E9"/>
          </a:solidFill>
          <a:ln w="13335">
            <a:solidFill>
              <a:srgbClr val="2EAD66"/>
            </a:solidFill>
            <a:prstDash val="solid"/>
          </a:ln>
        </p:spPr>
      </p:sp>
      <p:pic>
        <p:nvPicPr>
          <p:cNvPr id="24" name="图形 23"/>
          <p:cNvPicPr>
            <a:picLocks noChangeAspect="1"/>
          </p:cNvPicPr>
          <p:nvPr/>
        </p:nvPicPr>
        <p:blipFill>
          <a:blip/>
          <a:stretch>
            <a:fillRect/>
          </a:stretch>
        </p:blipFill>
        <p:spPr>
          <a:xfrm>
            <a:off x="6629400" y="3943350"/>
            <a:ext cx="342900" cy="342900"/>
          </a:xfrm>
          <a:prstGeom prst="rect">
            <a:avLst/>
          </a:prstGeom>
        </p:spPr>
      </p:pic>
      <p:sp>
        <p:nvSpPr>
          <p:cNvPr id="25" name="矩形 24"/>
          <p:cNvSpPr/>
          <p:nvPr/>
        </p:nvSpPr>
        <p:spPr>
          <a:xfrm>
            <a:off x="7143750" y="3848100"/>
            <a:ext cx="24765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2355B"/>
                </a:solidFill>
                <a:latin typeface="Aptos"/>
                <a:ea typeface="Aptos"/>
                <a:cs typeface="Aptos"/>
              </a:defRPr>
            </a:pPr>
            <a:r>
              <a:rPr sz="1650" b="1">
                <a:solidFill>
                  <a:srgbClr val="12355B"/>
                </a:solidFill>
                <a:latin typeface="Aptos"/>
                <a:ea typeface="Aptos"/>
                <a:cs typeface="Aptos"/>
              </a:rPr>
              <a:t>Life-cycle benefit</a:t>
            </a:r>
            <a:endParaRPr sz="1650" b="1">
              <a:solidFill>
                <a:srgbClr val="12355B"/>
              </a:solidFill>
              <a:latin typeface="Aptos"/>
              <a:ea typeface="Aptos"/>
              <a:cs typeface="Aptos"/>
            </a:endParaRPr>
          </a:p>
        </p:txBody>
      </p:sp>
      <p:sp>
        <p:nvSpPr>
          <p:cNvPr id="26" name="矩形 25"/>
          <p:cNvSpPr/>
          <p:nvPr/>
        </p:nvSpPr>
        <p:spPr>
          <a:xfrm>
            <a:off x="7143750" y="4191000"/>
            <a:ext cx="29527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72033"/>
                </a:solidFill>
                <a:latin typeface="Aptos"/>
                <a:ea typeface="Aptos"/>
                <a:cs typeface="Aptos"/>
              </a:defRPr>
            </a:pPr>
            <a:r>
              <a:rPr sz="1200" b="0" dirty="0">
                <a:solidFill>
                  <a:srgbClr val="172033"/>
                </a:solidFill>
                <a:latin typeface="Aptos"/>
                <a:ea typeface="Aptos"/>
                <a:cs typeface="Aptos"/>
              </a:rPr>
              <a:t>Less energy use may reduce cost and CO2-e over long operation.</a:t>
            </a:r>
            <a:endParaRPr sz="1200" b="0" dirty="0">
              <a:solidFill>
                <a:srgbClr val="172033"/>
              </a:solidFill>
              <a:latin typeface="Aptos"/>
              <a:ea typeface="Aptos"/>
              <a:cs typeface="Aptos"/>
            </a:endParaRPr>
          </a:p>
        </p:txBody>
      </p:sp>
      <p:sp>
        <p:nvSpPr>
          <p:cNvPr id="27" name="矩形 26"/>
          <p:cNvSpPr/>
          <p:nvPr/>
        </p:nvSpPr>
        <p:spPr>
          <a:xfrm>
            <a:off x="1790700" y="5619750"/>
            <a:ext cx="8020050" cy="361950"/>
          </a:xfrm>
          <a:prstGeom prst="rect">
            <a:avLst/>
          </a:prstGeom>
          <a:solidFill>
            <a:srgbClr val="D9EAFE"/>
          </a:solidFill>
          <a:ln w="9525">
            <a:solidFill>
              <a:srgbClr val="1F6FEB"/>
            </a:solidFill>
            <a:prstDash val="solid"/>
          </a:ln>
        </p:spPr>
        <p:txBody>
          <a:bodyPr lIns="95250" tIns="76200" rIns="95250" bIns="76200" anchor="t"/>
          <a:lstStyle/>
          <a:p>
            <a:pPr algn="ctr">
              <a:defRPr sz="1875" b="1">
                <a:solidFill>
                  <a:srgbClr val="12355B"/>
                </a:solidFill>
                <a:latin typeface="Aptos"/>
                <a:ea typeface="Aptos"/>
                <a:cs typeface="Aptos"/>
              </a:defRPr>
            </a:pPr>
            <a:r>
              <a:rPr sz="1875" b="1">
                <a:solidFill>
                  <a:srgbClr val="12355B"/>
                </a:solidFill>
                <a:latin typeface="Aptos"/>
                <a:ea typeface="Aptos"/>
                <a:cs typeface="Aptos"/>
              </a:rPr>
              <a:t>Key principle: reduce mass without compromising rail safety.</a:t>
            </a:r>
            <a:endParaRPr sz="1875" b="1">
              <a:solidFill>
                <a:srgbClr val="12355B"/>
              </a:solidFill>
              <a:latin typeface="Aptos"/>
              <a:ea typeface="Aptos"/>
              <a:cs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0" y="0"/>
            <a:ext cx="12192000" cy="6858000"/>
          </a:xfrm>
          <a:prstGeom prst="rect">
            <a:avLst/>
          </a:prstGeom>
          <a:solidFill>
            <a:srgbClr val="FFFFFF"/>
          </a:solidFill>
          <a:ln w="0">
            <a:solidFill>
              <a:srgbClr val="000000">
                <a:alpha val="0"/>
              </a:srgbClr>
            </a:solidFill>
            <a:prstDash val="solid"/>
          </a:ln>
        </p:spPr>
      </p:sp>
      <p:sp>
        <p:nvSpPr>
          <p:cNvPr id="2" name="矩形 1"/>
          <p:cNvSpPr/>
          <p:nvPr/>
        </p:nvSpPr>
        <p:spPr>
          <a:xfrm>
            <a:off x="0" y="0"/>
            <a:ext cx="12192000" cy="85725"/>
          </a:xfrm>
          <a:prstGeom prst="rect">
            <a:avLst/>
          </a:prstGeom>
          <a:solidFill>
            <a:srgbClr val="1F6FEB"/>
          </a:solidFill>
          <a:ln w="0">
            <a:solidFill>
              <a:srgbClr val="000000">
                <a:alpha val="0"/>
              </a:srgbClr>
            </a:solidFill>
            <a:prstDash val="solid"/>
          </a:ln>
        </p:spPr>
      </p:sp>
      <p:sp>
        <p:nvSpPr>
          <p:cNvPr id="3" name="矩形 2"/>
          <p:cNvSpPr/>
          <p:nvPr/>
        </p:nvSpPr>
        <p:spPr>
          <a:xfrm>
            <a:off x="0" y="85725"/>
            <a:ext cx="3429000" cy="47625"/>
          </a:xfrm>
          <a:prstGeom prst="rect">
            <a:avLst/>
          </a:prstGeom>
          <a:solidFill>
            <a:srgbClr val="2EAD66"/>
          </a:solidFill>
          <a:ln w="0">
            <a:solidFill>
              <a:srgbClr val="000000">
                <a:alpha val="0"/>
              </a:srgbClr>
            </a:solidFill>
            <a:prstDash val="solid"/>
          </a:ln>
        </p:spPr>
      </p:sp>
      <p:sp>
        <p:nvSpPr>
          <p:cNvPr id="4" name="矩形 3"/>
          <p:cNvSpPr/>
          <p:nvPr/>
        </p:nvSpPr>
        <p:spPr>
          <a:xfrm>
            <a:off x="514350" y="323850"/>
            <a:ext cx="86677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12355B"/>
                </a:solidFill>
                <a:latin typeface="Aptos Display"/>
                <a:ea typeface="Aptos Display"/>
                <a:cs typeface="Aptos Display"/>
              </a:defRPr>
            </a:pPr>
            <a:r>
              <a:rPr sz="2325" b="1">
                <a:solidFill>
                  <a:srgbClr val="12355B"/>
                </a:solidFill>
                <a:latin typeface="Aptos Display"/>
                <a:ea typeface="Aptos Display"/>
                <a:cs typeface="Aptos Display"/>
              </a:rPr>
              <a:t>Engineering Validation Plan</a:t>
            </a:r>
            <a:endParaRPr sz="2325" b="1">
              <a:solidFill>
                <a:srgbClr val="12355B"/>
              </a:solidFill>
              <a:latin typeface="Aptos Display"/>
              <a:ea typeface="Aptos Display"/>
              <a:cs typeface="Aptos Display"/>
            </a:endParaRPr>
          </a:p>
        </p:txBody>
      </p:sp>
      <p:sp>
        <p:nvSpPr>
          <p:cNvPr id="5" name="矩形 4"/>
          <p:cNvSpPr/>
          <p:nvPr/>
        </p:nvSpPr>
        <p:spPr>
          <a:xfrm>
            <a:off x="533400" y="762000"/>
            <a:ext cx="8382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F6B7A"/>
                </a:solidFill>
                <a:latin typeface="Aptos"/>
                <a:ea typeface="Aptos"/>
                <a:cs typeface="Aptos"/>
              </a:defRPr>
            </a:pPr>
            <a:r>
              <a:rPr sz="1200" b="0">
                <a:solidFill>
                  <a:srgbClr val="5F6B7A"/>
                </a:solidFill>
                <a:latin typeface="Aptos"/>
                <a:ea typeface="Aptos"/>
                <a:cs typeface="Aptos"/>
              </a:rPr>
              <a:t>The next stage is material, safety, and component testing.</a:t>
            </a:r>
            <a:endParaRPr sz="1200" b="0">
              <a:solidFill>
                <a:srgbClr val="5F6B7A"/>
              </a:solidFill>
              <a:latin typeface="Aptos"/>
              <a:ea typeface="Aptos"/>
              <a:cs typeface="Aptos"/>
            </a:endParaRPr>
          </a:p>
        </p:txBody>
      </p:sp>
      <p:sp>
        <p:nvSpPr>
          <p:cNvPr id="6" name="矩形 5"/>
          <p:cNvSpPr/>
          <p:nvPr/>
        </p:nvSpPr>
        <p:spPr>
          <a:xfrm>
            <a:off x="11106150" y="3619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F6B7A"/>
                </a:solidFill>
                <a:latin typeface="Aptos"/>
                <a:ea typeface="Aptos"/>
                <a:cs typeface="Aptos"/>
              </a:defRPr>
            </a:pPr>
            <a:r>
              <a:rPr lang="en-US" sz="1050" b="0">
                <a:solidFill>
                  <a:srgbClr val="5F6B7A"/>
                </a:solidFill>
                <a:latin typeface="Aptos"/>
                <a:ea typeface="Aptos"/>
                <a:cs typeface="Aptos"/>
              </a:rPr>
              <a:t>09</a:t>
            </a:r>
            <a:endParaRPr lang="en-US" sz="1050" b="0">
              <a:solidFill>
                <a:srgbClr val="5F6B7A"/>
              </a:solidFill>
              <a:latin typeface="Aptos"/>
              <a:ea typeface="Aptos"/>
              <a:cs typeface="Aptos"/>
            </a:endParaRPr>
          </a:p>
        </p:txBody>
      </p:sp>
      <p:sp>
        <p:nvSpPr>
          <p:cNvPr id="7" name="矩形: 圆角 6"/>
          <p:cNvSpPr/>
          <p:nvPr/>
        </p:nvSpPr>
        <p:spPr>
          <a:xfrm>
            <a:off x="9191625" y="361950"/>
            <a:ext cx="1619250" cy="266700"/>
          </a:xfrm>
          <a:prstGeom prst="roundRect">
            <a:avLst>
              <a:gd name="adj" fmla="val 28571"/>
            </a:avLst>
          </a:prstGeom>
          <a:solidFill>
            <a:srgbClr val="F6F8FB"/>
          </a:solidFill>
          <a:ln w="9525">
            <a:solidFill>
              <a:srgbClr val="C9D4E2"/>
            </a:solidFill>
            <a:prstDash val="solid"/>
          </a:ln>
        </p:spPr>
      </p:sp>
      <p:sp>
        <p:nvSpPr>
          <p:cNvPr id="8" name="矩形 7"/>
          <p:cNvSpPr/>
          <p:nvPr/>
        </p:nvSpPr>
        <p:spPr>
          <a:xfrm>
            <a:off x="9296400" y="428625"/>
            <a:ext cx="1409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90" b="1">
                <a:solidFill>
                  <a:srgbClr val="12355B"/>
                </a:solidFill>
                <a:latin typeface="Aptos"/>
                <a:ea typeface="Aptos"/>
                <a:cs typeface="Aptos"/>
              </a:defRPr>
            </a:pPr>
            <a:r>
              <a:rPr sz="790" b="1" dirty="0">
                <a:solidFill>
                  <a:srgbClr val="12355B"/>
                </a:solidFill>
                <a:latin typeface="Aptos"/>
                <a:ea typeface="Aptos"/>
                <a:cs typeface="Aptos"/>
              </a:rPr>
              <a:t>Presenter: </a:t>
            </a:r>
            <a:r>
              <a:rPr lang="en-US" sz="790" b="1" dirty="0">
                <a:solidFill>
                  <a:srgbClr val="12355B"/>
                </a:solidFill>
                <a:latin typeface="Aptos"/>
                <a:ea typeface="Aptos"/>
                <a:cs typeface="Aptos"/>
              </a:rPr>
              <a:t>Guo GuangHan</a:t>
            </a:r>
            <a:endParaRPr lang="en-US" sz="790" b="1" dirty="0">
              <a:solidFill>
                <a:srgbClr val="12355B"/>
              </a:solidFill>
              <a:latin typeface="Aptos"/>
              <a:ea typeface="Aptos"/>
              <a:cs typeface="Aptos"/>
            </a:endParaRPr>
          </a:p>
        </p:txBody>
      </p:sp>
      <p:sp>
        <p:nvSpPr>
          <p:cNvPr id="9" name="矩形: 圆角 8"/>
          <p:cNvSpPr/>
          <p:nvPr/>
        </p:nvSpPr>
        <p:spPr>
          <a:xfrm>
            <a:off x="762000" y="1524000"/>
            <a:ext cx="2628900" cy="1009650"/>
          </a:xfrm>
          <a:prstGeom prst="roundRect">
            <a:avLst>
              <a:gd name="adj" fmla="val 7547"/>
            </a:avLst>
          </a:prstGeom>
          <a:solidFill>
            <a:srgbClr val="D9EAFE"/>
          </a:solidFill>
          <a:ln w="13335">
            <a:solidFill>
              <a:srgbClr val="1F6FEB"/>
            </a:solidFill>
            <a:prstDash val="solid"/>
          </a:ln>
        </p:spPr>
      </p:sp>
      <p:sp>
        <p:nvSpPr>
          <p:cNvPr id="10" name="椭圆 9"/>
          <p:cNvSpPr/>
          <p:nvPr/>
        </p:nvSpPr>
        <p:spPr>
          <a:xfrm>
            <a:off x="952500" y="1790700"/>
            <a:ext cx="400050" cy="400050"/>
          </a:xfrm>
          <a:prstGeom prst="ellipse">
            <a:avLst/>
          </a:prstGeom>
          <a:solidFill>
            <a:srgbClr val="FFFFFF"/>
          </a:solidFill>
          <a:ln w="19050">
            <a:solidFill>
              <a:srgbClr val="1F6FEB"/>
            </a:solidFill>
            <a:prstDash val="solid"/>
          </a:ln>
        </p:spPr>
      </p:sp>
      <p:sp>
        <p:nvSpPr>
          <p:cNvPr id="11" name="矩形 10"/>
          <p:cNvSpPr/>
          <p:nvPr/>
        </p:nvSpPr>
        <p:spPr>
          <a:xfrm>
            <a:off x="952500" y="1876425"/>
            <a:ext cx="400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1F6FEB"/>
                </a:solidFill>
                <a:latin typeface="Aptos"/>
                <a:ea typeface="Aptos"/>
                <a:cs typeface="Aptos"/>
              </a:defRPr>
            </a:pPr>
            <a:r>
              <a:rPr sz="1275" b="1">
                <a:solidFill>
                  <a:srgbClr val="1F6FEB"/>
                </a:solidFill>
                <a:latin typeface="Aptos"/>
                <a:ea typeface="Aptos"/>
                <a:cs typeface="Aptos"/>
              </a:rPr>
              <a:t>1</a:t>
            </a:r>
            <a:endParaRPr sz="1275" b="1">
              <a:solidFill>
                <a:srgbClr val="1F6FEB"/>
              </a:solidFill>
              <a:latin typeface="Aptos"/>
              <a:ea typeface="Aptos"/>
              <a:cs typeface="Aptos"/>
            </a:endParaRPr>
          </a:p>
        </p:txBody>
      </p:sp>
      <p:sp>
        <p:nvSpPr>
          <p:cNvPr id="12" name="矩形 11"/>
          <p:cNvSpPr/>
          <p:nvPr/>
        </p:nvSpPr>
        <p:spPr>
          <a:xfrm>
            <a:off x="1504950" y="1847850"/>
            <a:ext cx="16002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2355B"/>
                </a:solidFill>
                <a:latin typeface="Aptos"/>
                <a:ea typeface="Aptos"/>
                <a:cs typeface="Aptos"/>
              </a:defRPr>
            </a:pPr>
            <a:r>
              <a:rPr sz="1500" b="1">
                <a:solidFill>
                  <a:srgbClr val="12355B"/>
                </a:solidFill>
                <a:latin typeface="Aptos"/>
                <a:ea typeface="Aptos"/>
                <a:cs typeface="Aptos"/>
              </a:rPr>
              <a:t>Select components</a:t>
            </a:r>
            <a:endParaRPr sz="1500" b="1">
              <a:solidFill>
                <a:srgbClr val="12355B"/>
              </a:solidFill>
              <a:latin typeface="Aptos"/>
              <a:ea typeface="Aptos"/>
              <a:cs typeface="Aptos"/>
            </a:endParaRPr>
          </a:p>
        </p:txBody>
      </p:sp>
      <p:sp>
        <p:nvSpPr>
          <p:cNvPr id="13" name="箭头: 右 12"/>
          <p:cNvSpPr/>
          <p:nvPr/>
        </p:nvSpPr>
        <p:spPr>
          <a:xfrm>
            <a:off x="3486150" y="1885950"/>
            <a:ext cx="400050" cy="266700"/>
          </a:xfrm>
          <a:prstGeom prst="rightArrow">
            <a:avLst/>
          </a:prstGeom>
          <a:solidFill>
            <a:srgbClr val="1F6FEB"/>
          </a:solidFill>
          <a:ln w="9525">
            <a:solidFill>
              <a:srgbClr val="1F6FEB"/>
            </a:solidFill>
            <a:prstDash val="solid"/>
          </a:ln>
        </p:spPr>
      </p:sp>
      <p:sp>
        <p:nvSpPr>
          <p:cNvPr id="14" name="矩形: 圆角 13"/>
          <p:cNvSpPr/>
          <p:nvPr/>
        </p:nvSpPr>
        <p:spPr>
          <a:xfrm>
            <a:off x="4286250" y="1524000"/>
            <a:ext cx="2628900" cy="1009650"/>
          </a:xfrm>
          <a:prstGeom prst="roundRect">
            <a:avLst>
              <a:gd name="adj" fmla="val 7547"/>
            </a:avLst>
          </a:prstGeom>
          <a:solidFill>
            <a:srgbClr val="D9EAFE"/>
          </a:solidFill>
          <a:ln w="13335">
            <a:solidFill>
              <a:srgbClr val="1F6FEB"/>
            </a:solidFill>
            <a:prstDash val="solid"/>
          </a:ln>
        </p:spPr>
      </p:sp>
      <p:sp>
        <p:nvSpPr>
          <p:cNvPr id="15" name="椭圆 14"/>
          <p:cNvSpPr/>
          <p:nvPr/>
        </p:nvSpPr>
        <p:spPr>
          <a:xfrm>
            <a:off x="4476750" y="1790700"/>
            <a:ext cx="400050" cy="400050"/>
          </a:xfrm>
          <a:prstGeom prst="ellipse">
            <a:avLst/>
          </a:prstGeom>
          <a:solidFill>
            <a:srgbClr val="FFFFFF"/>
          </a:solidFill>
          <a:ln w="19050">
            <a:solidFill>
              <a:srgbClr val="1F6FEB"/>
            </a:solidFill>
            <a:prstDash val="solid"/>
          </a:ln>
        </p:spPr>
      </p:sp>
      <p:sp>
        <p:nvSpPr>
          <p:cNvPr id="16" name="矩形 15"/>
          <p:cNvSpPr/>
          <p:nvPr/>
        </p:nvSpPr>
        <p:spPr>
          <a:xfrm>
            <a:off x="4476750" y="1876425"/>
            <a:ext cx="400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1F6FEB"/>
                </a:solidFill>
                <a:latin typeface="Aptos"/>
                <a:ea typeface="Aptos"/>
                <a:cs typeface="Aptos"/>
              </a:defRPr>
            </a:pPr>
            <a:r>
              <a:rPr sz="1275" b="1">
                <a:solidFill>
                  <a:srgbClr val="1F6FEB"/>
                </a:solidFill>
                <a:latin typeface="Aptos"/>
                <a:ea typeface="Aptos"/>
                <a:cs typeface="Aptos"/>
              </a:rPr>
              <a:t>2</a:t>
            </a:r>
            <a:endParaRPr sz="1275" b="1">
              <a:solidFill>
                <a:srgbClr val="1F6FEB"/>
              </a:solidFill>
              <a:latin typeface="Aptos"/>
              <a:ea typeface="Aptos"/>
              <a:cs typeface="Aptos"/>
            </a:endParaRPr>
          </a:p>
        </p:txBody>
      </p:sp>
      <p:sp>
        <p:nvSpPr>
          <p:cNvPr id="17" name="矩形 16"/>
          <p:cNvSpPr/>
          <p:nvPr/>
        </p:nvSpPr>
        <p:spPr>
          <a:xfrm>
            <a:off x="5029200" y="1847850"/>
            <a:ext cx="16002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2355B"/>
                </a:solidFill>
                <a:latin typeface="Aptos"/>
                <a:ea typeface="Aptos"/>
                <a:cs typeface="Aptos"/>
              </a:defRPr>
            </a:pPr>
            <a:r>
              <a:rPr sz="1500" b="1">
                <a:solidFill>
                  <a:srgbClr val="12355B"/>
                </a:solidFill>
                <a:latin typeface="Aptos"/>
                <a:ea typeface="Aptos"/>
                <a:cs typeface="Aptos"/>
              </a:rPr>
              <a:t>Compare samples</a:t>
            </a:r>
            <a:endParaRPr sz="1500" b="1">
              <a:solidFill>
                <a:srgbClr val="12355B"/>
              </a:solidFill>
              <a:latin typeface="Aptos"/>
              <a:ea typeface="Aptos"/>
              <a:cs typeface="Aptos"/>
            </a:endParaRPr>
          </a:p>
        </p:txBody>
      </p:sp>
      <p:sp>
        <p:nvSpPr>
          <p:cNvPr id="18" name="箭头: 右 17"/>
          <p:cNvSpPr/>
          <p:nvPr/>
        </p:nvSpPr>
        <p:spPr>
          <a:xfrm>
            <a:off x="7010400" y="1885950"/>
            <a:ext cx="400050" cy="266700"/>
          </a:xfrm>
          <a:prstGeom prst="rightArrow">
            <a:avLst/>
          </a:prstGeom>
          <a:solidFill>
            <a:srgbClr val="1F6FEB"/>
          </a:solidFill>
          <a:ln w="9525">
            <a:solidFill>
              <a:srgbClr val="1F6FEB"/>
            </a:solidFill>
            <a:prstDash val="solid"/>
          </a:ln>
        </p:spPr>
      </p:sp>
      <p:sp>
        <p:nvSpPr>
          <p:cNvPr id="19" name="矩形: 圆角 18"/>
          <p:cNvSpPr/>
          <p:nvPr/>
        </p:nvSpPr>
        <p:spPr>
          <a:xfrm>
            <a:off x="7810500" y="1524000"/>
            <a:ext cx="2628900" cy="1009650"/>
          </a:xfrm>
          <a:prstGeom prst="roundRect">
            <a:avLst>
              <a:gd name="adj" fmla="val 7547"/>
            </a:avLst>
          </a:prstGeom>
          <a:solidFill>
            <a:srgbClr val="D9EAFE"/>
          </a:solidFill>
          <a:ln w="13335">
            <a:solidFill>
              <a:srgbClr val="1F6FEB"/>
            </a:solidFill>
            <a:prstDash val="solid"/>
          </a:ln>
        </p:spPr>
      </p:sp>
      <p:sp>
        <p:nvSpPr>
          <p:cNvPr id="20" name="椭圆 19"/>
          <p:cNvSpPr/>
          <p:nvPr/>
        </p:nvSpPr>
        <p:spPr>
          <a:xfrm>
            <a:off x="8001000" y="1790700"/>
            <a:ext cx="400050" cy="400050"/>
          </a:xfrm>
          <a:prstGeom prst="ellipse">
            <a:avLst/>
          </a:prstGeom>
          <a:solidFill>
            <a:srgbClr val="FFFFFF"/>
          </a:solidFill>
          <a:ln w="19050">
            <a:solidFill>
              <a:srgbClr val="1F6FEB"/>
            </a:solidFill>
            <a:prstDash val="solid"/>
          </a:ln>
        </p:spPr>
      </p:sp>
      <p:sp>
        <p:nvSpPr>
          <p:cNvPr id="21" name="矩形 20"/>
          <p:cNvSpPr/>
          <p:nvPr/>
        </p:nvSpPr>
        <p:spPr>
          <a:xfrm>
            <a:off x="8001000" y="1876425"/>
            <a:ext cx="400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1F6FEB"/>
                </a:solidFill>
                <a:latin typeface="Aptos"/>
                <a:ea typeface="Aptos"/>
                <a:cs typeface="Aptos"/>
              </a:defRPr>
            </a:pPr>
            <a:r>
              <a:rPr sz="1275" b="1">
                <a:solidFill>
                  <a:srgbClr val="1F6FEB"/>
                </a:solidFill>
                <a:latin typeface="Aptos"/>
                <a:ea typeface="Aptos"/>
                <a:cs typeface="Aptos"/>
              </a:rPr>
              <a:t>3</a:t>
            </a:r>
            <a:endParaRPr sz="1275" b="1">
              <a:solidFill>
                <a:srgbClr val="1F6FEB"/>
              </a:solidFill>
              <a:latin typeface="Aptos"/>
              <a:ea typeface="Aptos"/>
              <a:cs typeface="Aptos"/>
            </a:endParaRPr>
          </a:p>
        </p:txBody>
      </p:sp>
      <p:sp>
        <p:nvSpPr>
          <p:cNvPr id="22" name="矩形 21"/>
          <p:cNvSpPr/>
          <p:nvPr/>
        </p:nvSpPr>
        <p:spPr>
          <a:xfrm>
            <a:off x="8553450" y="1847850"/>
            <a:ext cx="16002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2355B"/>
                </a:solidFill>
                <a:latin typeface="Aptos"/>
                <a:ea typeface="Aptos"/>
                <a:cs typeface="Aptos"/>
              </a:defRPr>
            </a:pPr>
            <a:r>
              <a:rPr sz="1500" b="1">
                <a:solidFill>
                  <a:srgbClr val="12355B"/>
                </a:solidFill>
                <a:latin typeface="Aptos"/>
                <a:ea typeface="Aptos"/>
                <a:cs typeface="Aptos"/>
              </a:rPr>
              <a:t>Strength testing</a:t>
            </a:r>
            <a:endParaRPr sz="1500" b="1">
              <a:solidFill>
                <a:srgbClr val="12355B"/>
              </a:solidFill>
              <a:latin typeface="Aptos"/>
              <a:ea typeface="Aptos"/>
              <a:cs typeface="Aptos"/>
            </a:endParaRPr>
          </a:p>
        </p:txBody>
      </p:sp>
      <p:sp>
        <p:nvSpPr>
          <p:cNvPr id="23" name="矩形: 圆角 22"/>
          <p:cNvSpPr/>
          <p:nvPr/>
        </p:nvSpPr>
        <p:spPr>
          <a:xfrm>
            <a:off x="762000" y="3257550"/>
            <a:ext cx="2628900" cy="1009650"/>
          </a:xfrm>
          <a:prstGeom prst="roundRect">
            <a:avLst>
              <a:gd name="adj" fmla="val 7547"/>
            </a:avLst>
          </a:prstGeom>
          <a:solidFill>
            <a:srgbClr val="DDF7E9"/>
          </a:solidFill>
          <a:ln w="13335">
            <a:solidFill>
              <a:srgbClr val="2EAD66"/>
            </a:solidFill>
            <a:prstDash val="solid"/>
          </a:ln>
        </p:spPr>
      </p:sp>
      <p:sp>
        <p:nvSpPr>
          <p:cNvPr id="24" name="椭圆 23"/>
          <p:cNvSpPr/>
          <p:nvPr/>
        </p:nvSpPr>
        <p:spPr>
          <a:xfrm>
            <a:off x="952500" y="3524250"/>
            <a:ext cx="400050" cy="400050"/>
          </a:xfrm>
          <a:prstGeom prst="ellipse">
            <a:avLst/>
          </a:prstGeom>
          <a:solidFill>
            <a:srgbClr val="FFFFFF"/>
          </a:solidFill>
          <a:ln w="19050">
            <a:solidFill>
              <a:srgbClr val="2EAD66"/>
            </a:solidFill>
            <a:prstDash val="solid"/>
          </a:ln>
        </p:spPr>
      </p:sp>
      <p:sp>
        <p:nvSpPr>
          <p:cNvPr id="25" name="矩形 24"/>
          <p:cNvSpPr/>
          <p:nvPr/>
        </p:nvSpPr>
        <p:spPr>
          <a:xfrm>
            <a:off x="952500" y="3609975"/>
            <a:ext cx="400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2EAD66"/>
                </a:solidFill>
                <a:latin typeface="Aptos"/>
                <a:ea typeface="Aptos"/>
                <a:cs typeface="Aptos"/>
              </a:defRPr>
            </a:pPr>
            <a:r>
              <a:rPr sz="1275" b="1">
                <a:solidFill>
                  <a:srgbClr val="2EAD66"/>
                </a:solidFill>
                <a:latin typeface="Aptos"/>
                <a:ea typeface="Aptos"/>
                <a:cs typeface="Aptos"/>
              </a:rPr>
              <a:t>4</a:t>
            </a:r>
            <a:endParaRPr sz="1275" b="1">
              <a:solidFill>
                <a:srgbClr val="2EAD66"/>
              </a:solidFill>
              <a:latin typeface="Aptos"/>
              <a:ea typeface="Aptos"/>
              <a:cs typeface="Aptos"/>
            </a:endParaRPr>
          </a:p>
        </p:txBody>
      </p:sp>
      <p:sp>
        <p:nvSpPr>
          <p:cNvPr id="26" name="矩形 25"/>
          <p:cNvSpPr/>
          <p:nvPr/>
        </p:nvSpPr>
        <p:spPr>
          <a:xfrm>
            <a:off x="1504950" y="3581400"/>
            <a:ext cx="16002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2355B"/>
                </a:solidFill>
                <a:latin typeface="Aptos"/>
                <a:ea typeface="Aptos"/>
                <a:cs typeface="Aptos"/>
              </a:defRPr>
            </a:pPr>
            <a:r>
              <a:rPr sz="1500" b="1">
                <a:solidFill>
                  <a:srgbClr val="12355B"/>
                </a:solidFill>
                <a:latin typeface="Aptos"/>
                <a:ea typeface="Aptos"/>
                <a:cs typeface="Aptos"/>
              </a:rPr>
              <a:t>Fire + safety review</a:t>
            </a:r>
            <a:endParaRPr sz="1500" b="1">
              <a:solidFill>
                <a:srgbClr val="12355B"/>
              </a:solidFill>
              <a:latin typeface="Aptos"/>
              <a:ea typeface="Aptos"/>
              <a:cs typeface="Aptos"/>
            </a:endParaRPr>
          </a:p>
        </p:txBody>
      </p:sp>
      <p:sp>
        <p:nvSpPr>
          <p:cNvPr id="27" name="箭头: 右 26"/>
          <p:cNvSpPr/>
          <p:nvPr/>
        </p:nvSpPr>
        <p:spPr>
          <a:xfrm>
            <a:off x="3486150" y="3619500"/>
            <a:ext cx="400050" cy="266700"/>
          </a:xfrm>
          <a:prstGeom prst="rightArrow">
            <a:avLst/>
          </a:prstGeom>
          <a:solidFill>
            <a:srgbClr val="2EAD66"/>
          </a:solidFill>
          <a:ln w="9525">
            <a:solidFill>
              <a:srgbClr val="2EAD66"/>
            </a:solidFill>
            <a:prstDash val="solid"/>
          </a:ln>
        </p:spPr>
      </p:sp>
      <p:sp>
        <p:nvSpPr>
          <p:cNvPr id="28" name="矩形: 圆角 27"/>
          <p:cNvSpPr/>
          <p:nvPr/>
        </p:nvSpPr>
        <p:spPr>
          <a:xfrm>
            <a:off x="4286250" y="3257550"/>
            <a:ext cx="2628900" cy="1009650"/>
          </a:xfrm>
          <a:prstGeom prst="roundRect">
            <a:avLst>
              <a:gd name="adj" fmla="val 7547"/>
            </a:avLst>
          </a:prstGeom>
          <a:solidFill>
            <a:srgbClr val="DDF7E9"/>
          </a:solidFill>
          <a:ln w="13335">
            <a:solidFill>
              <a:srgbClr val="2EAD66"/>
            </a:solidFill>
            <a:prstDash val="solid"/>
          </a:ln>
        </p:spPr>
      </p:sp>
      <p:sp>
        <p:nvSpPr>
          <p:cNvPr id="29" name="椭圆 28"/>
          <p:cNvSpPr/>
          <p:nvPr/>
        </p:nvSpPr>
        <p:spPr>
          <a:xfrm>
            <a:off x="4476750" y="3486150"/>
            <a:ext cx="400050" cy="400050"/>
          </a:xfrm>
          <a:prstGeom prst="ellipse">
            <a:avLst/>
          </a:prstGeom>
          <a:solidFill>
            <a:srgbClr val="FFFFFF"/>
          </a:solidFill>
          <a:ln w="19050">
            <a:solidFill>
              <a:srgbClr val="2EAD66"/>
            </a:solidFill>
            <a:prstDash val="solid"/>
          </a:ln>
        </p:spPr>
        <p:txBody>
          <a:bodyPr/>
          <a:lstStyle/>
          <a:p>
            <a:endParaRPr lang="zh-CN" altLang="en-US" dirty="0"/>
          </a:p>
        </p:txBody>
      </p:sp>
      <p:sp>
        <p:nvSpPr>
          <p:cNvPr id="30" name="矩形 29"/>
          <p:cNvSpPr/>
          <p:nvPr/>
        </p:nvSpPr>
        <p:spPr>
          <a:xfrm>
            <a:off x="4476750" y="3609975"/>
            <a:ext cx="400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2EAD66"/>
                </a:solidFill>
                <a:latin typeface="Aptos"/>
                <a:ea typeface="Aptos"/>
                <a:cs typeface="Aptos"/>
              </a:defRPr>
            </a:pPr>
            <a:r>
              <a:rPr sz="1275" b="1">
                <a:solidFill>
                  <a:srgbClr val="2EAD66"/>
                </a:solidFill>
                <a:latin typeface="Aptos"/>
                <a:ea typeface="Aptos"/>
                <a:cs typeface="Aptos"/>
              </a:rPr>
              <a:t>5</a:t>
            </a:r>
            <a:endParaRPr sz="1275" b="1">
              <a:solidFill>
                <a:srgbClr val="2EAD66"/>
              </a:solidFill>
              <a:latin typeface="Aptos"/>
              <a:ea typeface="Aptos"/>
              <a:cs typeface="Aptos"/>
            </a:endParaRPr>
          </a:p>
        </p:txBody>
      </p:sp>
      <p:sp>
        <p:nvSpPr>
          <p:cNvPr id="31" name="矩形 30"/>
          <p:cNvSpPr/>
          <p:nvPr/>
        </p:nvSpPr>
        <p:spPr>
          <a:xfrm>
            <a:off x="5029200" y="3581400"/>
            <a:ext cx="16002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2355B"/>
                </a:solidFill>
                <a:latin typeface="Aptos"/>
                <a:ea typeface="Aptos"/>
                <a:cs typeface="Aptos"/>
              </a:defRPr>
            </a:pPr>
            <a:r>
              <a:rPr sz="1500" b="1">
                <a:solidFill>
                  <a:srgbClr val="12355B"/>
                </a:solidFill>
                <a:latin typeface="Aptos"/>
                <a:ea typeface="Aptos"/>
                <a:cs typeface="Aptos"/>
              </a:rPr>
              <a:t>Maintenance check</a:t>
            </a:r>
            <a:endParaRPr sz="1500" b="1">
              <a:solidFill>
                <a:srgbClr val="12355B"/>
              </a:solidFill>
              <a:latin typeface="Aptos"/>
              <a:ea typeface="Aptos"/>
              <a:cs typeface="Aptos"/>
            </a:endParaRPr>
          </a:p>
        </p:txBody>
      </p:sp>
      <p:sp>
        <p:nvSpPr>
          <p:cNvPr id="32" name="箭头: 右 31"/>
          <p:cNvSpPr/>
          <p:nvPr/>
        </p:nvSpPr>
        <p:spPr>
          <a:xfrm>
            <a:off x="7010400" y="3619500"/>
            <a:ext cx="400050" cy="266700"/>
          </a:xfrm>
          <a:prstGeom prst="rightArrow">
            <a:avLst/>
          </a:prstGeom>
          <a:solidFill>
            <a:srgbClr val="2EAD66"/>
          </a:solidFill>
          <a:ln w="9525">
            <a:solidFill>
              <a:srgbClr val="2EAD66"/>
            </a:solidFill>
            <a:prstDash val="solid"/>
          </a:ln>
        </p:spPr>
      </p:sp>
      <p:sp>
        <p:nvSpPr>
          <p:cNvPr id="33" name="矩形: 圆角 32"/>
          <p:cNvSpPr/>
          <p:nvPr/>
        </p:nvSpPr>
        <p:spPr>
          <a:xfrm>
            <a:off x="7810500" y="3257550"/>
            <a:ext cx="2628900" cy="1009650"/>
          </a:xfrm>
          <a:prstGeom prst="roundRect">
            <a:avLst>
              <a:gd name="adj" fmla="val 7547"/>
            </a:avLst>
          </a:prstGeom>
          <a:solidFill>
            <a:srgbClr val="DDF7E9"/>
          </a:solidFill>
          <a:ln w="13335">
            <a:solidFill>
              <a:srgbClr val="2EAD66"/>
            </a:solidFill>
            <a:prstDash val="solid"/>
          </a:ln>
        </p:spPr>
      </p:sp>
      <p:sp>
        <p:nvSpPr>
          <p:cNvPr id="34" name="椭圆 33"/>
          <p:cNvSpPr/>
          <p:nvPr/>
        </p:nvSpPr>
        <p:spPr>
          <a:xfrm>
            <a:off x="8001000" y="3524250"/>
            <a:ext cx="400050" cy="400050"/>
          </a:xfrm>
          <a:prstGeom prst="ellipse">
            <a:avLst/>
          </a:prstGeom>
          <a:solidFill>
            <a:srgbClr val="FFFFFF"/>
          </a:solidFill>
          <a:ln w="19050">
            <a:solidFill>
              <a:srgbClr val="2EAD66"/>
            </a:solidFill>
            <a:prstDash val="solid"/>
          </a:ln>
        </p:spPr>
      </p:sp>
      <p:sp>
        <p:nvSpPr>
          <p:cNvPr id="35" name="矩形 34"/>
          <p:cNvSpPr/>
          <p:nvPr/>
        </p:nvSpPr>
        <p:spPr>
          <a:xfrm>
            <a:off x="8001000" y="3609975"/>
            <a:ext cx="400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2EAD66"/>
                </a:solidFill>
                <a:latin typeface="Aptos"/>
                <a:ea typeface="Aptos"/>
                <a:cs typeface="Aptos"/>
              </a:defRPr>
            </a:pPr>
            <a:r>
              <a:rPr sz="1275" b="1">
                <a:solidFill>
                  <a:srgbClr val="2EAD66"/>
                </a:solidFill>
                <a:latin typeface="Aptos"/>
                <a:ea typeface="Aptos"/>
                <a:cs typeface="Aptos"/>
              </a:rPr>
              <a:t>6</a:t>
            </a:r>
            <a:endParaRPr sz="1275" b="1">
              <a:solidFill>
                <a:srgbClr val="2EAD66"/>
              </a:solidFill>
              <a:latin typeface="Aptos"/>
              <a:ea typeface="Aptos"/>
              <a:cs typeface="Aptos"/>
            </a:endParaRPr>
          </a:p>
        </p:txBody>
      </p:sp>
      <p:sp>
        <p:nvSpPr>
          <p:cNvPr id="36" name="矩形 35"/>
          <p:cNvSpPr/>
          <p:nvPr/>
        </p:nvSpPr>
        <p:spPr>
          <a:xfrm>
            <a:off x="8553450" y="3581400"/>
            <a:ext cx="16002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2355B"/>
                </a:solidFill>
                <a:latin typeface="Aptos"/>
                <a:ea typeface="Aptos"/>
                <a:cs typeface="Aptos"/>
              </a:defRPr>
            </a:pPr>
            <a:r>
              <a:rPr sz="1500" b="1">
                <a:solidFill>
                  <a:srgbClr val="12355B"/>
                </a:solidFill>
                <a:latin typeface="Aptos"/>
                <a:ea typeface="Aptos"/>
                <a:cs typeface="Aptos"/>
              </a:rPr>
              <a:t>Life-cycle analysis</a:t>
            </a:r>
            <a:endParaRPr sz="1500" b="1">
              <a:solidFill>
                <a:srgbClr val="12355B"/>
              </a:solidFill>
              <a:latin typeface="Aptos"/>
              <a:ea typeface="Aptos"/>
              <a:cs typeface="Aptos"/>
            </a:endParaRPr>
          </a:p>
        </p:txBody>
      </p:sp>
      <p:sp>
        <p:nvSpPr>
          <p:cNvPr id="37" name="矩形: 圆角 36"/>
          <p:cNvSpPr/>
          <p:nvPr/>
        </p:nvSpPr>
        <p:spPr>
          <a:xfrm>
            <a:off x="1219200" y="5314950"/>
            <a:ext cx="8477250" cy="666750"/>
          </a:xfrm>
          <a:prstGeom prst="roundRect">
            <a:avLst>
              <a:gd name="adj" fmla="val 11429"/>
            </a:avLst>
          </a:prstGeom>
          <a:solidFill>
            <a:srgbClr val="F6F8FB"/>
          </a:solidFill>
          <a:ln w="9525">
            <a:solidFill>
              <a:srgbClr val="C9D4E2"/>
            </a:solidFill>
            <a:prstDash val="solid"/>
          </a:ln>
        </p:spPr>
      </p:sp>
      <p:pic>
        <p:nvPicPr>
          <p:cNvPr id="38" name="图形 37"/>
          <p:cNvPicPr>
            <a:picLocks noChangeAspect="1"/>
          </p:cNvPicPr>
          <p:nvPr/>
        </p:nvPicPr>
        <p:blipFill>
          <a:blip/>
          <a:stretch>
            <a:fillRect/>
          </a:stretch>
        </p:blipFill>
        <p:spPr>
          <a:xfrm>
            <a:off x="1543050" y="5495925"/>
            <a:ext cx="304800" cy="304800"/>
          </a:xfrm>
          <a:prstGeom prst="rect">
            <a:avLst/>
          </a:prstGeom>
        </p:spPr>
      </p:pic>
      <p:sp>
        <p:nvSpPr>
          <p:cNvPr id="39" name="矩形 38"/>
          <p:cNvSpPr/>
          <p:nvPr/>
        </p:nvSpPr>
        <p:spPr>
          <a:xfrm>
            <a:off x="2038350" y="5467350"/>
            <a:ext cx="70485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12355B"/>
                </a:solidFill>
                <a:latin typeface="Aptos"/>
                <a:ea typeface="Aptos"/>
                <a:cs typeface="Aptos"/>
              </a:defRPr>
            </a:pPr>
            <a:r>
              <a:rPr sz="1800" b="1">
                <a:solidFill>
                  <a:srgbClr val="12355B"/>
                </a:solidFill>
                <a:latin typeface="Aptos"/>
                <a:ea typeface="Aptos"/>
                <a:cs typeface="Aptos"/>
              </a:rPr>
              <a:t>Evidence needed: mass reduction + strength + safety + whole-life value</a:t>
            </a:r>
            <a:endParaRPr sz="1800" b="1">
              <a:solidFill>
                <a:srgbClr val="12355B"/>
              </a:solidFill>
              <a:latin typeface="Aptos"/>
              <a:ea typeface="Aptos"/>
              <a:cs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0" y="0"/>
            <a:ext cx="12192000" cy="6858000"/>
          </a:xfrm>
          <a:prstGeom prst="rect">
            <a:avLst/>
          </a:prstGeom>
          <a:solidFill>
            <a:srgbClr val="FFFFFF"/>
          </a:solidFill>
          <a:ln w="0">
            <a:solidFill>
              <a:srgbClr val="000000">
                <a:alpha val="0"/>
              </a:srgbClr>
            </a:solidFill>
            <a:prstDash val="solid"/>
          </a:ln>
        </p:spPr>
      </p:sp>
      <p:sp>
        <p:nvSpPr>
          <p:cNvPr id="2" name="矩形 1"/>
          <p:cNvSpPr/>
          <p:nvPr/>
        </p:nvSpPr>
        <p:spPr>
          <a:xfrm>
            <a:off x="0" y="0"/>
            <a:ext cx="12192000" cy="85725"/>
          </a:xfrm>
          <a:prstGeom prst="rect">
            <a:avLst/>
          </a:prstGeom>
          <a:solidFill>
            <a:srgbClr val="1F6FEB"/>
          </a:solidFill>
          <a:ln w="0">
            <a:solidFill>
              <a:srgbClr val="000000">
                <a:alpha val="0"/>
              </a:srgbClr>
            </a:solidFill>
            <a:prstDash val="solid"/>
          </a:ln>
        </p:spPr>
      </p:sp>
      <p:sp>
        <p:nvSpPr>
          <p:cNvPr id="3" name="矩形 2"/>
          <p:cNvSpPr/>
          <p:nvPr/>
        </p:nvSpPr>
        <p:spPr>
          <a:xfrm>
            <a:off x="0" y="85725"/>
            <a:ext cx="3429000" cy="47625"/>
          </a:xfrm>
          <a:prstGeom prst="rect">
            <a:avLst/>
          </a:prstGeom>
          <a:solidFill>
            <a:srgbClr val="2EAD66"/>
          </a:solidFill>
          <a:ln w="0">
            <a:solidFill>
              <a:srgbClr val="000000">
                <a:alpha val="0"/>
              </a:srgbClr>
            </a:solidFill>
            <a:prstDash val="solid"/>
          </a:ln>
        </p:spPr>
      </p:sp>
      <p:sp>
        <p:nvSpPr>
          <p:cNvPr id="4" name="矩形 3"/>
          <p:cNvSpPr/>
          <p:nvPr/>
        </p:nvSpPr>
        <p:spPr>
          <a:xfrm>
            <a:off x="514350" y="323850"/>
            <a:ext cx="86677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12355B"/>
                </a:solidFill>
                <a:latin typeface="Aptos Display"/>
                <a:ea typeface="Aptos Display"/>
                <a:cs typeface="Aptos Display"/>
              </a:defRPr>
            </a:pPr>
            <a:r>
              <a:rPr sz="2325" b="1">
                <a:solidFill>
                  <a:srgbClr val="12355B"/>
                </a:solidFill>
                <a:latin typeface="Aptos Display"/>
                <a:ea typeface="Aptos Display"/>
                <a:cs typeface="Aptos Display"/>
              </a:rPr>
              <a:t>Stakeholder Needs</a:t>
            </a:r>
            <a:endParaRPr sz="2325" b="1">
              <a:solidFill>
                <a:srgbClr val="12355B"/>
              </a:solidFill>
              <a:latin typeface="Aptos Display"/>
              <a:ea typeface="Aptos Display"/>
              <a:cs typeface="Aptos Display"/>
            </a:endParaRPr>
          </a:p>
        </p:txBody>
      </p:sp>
      <p:sp>
        <p:nvSpPr>
          <p:cNvPr id="5" name="矩形 4"/>
          <p:cNvSpPr/>
          <p:nvPr/>
        </p:nvSpPr>
        <p:spPr>
          <a:xfrm>
            <a:off x="533400" y="762000"/>
            <a:ext cx="8382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F6B7A"/>
                </a:solidFill>
                <a:latin typeface="Aptos"/>
                <a:ea typeface="Aptos"/>
                <a:cs typeface="Aptos"/>
              </a:defRPr>
            </a:pPr>
            <a:r>
              <a:rPr sz="1200" b="0">
                <a:solidFill>
                  <a:srgbClr val="5F6B7A"/>
                </a:solidFill>
                <a:latin typeface="Aptos"/>
                <a:ea typeface="Aptos"/>
                <a:cs typeface="Aptos"/>
              </a:rPr>
              <a:t>The same design choice supports different stakeholder priorities.</a:t>
            </a:r>
            <a:endParaRPr sz="1200" b="0">
              <a:solidFill>
                <a:srgbClr val="5F6B7A"/>
              </a:solidFill>
              <a:latin typeface="Aptos"/>
              <a:ea typeface="Aptos"/>
              <a:cs typeface="Aptos"/>
            </a:endParaRPr>
          </a:p>
        </p:txBody>
      </p:sp>
      <p:sp>
        <p:nvSpPr>
          <p:cNvPr id="6" name="矩形 5"/>
          <p:cNvSpPr/>
          <p:nvPr/>
        </p:nvSpPr>
        <p:spPr>
          <a:xfrm>
            <a:off x="11106150" y="3619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F6B7A"/>
                </a:solidFill>
                <a:latin typeface="Aptos"/>
                <a:ea typeface="Aptos"/>
                <a:cs typeface="Aptos"/>
              </a:defRPr>
            </a:pPr>
            <a:r>
              <a:rPr lang="en-US" sz="1050" b="0">
                <a:solidFill>
                  <a:srgbClr val="5F6B7A"/>
                </a:solidFill>
                <a:latin typeface="Aptos"/>
                <a:ea typeface="Aptos"/>
                <a:cs typeface="Aptos"/>
              </a:rPr>
              <a:t>10</a:t>
            </a:r>
            <a:endParaRPr lang="en-US" sz="1050" b="0">
              <a:solidFill>
                <a:srgbClr val="5F6B7A"/>
              </a:solidFill>
              <a:latin typeface="Aptos"/>
              <a:ea typeface="Aptos"/>
              <a:cs typeface="Aptos"/>
            </a:endParaRPr>
          </a:p>
        </p:txBody>
      </p:sp>
      <p:sp>
        <p:nvSpPr>
          <p:cNvPr id="7" name="矩形: 圆角 6"/>
          <p:cNvSpPr/>
          <p:nvPr/>
        </p:nvSpPr>
        <p:spPr>
          <a:xfrm>
            <a:off x="9191625" y="361950"/>
            <a:ext cx="1619250" cy="266700"/>
          </a:xfrm>
          <a:prstGeom prst="roundRect">
            <a:avLst>
              <a:gd name="adj" fmla="val 28571"/>
            </a:avLst>
          </a:prstGeom>
          <a:solidFill>
            <a:srgbClr val="F6F8FB"/>
          </a:solidFill>
          <a:ln w="9525">
            <a:solidFill>
              <a:srgbClr val="C9D4E2"/>
            </a:solidFill>
            <a:prstDash val="solid"/>
          </a:ln>
        </p:spPr>
      </p:sp>
      <p:sp>
        <p:nvSpPr>
          <p:cNvPr id="8" name="矩形 7"/>
          <p:cNvSpPr/>
          <p:nvPr/>
        </p:nvSpPr>
        <p:spPr>
          <a:xfrm>
            <a:off x="9296400" y="428625"/>
            <a:ext cx="1409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90" b="1">
                <a:solidFill>
                  <a:srgbClr val="12355B"/>
                </a:solidFill>
                <a:latin typeface="Aptos"/>
                <a:ea typeface="Aptos"/>
                <a:cs typeface="Aptos"/>
              </a:defRPr>
            </a:pPr>
            <a:r>
              <a:rPr sz="790" b="1">
                <a:solidFill>
                  <a:srgbClr val="12355B"/>
                </a:solidFill>
                <a:latin typeface="Aptos"/>
                <a:ea typeface="Aptos"/>
                <a:cs typeface="Aptos"/>
              </a:rPr>
              <a:t>Presenter:</a:t>
            </a:r>
            <a:r>
              <a:rPr lang="en-US" sz="790" b="1">
                <a:solidFill>
                  <a:srgbClr val="12355B"/>
                </a:solidFill>
                <a:latin typeface="Aptos"/>
                <a:ea typeface="Aptos"/>
                <a:cs typeface="Aptos"/>
              </a:rPr>
              <a:t>Ning WanZheng</a:t>
            </a:r>
            <a:endParaRPr lang="en-US" sz="790" b="1">
              <a:solidFill>
                <a:srgbClr val="12355B"/>
              </a:solidFill>
              <a:latin typeface="Aptos"/>
              <a:ea typeface="Aptos"/>
              <a:cs typeface="Aptos"/>
            </a:endParaRPr>
          </a:p>
        </p:txBody>
      </p:sp>
      <p:sp>
        <p:nvSpPr>
          <p:cNvPr id="9" name="矩形 8"/>
          <p:cNvSpPr/>
          <p:nvPr/>
        </p:nvSpPr>
        <p:spPr>
          <a:xfrm>
            <a:off x="666750" y="1295400"/>
            <a:ext cx="2362200" cy="457200"/>
          </a:xfrm>
          <a:prstGeom prst="rect">
            <a:avLst/>
          </a:prstGeom>
          <a:solidFill>
            <a:srgbClr val="1F6FEB"/>
          </a:solidFill>
          <a:ln w="9525">
            <a:solidFill>
              <a:srgbClr val="FFFFFF"/>
            </a:solidFill>
            <a:prstDash val="solid"/>
          </a:ln>
        </p:spPr>
      </p:sp>
      <p:sp>
        <p:nvSpPr>
          <p:cNvPr id="10" name="矩形 9"/>
          <p:cNvSpPr/>
          <p:nvPr/>
        </p:nvSpPr>
        <p:spPr>
          <a:xfrm>
            <a:off x="800100" y="1419225"/>
            <a:ext cx="2095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FFFFFF"/>
                </a:solidFill>
                <a:latin typeface="Aptos"/>
                <a:ea typeface="Aptos"/>
                <a:cs typeface="Aptos"/>
              </a:defRPr>
            </a:pPr>
            <a:r>
              <a:rPr sz="1275" b="1">
                <a:solidFill>
                  <a:srgbClr val="FFFFFF"/>
                </a:solidFill>
                <a:latin typeface="Aptos"/>
                <a:ea typeface="Aptos"/>
                <a:cs typeface="Aptos"/>
              </a:rPr>
              <a:t>Stakeholder</a:t>
            </a:r>
            <a:endParaRPr sz="1275" b="1">
              <a:solidFill>
                <a:srgbClr val="FFFFFF"/>
              </a:solidFill>
              <a:latin typeface="Aptos"/>
              <a:ea typeface="Aptos"/>
              <a:cs typeface="Aptos"/>
            </a:endParaRPr>
          </a:p>
        </p:txBody>
      </p:sp>
      <p:sp>
        <p:nvSpPr>
          <p:cNvPr id="11" name="矩形 10"/>
          <p:cNvSpPr/>
          <p:nvPr/>
        </p:nvSpPr>
        <p:spPr>
          <a:xfrm>
            <a:off x="3028950" y="1295400"/>
            <a:ext cx="3733800" cy="457200"/>
          </a:xfrm>
          <a:prstGeom prst="rect">
            <a:avLst/>
          </a:prstGeom>
          <a:solidFill>
            <a:srgbClr val="1F6FEB"/>
          </a:solidFill>
          <a:ln w="9525">
            <a:solidFill>
              <a:srgbClr val="FFFFFF"/>
            </a:solidFill>
            <a:prstDash val="solid"/>
          </a:ln>
        </p:spPr>
      </p:sp>
      <p:sp>
        <p:nvSpPr>
          <p:cNvPr id="12" name="矩形 11"/>
          <p:cNvSpPr/>
          <p:nvPr/>
        </p:nvSpPr>
        <p:spPr>
          <a:xfrm>
            <a:off x="3162300" y="1419225"/>
            <a:ext cx="34671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FFFFFF"/>
                </a:solidFill>
                <a:latin typeface="Aptos"/>
                <a:ea typeface="Aptos"/>
                <a:cs typeface="Aptos"/>
              </a:defRPr>
            </a:pPr>
            <a:r>
              <a:rPr sz="1275" b="1">
                <a:solidFill>
                  <a:srgbClr val="FFFFFF"/>
                </a:solidFill>
                <a:latin typeface="Aptos"/>
                <a:ea typeface="Aptos"/>
                <a:cs typeface="Aptos"/>
              </a:rPr>
              <a:t>Need</a:t>
            </a:r>
            <a:endParaRPr sz="1275" b="1">
              <a:solidFill>
                <a:srgbClr val="FFFFFF"/>
              </a:solidFill>
              <a:latin typeface="Aptos"/>
              <a:ea typeface="Aptos"/>
              <a:cs typeface="Aptos"/>
            </a:endParaRPr>
          </a:p>
        </p:txBody>
      </p:sp>
      <p:sp>
        <p:nvSpPr>
          <p:cNvPr id="13" name="矩形 12"/>
          <p:cNvSpPr/>
          <p:nvPr/>
        </p:nvSpPr>
        <p:spPr>
          <a:xfrm>
            <a:off x="6762750" y="1295400"/>
            <a:ext cx="4552950" cy="457200"/>
          </a:xfrm>
          <a:prstGeom prst="rect">
            <a:avLst/>
          </a:prstGeom>
          <a:solidFill>
            <a:srgbClr val="2EAD66"/>
          </a:solidFill>
          <a:ln w="9525">
            <a:solidFill>
              <a:srgbClr val="FFFFFF"/>
            </a:solidFill>
            <a:prstDash val="solid"/>
          </a:ln>
        </p:spPr>
      </p:sp>
      <p:sp>
        <p:nvSpPr>
          <p:cNvPr id="14" name="矩形 13"/>
          <p:cNvSpPr/>
          <p:nvPr/>
        </p:nvSpPr>
        <p:spPr>
          <a:xfrm>
            <a:off x="6896100" y="1419225"/>
            <a:ext cx="4286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FFFFFF"/>
                </a:solidFill>
                <a:latin typeface="Aptos"/>
                <a:ea typeface="Aptos"/>
                <a:cs typeface="Aptos"/>
              </a:defRPr>
            </a:pPr>
            <a:r>
              <a:rPr sz="1275" b="1">
                <a:solidFill>
                  <a:srgbClr val="FFFFFF"/>
                </a:solidFill>
                <a:latin typeface="Aptos"/>
                <a:ea typeface="Aptos"/>
                <a:cs typeface="Aptos"/>
              </a:rPr>
              <a:t>Solution link</a:t>
            </a:r>
            <a:endParaRPr sz="1275" b="1">
              <a:solidFill>
                <a:srgbClr val="FFFFFF"/>
              </a:solidFill>
              <a:latin typeface="Aptos"/>
              <a:ea typeface="Aptos"/>
              <a:cs typeface="Aptos"/>
            </a:endParaRPr>
          </a:p>
        </p:txBody>
      </p:sp>
      <p:sp>
        <p:nvSpPr>
          <p:cNvPr id="15" name="矩形 14"/>
          <p:cNvSpPr/>
          <p:nvPr/>
        </p:nvSpPr>
        <p:spPr>
          <a:xfrm>
            <a:off x="666750" y="1752600"/>
            <a:ext cx="2362200" cy="742950"/>
          </a:xfrm>
          <a:prstGeom prst="rect">
            <a:avLst/>
          </a:prstGeom>
          <a:solidFill>
            <a:srgbClr val="FFFFFF"/>
          </a:solidFill>
          <a:ln w="9525">
            <a:solidFill>
              <a:srgbClr val="C9D4E2"/>
            </a:solidFill>
            <a:prstDash val="solid"/>
          </a:ln>
        </p:spPr>
      </p:sp>
      <p:sp>
        <p:nvSpPr>
          <p:cNvPr id="16" name="矩形 15"/>
          <p:cNvSpPr/>
          <p:nvPr/>
        </p:nvSpPr>
        <p:spPr>
          <a:xfrm>
            <a:off x="800100" y="1943100"/>
            <a:ext cx="2095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172033"/>
                </a:solidFill>
                <a:latin typeface="Aptos"/>
                <a:ea typeface="Aptos"/>
                <a:cs typeface="Aptos"/>
              </a:defRPr>
            </a:pPr>
            <a:r>
              <a:rPr sz="1240" b="1">
                <a:solidFill>
                  <a:srgbClr val="172033"/>
                </a:solidFill>
                <a:latin typeface="Aptos"/>
                <a:ea typeface="Aptos"/>
                <a:cs typeface="Aptos"/>
              </a:rPr>
              <a:t>Railway operators</a:t>
            </a:r>
            <a:endParaRPr sz="1240" b="1">
              <a:solidFill>
                <a:srgbClr val="172033"/>
              </a:solidFill>
              <a:latin typeface="Aptos"/>
              <a:ea typeface="Aptos"/>
              <a:cs typeface="Aptos"/>
            </a:endParaRPr>
          </a:p>
        </p:txBody>
      </p:sp>
      <p:sp>
        <p:nvSpPr>
          <p:cNvPr id="17" name="矩形 16"/>
          <p:cNvSpPr/>
          <p:nvPr/>
        </p:nvSpPr>
        <p:spPr>
          <a:xfrm>
            <a:off x="3028950" y="1752600"/>
            <a:ext cx="3733800" cy="742950"/>
          </a:xfrm>
          <a:prstGeom prst="rect">
            <a:avLst/>
          </a:prstGeom>
          <a:solidFill>
            <a:srgbClr val="FFFFFF"/>
          </a:solidFill>
          <a:ln w="9525">
            <a:solidFill>
              <a:srgbClr val="C9D4E2"/>
            </a:solidFill>
            <a:prstDash val="solid"/>
          </a:ln>
        </p:spPr>
      </p:sp>
      <p:sp>
        <p:nvSpPr>
          <p:cNvPr id="18" name="矩形 17"/>
          <p:cNvSpPr/>
          <p:nvPr/>
        </p:nvSpPr>
        <p:spPr>
          <a:xfrm>
            <a:off x="3162300" y="1943100"/>
            <a:ext cx="34671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72033"/>
                </a:solidFill>
                <a:latin typeface="Aptos"/>
                <a:ea typeface="Aptos"/>
                <a:cs typeface="Aptos"/>
              </a:defRPr>
            </a:pPr>
            <a:r>
              <a:rPr sz="1350" b="0">
                <a:solidFill>
                  <a:srgbClr val="172033"/>
                </a:solidFill>
                <a:latin typeface="Aptos"/>
                <a:ea typeface="Aptos"/>
                <a:cs typeface="Aptos"/>
              </a:rPr>
              <a:t>Lower cost</a:t>
            </a:r>
            <a:endParaRPr sz="1350" b="0">
              <a:solidFill>
                <a:srgbClr val="172033"/>
              </a:solidFill>
              <a:latin typeface="Aptos"/>
              <a:ea typeface="Aptos"/>
              <a:cs typeface="Aptos"/>
            </a:endParaRPr>
          </a:p>
        </p:txBody>
      </p:sp>
      <p:sp>
        <p:nvSpPr>
          <p:cNvPr id="19" name="矩形 18"/>
          <p:cNvSpPr/>
          <p:nvPr/>
        </p:nvSpPr>
        <p:spPr>
          <a:xfrm>
            <a:off x="6762750" y="1752600"/>
            <a:ext cx="4552950" cy="742950"/>
          </a:xfrm>
          <a:prstGeom prst="rect">
            <a:avLst/>
          </a:prstGeom>
          <a:solidFill>
            <a:srgbClr val="FFFFFF"/>
          </a:solidFill>
          <a:ln w="9525">
            <a:solidFill>
              <a:srgbClr val="C9D4E2"/>
            </a:solidFill>
            <a:prstDash val="solid"/>
          </a:ln>
        </p:spPr>
      </p:sp>
      <p:sp>
        <p:nvSpPr>
          <p:cNvPr id="20" name="矩形 19"/>
          <p:cNvSpPr/>
          <p:nvPr/>
        </p:nvSpPr>
        <p:spPr>
          <a:xfrm>
            <a:off x="6896100" y="1943100"/>
            <a:ext cx="4286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2355B"/>
                </a:solidFill>
                <a:latin typeface="Aptos"/>
                <a:ea typeface="Aptos"/>
                <a:cs typeface="Aptos"/>
              </a:defRPr>
            </a:pPr>
            <a:r>
              <a:rPr sz="1350" b="1">
                <a:solidFill>
                  <a:srgbClr val="12355B"/>
                </a:solidFill>
                <a:latin typeface="Aptos"/>
                <a:ea typeface="Aptos"/>
                <a:cs typeface="Aptos"/>
              </a:rPr>
              <a:t>Less energy use</a:t>
            </a:r>
            <a:endParaRPr sz="1350" b="1">
              <a:solidFill>
                <a:srgbClr val="12355B"/>
              </a:solidFill>
              <a:latin typeface="Aptos"/>
              <a:ea typeface="Aptos"/>
              <a:cs typeface="Aptos"/>
            </a:endParaRPr>
          </a:p>
        </p:txBody>
      </p:sp>
      <p:sp>
        <p:nvSpPr>
          <p:cNvPr id="21" name="矩形 20"/>
          <p:cNvSpPr/>
          <p:nvPr/>
        </p:nvSpPr>
        <p:spPr>
          <a:xfrm>
            <a:off x="666750" y="2495550"/>
            <a:ext cx="2362200" cy="742950"/>
          </a:xfrm>
          <a:prstGeom prst="rect">
            <a:avLst/>
          </a:prstGeom>
          <a:solidFill>
            <a:srgbClr val="F6F8FB"/>
          </a:solidFill>
          <a:ln w="9525">
            <a:solidFill>
              <a:srgbClr val="C9D4E2"/>
            </a:solidFill>
            <a:prstDash val="solid"/>
          </a:ln>
        </p:spPr>
      </p:sp>
      <p:sp>
        <p:nvSpPr>
          <p:cNvPr id="22" name="矩形 21"/>
          <p:cNvSpPr/>
          <p:nvPr/>
        </p:nvSpPr>
        <p:spPr>
          <a:xfrm>
            <a:off x="800100" y="2686050"/>
            <a:ext cx="2095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172033"/>
                </a:solidFill>
                <a:latin typeface="Aptos"/>
                <a:ea typeface="Aptos"/>
                <a:cs typeface="Aptos"/>
              </a:defRPr>
            </a:pPr>
            <a:r>
              <a:rPr sz="1240" b="1">
                <a:solidFill>
                  <a:srgbClr val="172033"/>
                </a:solidFill>
                <a:latin typeface="Aptos"/>
                <a:ea typeface="Aptos"/>
                <a:cs typeface="Aptos"/>
              </a:rPr>
              <a:t>Government authorities</a:t>
            </a:r>
            <a:endParaRPr sz="1240" b="1">
              <a:solidFill>
                <a:srgbClr val="172033"/>
              </a:solidFill>
              <a:latin typeface="Aptos"/>
              <a:ea typeface="Aptos"/>
              <a:cs typeface="Aptos"/>
            </a:endParaRPr>
          </a:p>
        </p:txBody>
      </p:sp>
      <p:sp>
        <p:nvSpPr>
          <p:cNvPr id="23" name="矩形 22"/>
          <p:cNvSpPr/>
          <p:nvPr/>
        </p:nvSpPr>
        <p:spPr>
          <a:xfrm>
            <a:off x="3028950" y="2495550"/>
            <a:ext cx="3733800" cy="742950"/>
          </a:xfrm>
          <a:prstGeom prst="rect">
            <a:avLst/>
          </a:prstGeom>
          <a:solidFill>
            <a:srgbClr val="F6F8FB"/>
          </a:solidFill>
          <a:ln w="9525">
            <a:solidFill>
              <a:srgbClr val="C9D4E2"/>
            </a:solidFill>
            <a:prstDash val="solid"/>
          </a:ln>
        </p:spPr>
      </p:sp>
      <p:sp>
        <p:nvSpPr>
          <p:cNvPr id="24" name="矩形 23"/>
          <p:cNvSpPr/>
          <p:nvPr/>
        </p:nvSpPr>
        <p:spPr>
          <a:xfrm>
            <a:off x="3162300" y="2686050"/>
            <a:ext cx="34671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72033"/>
                </a:solidFill>
                <a:latin typeface="Aptos"/>
                <a:ea typeface="Aptos"/>
                <a:cs typeface="Aptos"/>
              </a:defRPr>
            </a:pPr>
            <a:r>
              <a:rPr sz="1350" b="0">
                <a:solidFill>
                  <a:srgbClr val="172033"/>
                </a:solidFill>
                <a:latin typeface="Aptos"/>
                <a:ea typeface="Aptos"/>
                <a:cs typeface="Aptos"/>
              </a:rPr>
              <a:t>Carbon reduction</a:t>
            </a:r>
            <a:endParaRPr sz="1350" b="0">
              <a:solidFill>
                <a:srgbClr val="172033"/>
              </a:solidFill>
              <a:latin typeface="Aptos"/>
              <a:ea typeface="Aptos"/>
              <a:cs typeface="Aptos"/>
            </a:endParaRPr>
          </a:p>
        </p:txBody>
      </p:sp>
      <p:sp>
        <p:nvSpPr>
          <p:cNvPr id="25" name="矩形 24"/>
          <p:cNvSpPr/>
          <p:nvPr/>
        </p:nvSpPr>
        <p:spPr>
          <a:xfrm>
            <a:off x="6762750" y="2495550"/>
            <a:ext cx="4552950" cy="742950"/>
          </a:xfrm>
          <a:prstGeom prst="rect">
            <a:avLst/>
          </a:prstGeom>
          <a:solidFill>
            <a:srgbClr val="F6F8FB"/>
          </a:solidFill>
          <a:ln w="9525">
            <a:solidFill>
              <a:srgbClr val="C9D4E2"/>
            </a:solidFill>
            <a:prstDash val="solid"/>
          </a:ln>
        </p:spPr>
      </p:sp>
      <p:sp>
        <p:nvSpPr>
          <p:cNvPr id="26" name="矩形 25"/>
          <p:cNvSpPr/>
          <p:nvPr/>
        </p:nvSpPr>
        <p:spPr>
          <a:xfrm>
            <a:off x="6896100" y="2686050"/>
            <a:ext cx="4286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2355B"/>
                </a:solidFill>
                <a:latin typeface="Aptos"/>
                <a:ea typeface="Aptos"/>
                <a:cs typeface="Aptos"/>
              </a:defRPr>
            </a:pPr>
            <a:r>
              <a:rPr sz="1350" b="1">
                <a:solidFill>
                  <a:srgbClr val="12355B"/>
                </a:solidFill>
                <a:latin typeface="Aptos"/>
                <a:ea typeface="Aptos"/>
                <a:cs typeface="Aptos"/>
              </a:rPr>
              <a:t>Lower emissions</a:t>
            </a:r>
            <a:endParaRPr sz="1350" b="1">
              <a:solidFill>
                <a:srgbClr val="12355B"/>
              </a:solidFill>
              <a:latin typeface="Aptos"/>
              <a:ea typeface="Aptos"/>
              <a:cs typeface="Aptos"/>
            </a:endParaRPr>
          </a:p>
        </p:txBody>
      </p:sp>
      <p:sp>
        <p:nvSpPr>
          <p:cNvPr id="27" name="矩形 26"/>
          <p:cNvSpPr/>
          <p:nvPr/>
        </p:nvSpPr>
        <p:spPr>
          <a:xfrm>
            <a:off x="666750" y="3238500"/>
            <a:ext cx="2362200" cy="742950"/>
          </a:xfrm>
          <a:prstGeom prst="rect">
            <a:avLst/>
          </a:prstGeom>
          <a:solidFill>
            <a:srgbClr val="FFFFFF"/>
          </a:solidFill>
          <a:ln w="9525">
            <a:solidFill>
              <a:srgbClr val="C9D4E2"/>
            </a:solidFill>
            <a:prstDash val="solid"/>
          </a:ln>
        </p:spPr>
      </p:sp>
      <p:sp>
        <p:nvSpPr>
          <p:cNvPr id="28" name="矩形 27"/>
          <p:cNvSpPr/>
          <p:nvPr/>
        </p:nvSpPr>
        <p:spPr>
          <a:xfrm>
            <a:off x="800100" y="3429000"/>
            <a:ext cx="2095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172033"/>
                </a:solidFill>
                <a:latin typeface="Aptos"/>
                <a:ea typeface="Aptos"/>
                <a:cs typeface="Aptos"/>
              </a:defRPr>
            </a:pPr>
            <a:r>
              <a:rPr sz="1240" b="1">
                <a:solidFill>
                  <a:srgbClr val="172033"/>
                </a:solidFill>
                <a:latin typeface="Aptos"/>
                <a:ea typeface="Aptos"/>
                <a:cs typeface="Aptos"/>
              </a:rPr>
              <a:t>Passengers</a:t>
            </a:r>
            <a:endParaRPr sz="1240" b="1">
              <a:solidFill>
                <a:srgbClr val="172033"/>
              </a:solidFill>
              <a:latin typeface="Aptos"/>
              <a:ea typeface="Aptos"/>
              <a:cs typeface="Aptos"/>
            </a:endParaRPr>
          </a:p>
        </p:txBody>
      </p:sp>
      <p:sp>
        <p:nvSpPr>
          <p:cNvPr id="29" name="矩形 28"/>
          <p:cNvSpPr/>
          <p:nvPr/>
        </p:nvSpPr>
        <p:spPr>
          <a:xfrm>
            <a:off x="3028950" y="3238500"/>
            <a:ext cx="3733800" cy="742950"/>
          </a:xfrm>
          <a:prstGeom prst="rect">
            <a:avLst/>
          </a:prstGeom>
          <a:solidFill>
            <a:srgbClr val="FFFFFF"/>
          </a:solidFill>
          <a:ln w="9525">
            <a:solidFill>
              <a:srgbClr val="C9D4E2"/>
            </a:solidFill>
            <a:prstDash val="solid"/>
          </a:ln>
        </p:spPr>
      </p:sp>
      <p:sp>
        <p:nvSpPr>
          <p:cNvPr id="30" name="矩形 29"/>
          <p:cNvSpPr/>
          <p:nvPr/>
        </p:nvSpPr>
        <p:spPr>
          <a:xfrm>
            <a:off x="3162300" y="3429000"/>
            <a:ext cx="34671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72033"/>
                </a:solidFill>
                <a:latin typeface="Aptos"/>
                <a:ea typeface="Aptos"/>
                <a:cs typeface="Aptos"/>
              </a:defRPr>
            </a:pPr>
            <a:r>
              <a:rPr sz="1350" b="0">
                <a:solidFill>
                  <a:srgbClr val="172033"/>
                </a:solidFill>
                <a:latin typeface="Aptos"/>
                <a:ea typeface="Aptos"/>
                <a:cs typeface="Aptos"/>
              </a:rPr>
              <a:t>Reliable green rail</a:t>
            </a:r>
            <a:endParaRPr sz="1350" b="0">
              <a:solidFill>
                <a:srgbClr val="172033"/>
              </a:solidFill>
              <a:latin typeface="Aptos"/>
              <a:ea typeface="Aptos"/>
              <a:cs typeface="Aptos"/>
            </a:endParaRPr>
          </a:p>
        </p:txBody>
      </p:sp>
      <p:sp>
        <p:nvSpPr>
          <p:cNvPr id="31" name="矩形 30"/>
          <p:cNvSpPr/>
          <p:nvPr/>
        </p:nvSpPr>
        <p:spPr>
          <a:xfrm>
            <a:off x="6762750" y="3238500"/>
            <a:ext cx="4552950" cy="742950"/>
          </a:xfrm>
          <a:prstGeom prst="rect">
            <a:avLst/>
          </a:prstGeom>
          <a:solidFill>
            <a:srgbClr val="FFFFFF"/>
          </a:solidFill>
          <a:ln w="9525">
            <a:solidFill>
              <a:srgbClr val="C9D4E2"/>
            </a:solidFill>
            <a:prstDash val="solid"/>
          </a:ln>
        </p:spPr>
      </p:sp>
      <p:sp>
        <p:nvSpPr>
          <p:cNvPr id="32" name="矩形 31"/>
          <p:cNvSpPr/>
          <p:nvPr/>
        </p:nvSpPr>
        <p:spPr>
          <a:xfrm>
            <a:off x="6896100" y="3429000"/>
            <a:ext cx="4286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2355B"/>
                </a:solidFill>
                <a:latin typeface="Aptos"/>
                <a:ea typeface="Aptos"/>
                <a:cs typeface="Aptos"/>
              </a:defRPr>
            </a:pPr>
            <a:r>
              <a:rPr sz="1350" b="1">
                <a:solidFill>
                  <a:srgbClr val="12355B"/>
                </a:solidFill>
                <a:latin typeface="Aptos"/>
                <a:ea typeface="Aptos"/>
                <a:cs typeface="Aptos"/>
              </a:rPr>
              <a:t>Efficient operation</a:t>
            </a:r>
            <a:endParaRPr sz="1350" b="1">
              <a:solidFill>
                <a:srgbClr val="12355B"/>
              </a:solidFill>
              <a:latin typeface="Aptos"/>
              <a:ea typeface="Aptos"/>
              <a:cs typeface="Aptos"/>
            </a:endParaRPr>
          </a:p>
        </p:txBody>
      </p:sp>
      <p:sp>
        <p:nvSpPr>
          <p:cNvPr id="33" name="矩形 32"/>
          <p:cNvSpPr/>
          <p:nvPr/>
        </p:nvSpPr>
        <p:spPr>
          <a:xfrm>
            <a:off x="666750" y="3981450"/>
            <a:ext cx="2362200" cy="742950"/>
          </a:xfrm>
          <a:prstGeom prst="rect">
            <a:avLst/>
          </a:prstGeom>
          <a:solidFill>
            <a:srgbClr val="F6F8FB"/>
          </a:solidFill>
          <a:ln w="9525">
            <a:solidFill>
              <a:srgbClr val="C9D4E2"/>
            </a:solidFill>
            <a:prstDash val="solid"/>
          </a:ln>
        </p:spPr>
      </p:sp>
      <p:sp>
        <p:nvSpPr>
          <p:cNvPr id="34" name="矩形 33"/>
          <p:cNvSpPr/>
          <p:nvPr/>
        </p:nvSpPr>
        <p:spPr>
          <a:xfrm>
            <a:off x="800100" y="4171950"/>
            <a:ext cx="2095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172033"/>
                </a:solidFill>
                <a:latin typeface="Aptos"/>
                <a:ea typeface="Aptos"/>
                <a:cs typeface="Aptos"/>
              </a:defRPr>
            </a:pPr>
            <a:r>
              <a:rPr sz="1240" b="1">
                <a:solidFill>
                  <a:srgbClr val="172033"/>
                </a:solidFill>
                <a:latin typeface="Aptos"/>
                <a:ea typeface="Aptos"/>
                <a:cs typeface="Aptos"/>
              </a:rPr>
              <a:t>Local communities</a:t>
            </a:r>
            <a:endParaRPr sz="1240" b="1">
              <a:solidFill>
                <a:srgbClr val="172033"/>
              </a:solidFill>
              <a:latin typeface="Aptos"/>
              <a:ea typeface="Aptos"/>
              <a:cs typeface="Aptos"/>
            </a:endParaRPr>
          </a:p>
        </p:txBody>
      </p:sp>
      <p:sp>
        <p:nvSpPr>
          <p:cNvPr id="35" name="矩形 34"/>
          <p:cNvSpPr/>
          <p:nvPr/>
        </p:nvSpPr>
        <p:spPr>
          <a:xfrm>
            <a:off x="3028950" y="3981450"/>
            <a:ext cx="3733800" cy="742950"/>
          </a:xfrm>
          <a:prstGeom prst="rect">
            <a:avLst/>
          </a:prstGeom>
          <a:solidFill>
            <a:srgbClr val="F6F8FB"/>
          </a:solidFill>
          <a:ln w="9525">
            <a:solidFill>
              <a:srgbClr val="C9D4E2"/>
            </a:solidFill>
            <a:prstDash val="solid"/>
          </a:ln>
        </p:spPr>
      </p:sp>
      <p:sp>
        <p:nvSpPr>
          <p:cNvPr id="36" name="矩形 35"/>
          <p:cNvSpPr/>
          <p:nvPr/>
        </p:nvSpPr>
        <p:spPr>
          <a:xfrm>
            <a:off x="3162300" y="4171950"/>
            <a:ext cx="34671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72033"/>
                </a:solidFill>
                <a:latin typeface="Aptos"/>
                <a:ea typeface="Aptos"/>
                <a:cs typeface="Aptos"/>
              </a:defRPr>
            </a:pPr>
            <a:r>
              <a:rPr sz="1350" b="0">
                <a:solidFill>
                  <a:srgbClr val="172033"/>
                </a:solidFill>
                <a:latin typeface="Aptos"/>
                <a:ea typeface="Aptos"/>
                <a:cs typeface="Aptos"/>
              </a:rPr>
              <a:t>Lower footprint</a:t>
            </a:r>
            <a:endParaRPr sz="1350" b="0">
              <a:solidFill>
                <a:srgbClr val="172033"/>
              </a:solidFill>
              <a:latin typeface="Aptos"/>
              <a:ea typeface="Aptos"/>
              <a:cs typeface="Aptos"/>
            </a:endParaRPr>
          </a:p>
        </p:txBody>
      </p:sp>
      <p:sp>
        <p:nvSpPr>
          <p:cNvPr id="37" name="矩形 36"/>
          <p:cNvSpPr/>
          <p:nvPr/>
        </p:nvSpPr>
        <p:spPr>
          <a:xfrm>
            <a:off x="6762750" y="3981450"/>
            <a:ext cx="4552950" cy="742950"/>
          </a:xfrm>
          <a:prstGeom prst="rect">
            <a:avLst/>
          </a:prstGeom>
          <a:solidFill>
            <a:srgbClr val="F6F8FB"/>
          </a:solidFill>
          <a:ln w="9525">
            <a:solidFill>
              <a:srgbClr val="C9D4E2"/>
            </a:solidFill>
            <a:prstDash val="solid"/>
          </a:ln>
        </p:spPr>
      </p:sp>
      <p:sp>
        <p:nvSpPr>
          <p:cNvPr id="38" name="矩形 37"/>
          <p:cNvSpPr/>
          <p:nvPr/>
        </p:nvSpPr>
        <p:spPr>
          <a:xfrm>
            <a:off x="6896100" y="4171950"/>
            <a:ext cx="4286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2355B"/>
                </a:solidFill>
                <a:latin typeface="Aptos"/>
                <a:ea typeface="Aptos"/>
                <a:cs typeface="Aptos"/>
              </a:defRPr>
            </a:pPr>
            <a:r>
              <a:rPr sz="1350" b="1">
                <a:solidFill>
                  <a:srgbClr val="12355B"/>
                </a:solidFill>
                <a:latin typeface="Aptos"/>
                <a:ea typeface="Aptos"/>
                <a:cs typeface="Aptos"/>
              </a:rPr>
              <a:t>Lower operational impact</a:t>
            </a:r>
            <a:endParaRPr sz="1350" b="1">
              <a:solidFill>
                <a:srgbClr val="12355B"/>
              </a:solidFill>
              <a:latin typeface="Aptos"/>
              <a:ea typeface="Aptos"/>
              <a:cs typeface="Aptos"/>
            </a:endParaRPr>
          </a:p>
        </p:txBody>
      </p:sp>
      <p:sp>
        <p:nvSpPr>
          <p:cNvPr id="39" name="矩形 38"/>
          <p:cNvSpPr/>
          <p:nvPr/>
        </p:nvSpPr>
        <p:spPr>
          <a:xfrm>
            <a:off x="666750" y="4724400"/>
            <a:ext cx="2362200" cy="742950"/>
          </a:xfrm>
          <a:prstGeom prst="rect">
            <a:avLst/>
          </a:prstGeom>
          <a:solidFill>
            <a:srgbClr val="FFFFFF"/>
          </a:solidFill>
          <a:ln w="9525">
            <a:solidFill>
              <a:srgbClr val="C9D4E2"/>
            </a:solidFill>
            <a:prstDash val="solid"/>
          </a:ln>
        </p:spPr>
      </p:sp>
      <p:sp>
        <p:nvSpPr>
          <p:cNvPr id="40" name="矩形 39"/>
          <p:cNvSpPr/>
          <p:nvPr/>
        </p:nvSpPr>
        <p:spPr>
          <a:xfrm>
            <a:off x="800100" y="4914900"/>
            <a:ext cx="2095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172033"/>
                </a:solidFill>
                <a:latin typeface="Aptos"/>
                <a:ea typeface="Aptos"/>
                <a:cs typeface="Aptos"/>
              </a:defRPr>
            </a:pPr>
            <a:r>
              <a:rPr sz="1240" b="1">
                <a:solidFill>
                  <a:srgbClr val="172033"/>
                </a:solidFill>
                <a:latin typeface="Aptos"/>
                <a:ea typeface="Aptos"/>
                <a:cs typeface="Aptos"/>
              </a:rPr>
              <a:t>Engineers + manufacturers</a:t>
            </a:r>
            <a:endParaRPr sz="1240" b="1">
              <a:solidFill>
                <a:srgbClr val="172033"/>
              </a:solidFill>
              <a:latin typeface="Aptos"/>
              <a:ea typeface="Aptos"/>
              <a:cs typeface="Aptos"/>
            </a:endParaRPr>
          </a:p>
        </p:txBody>
      </p:sp>
      <p:sp>
        <p:nvSpPr>
          <p:cNvPr id="41" name="矩形 40"/>
          <p:cNvSpPr/>
          <p:nvPr/>
        </p:nvSpPr>
        <p:spPr>
          <a:xfrm>
            <a:off x="3028950" y="4724400"/>
            <a:ext cx="3733800" cy="742950"/>
          </a:xfrm>
          <a:prstGeom prst="rect">
            <a:avLst/>
          </a:prstGeom>
          <a:solidFill>
            <a:srgbClr val="FFFFFF"/>
          </a:solidFill>
          <a:ln w="9525">
            <a:solidFill>
              <a:srgbClr val="C9D4E2"/>
            </a:solidFill>
            <a:prstDash val="solid"/>
          </a:ln>
        </p:spPr>
      </p:sp>
      <p:sp>
        <p:nvSpPr>
          <p:cNvPr id="42" name="矩形 41"/>
          <p:cNvSpPr/>
          <p:nvPr/>
        </p:nvSpPr>
        <p:spPr>
          <a:xfrm>
            <a:off x="3162300" y="4914900"/>
            <a:ext cx="34671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72033"/>
                </a:solidFill>
                <a:latin typeface="Aptos"/>
                <a:ea typeface="Aptos"/>
                <a:cs typeface="Aptos"/>
              </a:defRPr>
            </a:pPr>
            <a:r>
              <a:rPr sz="1350" b="0">
                <a:solidFill>
                  <a:srgbClr val="172033"/>
                </a:solidFill>
                <a:latin typeface="Aptos"/>
                <a:ea typeface="Aptos"/>
                <a:cs typeface="Aptos"/>
              </a:rPr>
              <a:t>Practical innovation</a:t>
            </a:r>
            <a:endParaRPr sz="1350" b="0">
              <a:solidFill>
                <a:srgbClr val="172033"/>
              </a:solidFill>
              <a:latin typeface="Aptos"/>
              <a:ea typeface="Aptos"/>
              <a:cs typeface="Aptos"/>
            </a:endParaRPr>
          </a:p>
        </p:txBody>
      </p:sp>
      <p:sp>
        <p:nvSpPr>
          <p:cNvPr id="43" name="矩形 42"/>
          <p:cNvSpPr/>
          <p:nvPr/>
        </p:nvSpPr>
        <p:spPr>
          <a:xfrm>
            <a:off x="6762750" y="4724400"/>
            <a:ext cx="4552950" cy="742950"/>
          </a:xfrm>
          <a:prstGeom prst="rect">
            <a:avLst/>
          </a:prstGeom>
          <a:solidFill>
            <a:srgbClr val="FFFFFF"/>
          </a:solidFill>
          <a:ln w="9525">
            <a:solidFill>
              <a:srgbClr val="C9D4E2"/>
            </a:solidFill>
            <a:prstDash val="solid"/>
          </a:ln>
        </p:spPr>
      </p:sp>
      <p:sp>
        <p:nvSpPr>
          <p:cNvPr id="44" name="矩形 43"/>
          <p:cNvSpPr/>
          <p:nvPr/>
        </p:nvSpPr>
        <p:spPr>
          <a:xfrm>
            <a:off x="6896100" y="4914900"/>
            <a:ext cx="4286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2355B"/>
                </a:solidFill>
                <a:latin typeface="Aptos"/>
                <a:ea typeface="Aptos"/>
                <a:cs typeface="Aptos"/>
              </a:defRPr>
            </a:pPr>
            <a:r>
              <a:rPr sz="1350" b="1">
                <a:solidFill>
                  <a:srgbClr val="12355B"/>
                </a:solidFill>
                <a:latin typeface="Aptos"/>
                <a:ea typeface="Aptos"/>
                <a:cs typeface="Aptos"/>
              </a:rPr>
              <a:t>Test selected parts first</a:t>
            </a:r>
            <a:endParaRPr sz="1350" b="1">
              <a:solidFill>
                <a:srgbClr val="12355B"/>
              </a:solidFill>
              <a:latin typeface="Aptos"/>
              <a:ea typeface="Aptos"/>
              <a:cs typeface="Aptos"/>
            </a:endParaRPr>
          </a:p>
        </p:txBody>
      </p:sp>
      <p:pic>
        <p:nvPicPr>
          <p:cNvPr id="45" name="图形 44"/>
          <p:cNvPicPr>
            <a:picLocks noChangeAspect="1"/>
          </p:cNvPicPr>
          <p:nvPr/>
        </p:nvPicPr>
        <p:blipFill>
          <a:blip/>
          <a:stretch>
            <a:fillRect/>
          </a:stretch>
        </p:blipFill>
        <p:spPr>
          <a:xfrm>
            <a:off x="9982200" y="5467350"/>
            <a:ext cx="323850" cy="323850"/>
          </a:xfrm>
          <a:prstGeom prst="rect">
            <a:avLst/>
          </a:prstGeom>
        </p:spPr>
      </p:pic>
      <p:sp>
        <p:nvSpPr>
          <p:cNvPr id="46" name="矩形 45"/>
          <p:cNvSpPr/>
          <p:nvPr/>
        </p:nvSpPr>
        <p:spPr>
          <a:xfrm>
            <a:off x="1390650" y="5619750"/>
            <a:ext cx="8096250" cy="323850"/>
          </a:xfrm>
          <a:prstGeom prst="rect">
            <a:avLst/>
          </a:prstGeom>
          <a:solidFill>
            <a:srgbClr val="000000">
              <a:alpha val="0"/>
            </a:srgbClr>
          </a:solidFill>
          <a:ln w="0">
            <a:solidFill>
              <a:srgbClr val="000000">
                <a:alpha val="0"/>
              </a:srgbClr>
            </a:solidFill>
            <a:prstDash val="solid"/>
          </a:ln>
        </p:spPr>
        <p:txBody>
          <a:bodyPr lIns="95250" tIns="76200" rIns="95250" bIns="76200" anchor="t"/>
          <a:lstStyle/>
          <a:p>
            <a:pPr algn="ctr">
              <a:defRPr sz="1875" b="1">
                <a:solidFill>
                  <a:srgbClr val="12355B"/>
                </a:solidFill>
                <a:latin typeface="Aptos"/>
                <a:ea typeface="Aptos"/>
                <a:cs typeface="Aptos"/>
              </a:defRPr>
            </a:pPr>
            <a:r>
              <a:rPr sz="1875" b="1">
                <a:solidFill>
                  <a:srgbClr val="12355B"/>
                </a:solidFill>
                <a:latin typeface="Aptos"/>
                <a:ea typeface="Aptos"/>
                <a:cs typeface="Aptos"/>
              </a:rPr>
              <a:t>Technical performance + sustainability outcomes</a:t>
            </a:r>
            <a:endParaRPr sz="1875" b="1">
              <a:solidFill>
                <a:srgbClr val="12355B"/>
              </a:solidFill>
              <a:latin typeface="Aptos"/>
              <a:ea typeface="Aptos"/>
              <a:cs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0" y="0"/>
            <a:ext cx="12192000" cy="6858000"/>
          </a:xfrm>
          <a:prstGeom prst="rect">
            <a:avLst/>
          </a:prstGeom>
          <a:solidFill>
            <a:srgbClr val="FFFFFF"/>
          </a:solidFill>
          <a:ln w="0">
            <a:solidFill>
              <a:srgbClr val="000000">
                <a:alpha val="0"/>
              </a:srgbClr>
            </a:solidFill>
            <a:prstDash val="solid"/>
          </a:ln>
        </p:spPr>
      </p:sp>
      <p:sp>
        <p:nvSpPr>
          <p:cNvPr id="2" name="矩形 1"/>
          <p:cNvSpPr/>
          <p:nvPr/>
        </p:nvSpPr>
        <p:spPr>
          <a:xfrm>
            <a:off x="0" y="0"/>
            <a:ext cx="12192000" cy="85725"/>
          </a:xfrm>
          <a:prstGeom prst="rect">
            <a:avLst/>
          </a:prstGeom>
          <a:solidFill>
            <a:srgbClr val="1F6FEB"/>
          </a:solidFill>
          <a:ln w="0">
            <a:solidFill>
              <a:srgbClr val="000000">
                <a:alpha val="0"/>
              </a:srgbClr>
            </a:solidFill>
            <a:prstDash val="solid"/>
          </a:ln>
        </p:spPr>
      </p:sp>
      <p:sp>
        <p:nvSpPr>
          <p:cNvPr id="3" name="矩形 2"/>
          <p:cNvSpPr/>
          <p:nvPr/>
        </p:nvSpPr>
        <p:spPr>
          <a:xfrm>
            <a:off x="0" y="85725"/>
            <a:ext cx="3429000" cy="47625"/>
          </a:xfrm>
          <a:prstGeom prst="rect">
            <a:avLst/>
          </a:prstGeom>
          <a:solidFill>
            <a:srgbClr val="2EAD66"/>
          </a:solidFill>
          <a:ln w="0">
            <a:solidFill>
              <a:srgbClr val="000000">
                <a:alpha val="0"/>
              </a:srgbClr>
            </a:solidFill>
            <a:prstDash val="solid"/>
          </a:ln>
        </p:spPr>
      </p:sp>
      <p:sp>
        <p:nvSpPr>
          <p:cNvPr id="4" name="矩形 3"/>
          <p:cNvSpPr/>
          <p:nvPr/>
        </p:nvSpPr>
        <p:spPr>
          <a:xfrm>
            <a:off x="514350" y="323850"/>
            <a:ext cx="86677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12355B"/>
                </a:solidFill>
                <a:latin typeface="Aptos Display"/>
                <a:ea typeface="Aptos Display"/>
                <a:cs typeface="Aptos Display"/>
              </a:defRPr>
            </a:pPr>
            <a:r>
              <a:rPr sz="2325" b="1">
                <a:solidFill>
                  <a:srgbClr val="12355B"/>
                </a:solidFill>
                <a:latin typeface="Aptos Display"/>
                <a:ea typeface="Aptos Display"/>
                <a:cs typeface="Aptos Display"/>
              </a:rPr>
              <a:t>Risks, Limitations, and Next Steps</a:t>
            </a:r>
            <a:endParaRPr sz="2325" b="1">
              <a:solidFill>
                <a:srgbClr val="12355B"/>
              </a:solidFill>
              <a:latin typeface="Aptos Display"/>
              <a:ea typeface="Aptos Display"/>
              <a:cs typeface="Aptos Display"/>
            </a:endParaRPr>
          </a:p>
        </p:txBody>
      </p:sp>
      <p:sp>
        <p:nvSpPr>
          <p:cNvPr id="5" name="矩形 4"/>
          <p:cNvSpPr/>
          <p:nvPr/>
        </p:nvSpPr>
        <p:spPr>
          <a:xfrm>
            <a:off x="533400" y="762000"/>
            <a:ext cx="8382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F6B7A"/>
                </a:solidFill>
                <a:latin typeface="Aptos"/>
                <a:ea typeface="Aptos"/>
                <a:cs typeface="Aptos"/>
              </a:defRPr>
            </a:pPr>
            <a:r>
              <a:rPr sz="1200" b="0">
                <a:solidFill>
                  <a:srgbClr val="5F6B7A"/>
                </a:solidFill>
                <a:latin typeface="Aptos"/>
                <a:ea typeface="Aptos"/>
                <a:cs typeface="Aptos"/>
              </a:rPr>
              <a:t>The proposal is promising, but it needs material evidence, cost analysis, and rail-safety validation.</a:t>
            </a:r>
            <a:endParaRPr sz="1200" b="0">
              <a:solidFill>
                <a:srgbClr val="5F6B7A"/>
              </a:solidFill>
              <a:latin typeface="Aptos"/>
              <a:ea typeface="Aptos"/>
              <a:cs typeface="Aptos"/>
            </a:endParaRPr>
          </a:p>
        </p:txBody>
      </p:sp>
      <p:sp>
        <p:nvSpPr>
          <p:cNvPr id="6" name="矩形 5"/>
          <p:cNvSpPr/>
          <p:nvPr/>
        </p:nvSpPr>
        <p:spPr>
          <a:xfrm>
            <a:off x="11106150" y="3619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F6B7A"/>
                </a:solidFill>
                <a:latin typeface="Aptos"/>
                <a:ea typeface="Aptos"/>
                <a:cs typeface="Aptos"/>
              </a:defRPr>
            </a:pPr>
            <a:r>
              <a:rPr lang="en-US" sz="1050" b="0">
                <a:solidFill>
                  <a:srgbClr val="5F6B7A"/>
                </a:solidFill>
                <a:latin typeface="Aptos"/>
                <a:ea typeface="Aptos"/>
                <a:cs typeface="Aptos"/>
              </a:rPr>
              <a:t>11</a:t>
            </a:r>
            <a:endParaRPr lang="en-US" sz="1050" b="0">
              <a:solidFill>
                <a:srgbClr val="5F6B7A"/>
              </a:solidFill>
              <a:latin typeface="Aptos"/>
              <a:ea typeface="Aptos"/>
              <a:cs typeface="Aptos"/>
            </a:endParaRPr>
          </a:p>
        </p:txBody>
      </p:sp>
      <p:sp>
        <p:nvSpPr>
          <p:cNvPr id="7" name="矩形: 圆角 6"/>
          <p:cNvSpPr/>
          <p:nvPr/>
        </p:nvSpPr>
        <p:spPr>
          <a:xfrm>
            <a:off x="9191625" y="361950"/>
            <a:ext cx="1619250" cy="266700"/>
          </a:xfrm>
          <a:prstGeom prst="roundRect">
            <a:avLst>
              <a:gd name="adj" fmla="val 28571"/>
            </a:avLst>
          </a:prstGeom>
          <a:solidFill>
            <a:srgbClr val="F6F8FB"/>
          </a:solidFill>
          <a:ln w="9525">
            <a:solidFill>
              <a:srgbClr val="C9D4E2"/>
            </a:solidFill>
            <a:prstDash val="solid"/>
          </a:ln>
        </p:spPr>
      </p:sp>
      <p:sp>
        <p:nvSpPr>
          <p:cNvPr id="8" name="矩形 7"/>
          <p:cNvSpPr/>
          <p:nvPr/>
        </p:nvSpPr>
        <p:spPr>
          <a:xfrm>
            <a:off x="9296400" y="428625"/>
            <a:ext cx="1409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90" b="1">
                <a:solidFill>
                  <a:srgbClr val="12355B"/>
                </a:solidFill>
                <a:latin typeface="Aptos"/>
                <a:ea typeface="Aptos"/>
                <a:cs typeface="Aptos"/>
              </a:defRPr>
            </a:pPr>
            <a:r>
              <a:rPr sz="790" b="1">
                <a:solidFill>
                  <a:srgbClr val="12355B"/>
                </a:solidFill>
                <a:latin typeface="Aptos"/>
                <a:ea typeface="Aptos"/>
                <a:cs typeface="Aptos"/>
              </a:rPr>
              <a:t>Presenter: </a:t>
            </a:r>
            <a:r>
              <a:rPr lang="en-US" sz="790" b="1">
                <a:solidFill>
                  <a:srgbClr val="12355B"/>
                </a:solidFill>
                <a:latin typeface="Aptos"/>
                <a:ea typeface="Aptos"/>
                <a:cs typeface="Aptos"/>
              </a:rPr>
              <a:t>Ning WanZheng</a:t>
            </a:r>
            <a:endParaRPr lang="en-US" sz="790" b="1">
              <a:solidFill>
                <a:srgbClr val="12355B"/>
              </a:solidFill>
              <a:latin typeface="Aptos"/>
              <a:ea typeface="Aptos"/>
              <a:cs typeface="Aptos"/>
            </a:endParaRPr>
          </a:p>
        </p:txBody>
      </p:sp>
      <p:sp>
        <p:nvSpPr>
          <p:cNvPr id="9" name="矩形: 圆角 8"/>
          <p:cNvSpPr/>
          <p:nvPr/>
        </p:nvSpPr>
        <p:spPr>
          <a:xfrm>
            <a:off x="647700" y="1352550"/>
            <a:ext cx="3028950" cy="3905250"/>
          </a:xfrm>
          <a:prstGeom prst="roundRect">
            <a:avLst>
              <a:gd name="adj" fmla="val 2516"/>
            </a:avLst>
          </a:prstGeom>
          <a:solidFill>
            <a:srgbClr val="FFFFFF"/>
          </a:solidFill>
          <a:ln w="15240">
            <a:solidFill>
              <a:srgbClr val="CC3D3D"/>
            </a:solidFill>
            <a:prstDash val="solid"/>
          </a:ln>
        </p:spPr>
      </p:sp>
      <p:sp>
        <p:nvSpPr>
          <p:cNvPr id="10" name="矩形: 圆角 9"/>
          <p:cNvSpPr/>
          <p:nvPr/>
        </p:nvSpPr>
        <p:spPr>
          <a:xfrm>
            <a:off x="647700" y="1352550"/>
            <a:ext cx="3028950" cy="552450"/>
          </a:xfrm>
          <a:prstGeom prst="roundRect">
            <a:avLst>
              <a:gd name="adj" fmla="val 13793"/>
            </a:avLst>
          </a:prstGeom>
          <a:solidFill>
            <a:srgbClr val="FFF1F1"/>
          </a:solidFill>
          <a:ln w="15240">
            <a:solidFill>
              <a:srgbClr val="CC3D3D"/>
            </a:solidFill>
            <a:prstDash val="solid"/>
          </a:ln>
        </p:spPr>
      </p:sp>
      <p:sp>
        <p:nvSpPr>
          <p:cNvPr id="11" name="矩形 10"/>
          <p:cNvSpPr/>
          <p:nvPr/>
        </p:nvSpPr>
        <p:spPr>
          <a:xfrm>
            <a:off x="838200" y="1524000"/>
            <a:ext cx="1905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CC3D3D"/>
                </a:solidFill>
                <a:latin typeface="Aptos"/>
                <a:ea typeface="Aptos"/>
                <a:cs typeface="Aptos"/>
              </a:defRPr>
            </a:pPr>
            <a:r>
              <a:rPr sz="1650" b="1">
                <a:solidFill>
                  <a:srgbClr val="CC3D3D"/>
                </a:solidFill>
                <a:latin typeface="Aptos"/>
                <a:ea typeface="Aptos"/>
                <a:cs typeface="Aptos"/>
              </a:rPr>
              <a:t>Risks</a:t>
            </a:r>
            <a:endParaRPr sz="1650" b="1">
              <a:solidFill>
                <a:srgbClr val="CC3D3D"/>
              </a:solidFill>
              <a:latin typeface="Aptos"/>
              <a:ea typeface="Aptos"/>
              <a:cs typeface="Aptos"/>
            </a:endParaRPr>
          </a:p>
        </p:txBody>
      </p:sp>
      <p:sp>
        <p:nvSpPr>
          <p:cNvPr id="12" name="椭圆 11"/>
          <p:cNvSpPr/>
          <p:nvPr/>
        </p:nvSpPr>
        <p:spPr>
          <a:xfrm>
            <a:off x="857250" y="2190750"/>
            <a:ext cx="95250" cy="95250"/>
          </a:xfrm>
          <a:prstGeom prst="ellipse">
            <a:avLst/>
          </a:prstGeom>
          <a:solidFill>
            <a:srgbClr val="CC3D3D"/>
          </a:solidFill>
          <a:ln w="9525">
            <a:solidFill>
              <a:srgbClr val="CC3D3D"/>
            </a:solidFill>
            <a:prstDash val="solid"/>
          </a:ln>
        </p:spPr>
      </p:sp>
      <p:sp>
        <p:nvSpPr>
          <p:cNvPr id="13" name="矩形 12"/>
          <p:cNvSpPr/>
          <p:nvPr/>
        </p:nvSpPr>
        <p:spPr>
          <a:xfrm>
            <a:off x="1085850" y="217170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172033"/>
                </a:solidFill>
                <a:latin typeface="Aptos"/>
                <a:ea typeface="Aptos"/>
                <a:cs typeface="Aptos"/>
              </a:defRPr>
            </a:pPr>
            <a:r>
              <a:rPr sz="1315" b="1">
                <a:solidFill>
                  <a:srgbClr val="172033"/>
                </a:solidFill>
                <a:latin typeface="Aptos"/>
                <a:ea typeface="Aptos"/>
                <a:cs typeface="Aptos"/>
              </a:rPr>
              <a:t>Upfront cost</a:t>
            </a:r>
            <a:endParaRPr sz="1315" b="1">
              <a:solidFill>
                <a:srgbClr val="172033"/>
              </a:solidFill>
              <a:latin typeface="Aptos"/>
              <a:ea typeface="Aptos"/>
              <a:cs typeface="Aptos"/>
            </a:endParaRPr>
          </a:p>
        </p:txBody>
      </p:sp>
      <p:sp>
        <p:nvSpPr>
          <p:cNvPr id="14" name="椭圆 13"/>
          <p:cNvSpPr/>
          <p:nvPr/>
        </p:nvSpPr>
        <p:spPr>
          <a:xfrm>
            <a:off x="857250" y="2743200"/>
            <a:ext cx="95250" cy="95250"/>
          </a:xfrm>
          <a:prstGeom prst="ellipse">
            <a:avLst/>
          </a:prstGeom>
          <a:solidFill>
            <a:srgbClr val="CC3D3D"/>
          </a:solidFill>
          <a:ln w="9525">
            <a:solidFill>
              <a:srgbClr val="CC3D3D"/>
            </a:solidFill>
            <a:prstDash val="solid"/>
          </a:ln>
        </p:spPr>
      </p:sp>
      <p:sp>
        <p:nvSpPr>
          <p:cNvPr id="15" name="矩形 14"/>
          <p:cNvSpPr/>
          <p:nvPr/>
        </p:nvSpPr>
        <p:spPr>
          <a:xfrm>
            <a:off x="1085850" y="272415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172033"/>
                </a:solidFill>
                <a:latin typeface="Aptos"/>
                <a:ea typeface="Aptos"/>
                <a:cs typeface="Aptos"/>
              </a:defRPr>
            </a:pPr>
            <a:r>
              <a:rPr sz="1315" b="1">
                <a:solidFill>
                  <a:srgbClr val="172033"/>
                </a:solidFill>
                <a:latin typeface="Aptos"/>
                <a:ea typeface="Aptos"/>
                <a:cs typeface="Aptos"/>
              </a:rPr>
              <a:t>Material supply</a:t>
            </a:r>
            <a:endParaRPr sz="1315" b="1">
              <a:solidFill>
                <a:srgbClr val="172033"/>
              </a:solidFill>
              <a:latin typeface="Aptos"/>
              <a:ea typeface="Aptos"/>
              <a:cs typeface="Aptos"/>
            </a:endParaRPr>
          </a:p>
        </p:txBody>
      </p:sp>
      <p:sp>
        <p:nvSpPr>
          <p:cNvPr id="16" name="椭圆 15"/>
          <p:cNvSpPr/>
          <p:nvPr/>
        </p:nvSpPr>
        <p:spPr>
          <a:xfrm>
            <a:off x="857250" y="3295650"/>
            <a:ext cx="95250" cy="95250"/>
          </a:xfrm>
          <a:prstGeom prst="ellipse">
            <a:avLst/>
          </a:prstGeom>
          <a:solidFill>
            <a:srgbClr val="CC3D3D"/>
          </a:solidFill>
          <a:ln w="9525">
            <a:solidFill>
              <a:srgbClr val="CC3D3D"/>
            </a:solidFill>
            <a:prstDash val="solid"/>
          </a:ln>
        </p:spPr>
      </p:sp>
      <p:sp>
        <p:nvSpPr>
          <p:cNvPr id="17" name="矩形 16"/>
          <p:cNvSpPr/>
          <p:nvPr/>
        </p:nvSpPr>
        <p:spPr>
          <a:xfrm>
            <a:off x="1085850" y="327660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172033"/>
                </a:solidFill>
                <a:latin typeface="Aptos"/>
                <a:ea typeface="Aptos"/>
                <a:cs typeface="Aptos"/>
              </a:defRPr>
            </a:pPr>
            <a:r>
              <a:rPr sz="1315" b="1">
                <a:solidFill>
                  <a:srgbClr val="172033"/>
                </a:solidFill>
                <a:latin typeface="Aptos"/>
                <a:ea typeface="Aptos"/>
                <a:cs typeface="Aptos"/>
              </a:rPr>
              <a:t>Certification</a:t>
            </a:r>
            <a:endParaRPr sz="1315" b="1">
              <a:solidFill>
                <a:srgbClr val="172033"/>
              </a:solidFill>
              <a:latin typeface="Aptos"/>
              <a:ea typeface="Aptos"/>
              <a:cs typeface="Aptos"/>
            </a:endParaRPr>
          </a:p>
        </p:txBody>
      </p:sp>
      <p:sp>
        <p:nvSpPr>
          <p:cNvPr id="18" name="椭圆 17"/>
          <p:cNvSpPr/>
          <p:nvPr/>
        </p:nvSpPr>
        <p:spPr>
          <a:xfrm>
            <a:off x="857250" y="3848100"/>
            <a:ext cx="95250" cy="95250"/>
          </a:xfrm>
          <a:prstGeom prst="ellipse">
            <a:avLst/>
          </a:prstGeom>
          <a:solidFill>
            <a:srgbClr val="CC3D3D"/>
          </a:solidFill>
          <a:ln w="9525">
            <a:solidFill>
              <a:srgbClr val="CC3D3D"/>
            </a:solidFill>
            <a:prstDash val="solid"/>
          </a:ln>
        </p:spPr>
      </p:sp>
      <p:sp>
        <p:nvSpPr>
          <p:cNvPr id="19" name="矩形 18"/>
          <p:cNvSpPr/>
          <p:nvPr/>
        </p:nvSpPr>
        <p:spPr>
          <a:xfrm>
            <a:off x="1085850" y="382905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172033"/>
                </a:solidFill>
                <a:latin typeface="Aptos"/>
                <a:ea typeface="Aptos"/>
                <a:cs typeface="Aptos"/>
              </a:defRPr>
            </a:pPr>
            <a:r>
              <a:rPr sz="1315" b="1">
                <a:solidFill>
                  <a:srgbClr val="172033"/>
                </a:solidFill>
                <a:latin typeface="Aptos"/>
                <a:ea typeface="Aptos"/>
                <a:cs typeface="Aptos"/>
              </a:rPr>
              <a:t>Repair/recycling</a:t>
            </a:r>
            <a:endParaRPr sz="1315" b="1">
              <a:solidFill>
                <a:srgbClr val="172033"/>
              </a:solidFill>
              <a:latin typeface="Aptos"/>
              <a:ea typeface="Aptos"/>
              <a:cs typeface="Aptos"/>
            </a:endParaRPr>
          </a:p>
        </p:txBody>
      </p:sp>
      <p:sp>
        <p:nvSpPr>
          <p:cNvPr id="20" name="椭圆 19"/>
          <p:cNvSpPr/>
          <p:nvPr/>
        </p:nvSpPr>
        <p:spPr>
          <a:xfrm>
            <a:off x="857250" y="4400550"/>
            <a:ext cx="95250" cy="95250"/>
          </a:xfrm>
          <a:prstGeom prst="ellipse">
            <a:avLst/>
          </a:prstGeom>
          <a:solidFill>
            <a:srgbClr val="CC3D3D"/>
          </a:solidFill>
          <a:ln w="9525">
            <a:solidFill>
              <a:srgbClr val="CC3D3D"/>
            </a:solidFill>
            <a:prstDash val="solid"/>
          </a:ln>
        </p:spPr>
      </p:sp>
      <p:sp>
        <p:nvSpPr>
          <p:cNvPr id="21" name="矩形 20"/>
          <p:cNvSpPr/>
          <p:nvPr/>
        </p:nvSpPr>
        <p:spPr>
          <a:xfrm>
            <a:off x="1085850" y="438150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172033"/>
                </a:solidFill>
                <a:latin typeface="Aptos"/>
                <a:ea typeface="Aptos"/>
                <a:cs typeface="Aptos"/>
              </a:defRPr>
            </a:pPr>
            <a:r>
              <a:rPr sz="1315" b="1">
                <a:solidFill>
                  <a:srgbClr val="172033"/>
                </a:solidFill>
                <a:latin typeface="Aptos"/>
                <a:ea typeface="Aptos"/>
                <a:cs typeface="Aptos"/>
              </a:rPr>
              <a:t>Manufacturing changes</a:t>
            </a:r>
            <a:endParaRPr sz="1315" b="1">
              <a:solidFill>
                <a:srgbClr val="172033"/>
              </a:solidFill>
              <a:latin typeface="Aptos"/>
              <a:ea typeface="Aptos"/>
              <a:cs typeface="Aptos"/>
            </a:endParaRPr>
          </a:p>
        </p:txBody>
      </p:sp>
      <p:sp>
        <p:nvSpPr>
          <p:cNvPr id="22" name="矩形: 圆角 21"/>
          <p:cNvSpPr/>
          <p:nvPr/>
        </p:nvSpPr>
        <p:spPr>
          <a:xfrm>
            <a:off x="4210050" y="1352550"/>
            <a:ext cx="3028950" cy="3905250"/>
          </a:xfrm>
          <a:prstGeom prst="roundRect">
            <a:avLst>
              <a:gd name="adj" fmla="val 2516"/>
            </a:avLst>
          </a:prstGeom>
          <a:solidFill>
            <a:srgbClr val="FFFFFF"/>
          </a:solidFill>
          <a:ln w="15240">
            <a:solidFill>
              <a:srgbClr val="F5A524"/>
            </a:solidFill>
            <a:prstDash val="solid"/>
          </a:ln>
        </p:spPr>
      </p:sp>
      <p:sp>
        <p:nvSpPr>
          <p:cNvPr id="23" name="矩形: 圆角 22"/>
          <p:cNvSpPr/>
          <p:nvPr/>
        </p:nvSpPr>
        <p:spPr>
          <a:xfrm>
            <a:off x="4210050" y="1352550"/>
            <a:ext cx="3028950" cy="552450"/>
          </a:xfrm>
          <a:prstGeom prst="roundRect">
            <a:avLst>
              <a:gd name="adj" fmla="val 13793"/>
            </a:avLst>
          </a:prstGeom>
          <a:solidFill>
            <a:srgbClr val="FFF7E6"/>
          </a:solidFill>
          <a:ln w="15240">
            <a:solidFill>
              <a:srgbClr val="F5A524"/>
            </a:solidFill>
            <a:prstDash val="solid"/>
          </a:ln>
        </p:spPr>
      </p:sp>
      <p:sp>
        <p:nvSpPr>
          <p:cNvPr id="24" name="矩形 23"/>
          <p:cNvSpPr/>
          <p:nvPr/>
        </p:nvSpPr>
        <p:spPr>
          <a:xfrm>
            <a:off x="4400550" y="1524000"/>
            <a:ext cx="1905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5A524"/>
                </a:solidFill>
                <a:latin typeface="Aptos"/>
                <a:ea typeface="Aptos"/>
                <a:cs typeface="Aptos"/>
              </a:defRPr>
            </a:pPr>
            <a:r>
              <a:rPr sz="1650" b="1">
                <a:solidFill>
                  <a:srgbClr val="F5A524"/>
                </a:solidFill>
                <a:latin typeface="Aptos"/>
                <a:ea typeface="Aptos"/>
                <a:cs typeface="Aptos"/>
              </a:rPr>
              <a:t>Limitations</a:t>
            </a:r>
            <a:endParaRPr sz="1650" b="1">
              <a:solidFill>
                <a:srgbClr val="F5A524"/>
              </a:solidFill>
              <a:latin typeface="Aptos"/>
              <a:ea typeface="Aptos"/>
              <a:cs typeface="Aptos"/>
            </a:endParaRPr>
          </a:p>
        </p:txBody>
      </p:sp>
      <p:sp>
        <p:nvSpPr>
          <p:cNvPr id="25" name="椭圆 24"/>
          <p:cNvSpPr/>
          <p:nvPr/>
        </p:nvSpPr>
        <p:spPr>
          <a:xfrm>
            <a:off x="4419600" y="2190750"/>
            <a:ext cx="95250" cy="95250"/>
          </a:xfrm>
          <a:prstGeom prst="ellipse">
            <a:avLst/>
          </a:prstGeom>
          <a:solidFill>
            <a:srgbClr val="F5A524"/>
          </a:solidFill>
          <a:ln w="9525">
            <a:solidFill>
              <a:srgbClr val="F5A524"/>
            </a:solidFill>
            <a:prstDash val="solid"/>
          </a:ln>
        </p:spPr>
      </p:sp>
      <p:sp>
        <p:nvSpPr>
          <p:cNvPr id="26" name="矩形 25"/>
          <p:cNvSpPr/>
          <p:nvPr/>
        </p:nvSpPr>
        <p:spPr>
          <a:xfrm>
            <a:off x="4648200" y="217170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172033"/>
                </a:solidFill>
                <a:latin typeface="Aptos"/>
                <a:ea typeface="Aptos"/>
                <a:cs typeface="Aptos"/>
              </a:defRPr>
            </a:pPr>
            <a:r>
              <a:rPr sz="1315" b="1">
                <a:solidFill>
                  <a:srgbClr val="172033"/>
                </a:solidFill>
                <a:latin typeface="Aptos"/>
                <a:ea typeface="Aptos"/>
                <a:cs typeface="Aptos"/>
              </a:rPr>
              <a:t>Material data gaps</a:t>
            </a:r>
            <a:endParaRPr sz="1315" b="1">
              <a:solidFill>
                <a:srgbClr val="172033"/>
              </a:solidFill>
              <a:latin typeface="Aptos"/>
              <a:ea typeface="Aptos"/>
              <a:cs typeface="Aptos"/>
            </a:endParaRPr>
          </a:p>
        </p:txBody>
      </p:sp>
      <p:sp>
        <p:nvSpPr>
          <p:cNvPr id="27" name="椭圆 26"/>
          <p:cNvSpPr/>
          <p:nvPr/>
        </p:nvSpPr>
        <p:spPr>
          <a:xfrm>
            <a:off x="4419600" y="2743200"/>
            <a:ext cx="95250" cy="95250"/>
          </a:xfrm>
          <a:prstGeom prst="ellipse">
            <a:avLst/>
          </a:prstGeom>
          <a:solidFill>
            <a:srgbClr val="F5A524"/>
          </a:solidFill>
          <a:ln w="9525">
            <a:solidFill>
              <a:srgbClr val="F5A524"/>
            </a:solidFill>
            <a:prstDash val="solid"/>
          </a:ln>
        </p:spPr>
      </p:sp>
      <p:sp>
        <p:nvSpPr>
          <p:cNvPr id="28" name="矩形 27"/>
          <p:cNvSpPr/>
          <p:nvPr/>
        </p:nvSpPr>
        <p:spPr>
          <a:xfrm>
            <a:off x="4648200" y="272415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172033"/>
                </a:solidFill>
                <a:latin typeface="Aptos"/>
                <a:ea typeface="Aptos"/>
                <a:cs typeface="Aptos"/>
              </a:defRPr>
            </a:pPr>
            <a:r>
              <a:rPr sz="1315" b="1">
                <a:solidFill>
                  <a:srgbClr val="172033"/>
                </a:solidFill>
                <a:latin typeface="Aptos"/>
                <a:ea typeface="Aptos"/>
                <a:cs typeface="Aptos"/>
              </a:rPr>
              <a:t>Real-train physics</a:t>
            </a:r>
            <a:endParaRPr sz="1315" b="1">
              <a:solidFill>
                <a:srgbClr val="172033"/>
              </a:solidFill>
              <a:latin typeface="Aptos"/>
              <a:ea typeface="Aptos"/>
              <a:cs typeface="Aptos"/>
            </a:endParaRPr>
          </a:p>
        </p:txBody>
      </p:sp>
      <p:sp>
        <p:nvSpPr>
          <p:cNvPr id="29" name="椭圆 28"/>
          <p:cNvSpPr/>
          <p:nvPr/>
        </p:nvSpPr>
        <p:spPr>
          <a:xfrm>
            <a:off x="4419600" y="3295650"/>
            <a:ext cx="95250" cy="95250"/>
          </a:xfrm>
          <a:prstGeom prst="ellipse">
            <a:avLst/>
          </a:prstGeom>
          <a:solidFill>
            <a:srgbClr val="F5A524"/>
          </a:solidFill>
          <a:ln w="9525">
            <a:solidFill>
              <a:srgbClr val="F5A524"/>
            </a:solidFill>
            <a:prstDash val="solid"/>
          </a:ln>
        </p:spPr>
      </p:sp>
      <p:sp>
        <p:nvSpPr>
          <p:cNvPr id="30" name="矩形 29"/>
          <p:cNvSpPr/>
          <p:nvPr/>
        </p:nvSpPr>
        <p:spPr>
          <a:xfrm>
            <a:off x="4648200" y="327660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172033"/>
                </a:solidFill>
                <a:latin typeface="Aptos"/>
                <a:ea typeface="Aptos"/>
                <a:cs typeface="Aptos"/>
              </a:defRPr>
            </a:pPr>
            <a:r>
              <a:rPr sz="1315" b="1">
                <a:solidFill>
                  <a:srgbClr val="172033"/>
                </a:solidFill>
                <a:latin typeface="Aptos"/>
                <a:ea typeface="Aptos"/>
                <a:cs typeface="Aptos"/>
              </a:rPr>
              <a:t>Passenger load</a:t>
            </a:r>
            <a:endParaRPr sz="1315" b="1">
              <a:solidFill>
                <a:srgbClr val="172033"/>
              </a:solidFill>
              <a:latin typeface="Aptos"/>
              <a:ea typeface="Aptos"/>
              <a:cs typeface="Aptos"/>
            </a:endParaRPr>
          </a:p>
        </p:txBody>
      </p:sp>
      <p:sp>
        <p:nvSpPr>
          <p:cNvPr id="31" name="椭圆 30"/>
          <p:cNvSpPr/>
          <p:nvPr/>
        </p:nvSpPr>
        <p:spPr>
          <a:xfrm>
            <a:off x="4419600" y="3848100"/>
            <a:ext cx="95250" cy="95250"/>
          </a:xfrm>
          <a:prstGeom prst="ellipse">
            <a:avLst/>
          </a:prstGeom>
          <a:solidFill>
            <a:srgbClr val="F5A524"/>
          </a:solidFill>
          <a:ln w="9525">
            <a:solidFill>
              <a:srgbClr val="F5A524"/>
            </a:solidFill>
            <a:prstDash val="solid"/>
          </a:ln>
        </p:spPr>
      </p:sp>
      <p:sp>
        <p:nvSpPr>
          <p:cNvPr id="32" name="矩形 31"/>
          <p:cNvSpPr/>
          <p:nvPr/>
        </p:nvSpPr>
        <p:spPr>
          <a:xfrm>
            <a:off x="4648200" y="382905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172033"/>
                </a:solidFill>
                <a:latin typeface="Aptos"/>
                <a:ea typeface="Aptos"/>
                <a:cs typeface="Aptos"/>
              </a:defRPr>
            </a:pPr>
            <a:r>
              <a:rPr sz="1315" b="1">
                <a:solidFill>
                  <a:srgbClr val="172033"/>
                </a:solidFill>
                <a:latin typeface="Aptos"/>
                <a:ea typeface="Aptos"/>
                <a:cs typeface="Aptos"/>
              </a:rPr>
              <a:t>Traction efficiency</a:t>
            </a:r>
            <a:endParaRPr sz="1315" b="1">
              <a:solidFill>
                <a:srgbClr val="172033"/>
              </a:solidFill>
              <a:latin typeface="Aptos"/>
              <a:ea typeface="Aptos"/>
              <a:cs typeface="Aptos"/>
            </a:endParaRPr>
          </a:p>
        </p:txBody>
      </p:sp>
      <p:sp>
        <p:nvSpPr>
          <p:cNvPr id="33" name="椭圆 32"/>
          <p:cNvSpPr/>
          <p:nvPr/>
        </p:nvSpPr>
        <p:spPr>
          <a:xfrm>
            <a:off x="4419600" y="4400550"/>
            <a:ext cx="95250" cy="95250"/>
          </a:xfrm>
          <a:prstGeom prst="ellipse">
            <a:avLst/>
          </a:prstGeom>
          <a:solidFill>
            <a:srgbClr val="F5A524"/>
          </a:solidFill>
          <a:ln w="9525">
            <a:solidFill>
              <a:srgbClr val="F5A524"/>
            </a:solidFill>
            <a:prstDash val="solid"/>
          </a:ln>
        </p:spPr>
      </p:sp>
      <p:sp>
        <p:nvSpPr>
          <p:cNvPr id="34" name="矩形 33"/>
          <p:cNvSpPr/>
          <p:nvPr/>
        </p:nvSpPr>
        <p:spPr>
          <a:xfrm>
            <a:off x="4648200" y="438150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172033"/>
                </a:solidFill>
                <a:latin typeface="Aptos"/>
                <a:ea typeface="Aptos"/>
                <a:cs typeface="Aptos"/>
              </a:defRPr>
            </a:pPr>
            <a:r>
              <a:rPr sz="1315" b="1">
                <a:solidFill>
                  <a:srgbClr val="172033"/>
                </a:solidFill>
                <a:latin typeface="Aptos"/>
                <a:ea typeface="Aptos"/>
                <a:cs typeface="Aptos"/>
              </a:rPr>
              <a:t>Net cost uncertainty</a:t>
            </a:r>
            <a:endParaRPr sz="1315" b="1">
              <a:solidFill>
                <a:srgbClr val="172033"/>
              </a:solidFill>
              <a:latin typeface="Aptos"/>
              <a:ea typeface="Aptos"/>
              <a:cs typeface="Aptos"/>
            </a:endParaRPr>
          </a:p>
        </p:txBody>
      </p:sp>
      <p:sp>
        <p:nvSpPr>
          <p:cNvPr id="35" name="矩形: 圆角 34"/>
          <p:cNvSpPr/>
          <p:nvPr/>
        </p:nvSpPr>
        <p:spPr>
          <a:xfrm>
            <a:off x="7772400" y="1352550"/>
            <a:ext cx="3028950" cy="3905250"/>
          </a:xfrm>
          <a:prstGeom prst="roundRect">
            <a:avLst>
              <a:gd name="adj" fmla="val 2516"/>
            </a:avLst>
          </a:prstGeom>
          <a:solidFill>
            <a:srgbClr val="FFFFFF"/>
          </a:solidFill>
          <a:ln w="15240">
            <a:solidFill>
              <a:srgbClr val="2EAD66"/>
            </a:solidFill>
            <a:prstDash val="solid"/>
          </a:ln>
        </p:spPr>
      </p:sp>
      <p:sp>
        <p:nvSpPr>
          <p:cNvPr id="36" name="矩形: 圆角 35"/>
          <p:cNvSpPr/>
          <p:nvPr/>
        </p:nvSpPr>
        <p:spPr>
          <a:xfrm>
            <a:off x="7772400" y="1352550"/>
            <a:ext cx="3028950" cy="552450"/>
          </a:xfrm>
          <a:prstGeom prst="roundRect">
            <a:avLst>
              <a:gd name="adj" fmla="val 13793"/>
            </a:avLst>
          </a:prstGeom>
          <a:solidFill>
            <a:srgbClr val="DDF7E9"/>
          </a:solidFill>
          <a:ln w="15240">
            <a:solidFill>
              <a:srgbClr val="2EAD66"/>
            </a:solidFill>
            <a:prstDash val="solid"/>
          </a:ln>
        </p:spPr>
      </p:sp>
      <p:sp>
        <p:nvSpPr>
          <p:cNvPr id="37" name="矩形 36"/>
          <p:cNvSpPr/>
          <p:nvPr/>
        </p:nvSpPr>
        <p:spPr>
          <a:xfrm>
            <a:off x="7962900" y="1524000"/>
            <a:ext cx="1905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2EAD66"/>
                </a:solidFill>
                <a:latin typeface="Aptos"/>
                <a:ea typeface="Aptos"/>
                <a:cs typeface="Aptos"/>
              </a:defRPr>
            </a:pPr>
            <a:r>
              <a:rPr sz="1650" b="1">
                <a:solidFill>
                  <a:srgbClr val="2EAD66"/>
                </a:solidFill>
                <a:latin typeface="Aptos"/>
                <a:ea typeface="Aptos"/>
                <a:cs typeface="Aptos"/>
              </a:rPr>
              <a:t>Next steps</a:t>
            </a:r>
            <a:endParaRPr sz="1650" b="1">
              <a:solidFill>
                <a:srgbClr val="2EAD66"/>
              </a:solidFill>
              <a:latin typeface="Aptos"/>
              <a:ea typeface="Aptos"/>
              <a:cs typeface="Aptos"/>
            </a:endParaRPr>
          </a:p>
        </p:txBody>
      </p:sp>
      <p:sp>
        <p:nvSpPr>
          <p:cNvPr id="38" name="椭圆 37"/>
          <p:cNvSpPr/>
          <p:nvPr/>
        </p:nvSpPr>
        <p:spPr>
          <a:xfrm>
            <a:off x="7981950" y="2190750"/>
            <a:ext cx="95250" cy="95250"/>
          </a:xfrm>
          <a:prstGeom prst="ellipse">
            <a:avLst/>
          </a:prstGeom>
          <a:solidFill>
            <a:srgbClr val="2EAD66"/>
          </a:solidFill>
          <a:ln w="9525">
            <a:solidFill>
              <a:srgbClr val="2EAD66"/>
            </a:solidFill>
            <a:prstDash val="solid"/>
          </a:ln>
        </p:spPr>
      </p:sp>
      <p:sp>
        <p:nvSpPr>
          <p:cNvPr id="39" name="矩形 38"/>
          <p:cNvSpPr/>
          <p:nvPr/>
        </p:nvSpPr>
        <p:spPr>
          <a:xfrm>
            <a:off x="8210550" y="217170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172033"/>
                </a:solidFill>
                <a:latin typeface="Aptos"/>
                <a:ea typeface="Aptos"/>
                <a:cs typeface="Aptos"/>
              </a:defRPr>
            </a:pPr>
            <a:r>
              <a:rPr sz="1315" b="1">
                <a:solidFill>
                  <a:srgbClr val="172033"/>
                </a:solidFill>
                <a:latin typeface="Aptos"/>
                <a:ea typeface="Aptos"/>
                <a:cs typeface="Aptos"/>
              </a:rPr>
              <a:t>Select components</a:t>
            </a:r>
            <a:endParaRPr sz="1315" b="1">
              <a:solidFill>
                <a:srgbClr val="172033"/>
              </a:solidFill>
              <a:latin typeface="Aptos"/>
              <a:ea typeface="Aptos"/>
              <a:cs typeface="Aptos"/>
            </a:endParaRPr>
          </a:p>
        </p:txBody>
      </p:sp>
      <p:sp>
        <p:nvSpPr>
          <p:cNvPr id="40" name="椭圆 39"/>
          <p:cNvSpPr/>
          <p:nvPr/>
        </p:nvSpPr>
        <p:spPr>
          <a:xfrm>
            <a:off x="7981950" y="2743200"/>
            <a:ext cx="95250" cy="95250"/>
          </a:xfrm>
          <a:prstGeom prst="ellipse">
            <a:avLst/>
          </a:prstGeom>
          <a:solidFill>
            <a:srgbClr val="2EAD66"/>
          </a:solidFill>
          <a:ln w="9525">
            <a:solidFill>
              <a:srgbClr val="2EAD66"/>
            </a:solidFill>
            <a:prstDash val="solid"/>
          </a:ln>
        </p:spPr>
      </p:sp>
      <p:sp>
        <p:nvSpPr>
          <p:cNvPr id="41" name="矩形 40"/>
          <p:cNvSpPr/>
          <p:nvPr/>
        </p:nvSpPr>
        <p:spPr>
          <a:xfrm>
            <a:off x="8210550" y="272415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172033"/>
                </a:solidFill>
                <a:latin typeface="Aptos"/>
                <a:ea typeface="Aptos"/>
                <a:cs typeface="Aptos"/>
              </a:defRPr>
            </a:pPr>
            <a:r>
              <a:rPr sz="1315" b="1">
                <a:solidFill>
                  <a:srgbClr val="172033"/>
                </a:solidFill>
                <a:latin typeface="Aptos"/>
                <a:ea typeface="Aptos"/>
                <a:cs typeface="Aptos"/>
              </a:rPr>
              <a:t>Test CFRP samples</a:t>
            </a:r>
            <a:endParaRPr sz="1315" b="1">
              <a:solidFill>
                <a:srgbClr val="172033"/>
              </a:solidFill>
              <a:latin typeface="Aptos"/>
              <a:ea typeface="Aptos"/>
              <a:cs typeface="Aptos"/>
            </a:endParaRPr>
          </a:p>
        </p:txBody>
      </p:sp>
      <p:sp>
        <p:nvSpPr>
          <p:cNvPr id="42" name="椭圆 41"/>
          <p:cNvSpPr/>
          <p:nvPr/>
        </p:nvSpPr>
        <p:spPr>
          <a:xfrm>
            <a:off x="7981950" y="3295650"/>
            <a:ext cx="95250" cy="95250"/>
          </a:xfrm>
          <a:prstGeom prst="ellipse">
            <a:avLst/>
          </a:prstGeom>
          <a:solidFill>
            <a:srgbClr val="2EAD66"/>
          </a:solidFill>
          <a:ln w="9525">
            <a:solidFill>
              <a:srgbClr val="2EAD66"/>
            </a:solidFill>
            <a:prstDash val="solid"/>
          </a:ln>
        </p:spPr>
      </p:sp>
      <p:sp>
        <p:nvSpPr>
          <p:cNvPr id="43" name="矩形 42"/>
          <p:cNvSpPr/>
          <p:nvPr/>
        </p:nvSpPr>
        <p:spPr>
          <a:xfrm>
            <a:off x="8210550" y="327660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172033"/>
                </a:solidFill>
                <a:latin typeface="Aptos"/>
                <a:ea typeface="Aptos"/>
                <a:cs typeface="Aptos"/>
              </a:defRPr>
            </a:pPr>
            <a:r>
              <a:rPr sz="1315" b="1">
                <a:solidFill>
                  <a:srgbClr val="172033"/>
                </a:solidFill>
                <a:latin typeface="Aptos"/>
                <a:ea typeface="Aptos"/>
                <a:cs typeface="Aptos"/>
              </a:rPr>
              <a:t>Compare stability</a:t>
            </a:r>
            <a:endParaRPr sz="1315" b="1">
              <a:solidFill>
                <a:srgbClr val="172033"/>
              </a:solidFill>
              <a:latin typeface="Aptos"/>
              <a:ea typeface="Aptos"/>
              <a:cs typeface="Aptos"/>
            </a:endParaRPr>
          </a:p>
        </p:txBody>
      </p:sp>
      <p:sp>
        <p:nvSpPr>
          <p:cNvPr id="44" name="椭圆 43"/>
          <p:cNvSpPr/>
          <p:nvPr/>
        </p:nvSpPr>
        <p:spPr>
          <a:xfrm>
            <a:off x="7981950" y="3848100"/>
            <a:ext cx="95250" cy="95250"/>
          </a:xfrm>
          <a:prstGeom prst="ellipse">
            <a:avLst/>
          </a:prstGeom>
          <a:solidFill>
            <a:srgbClr val="2EAD66"/>
          </a:solidFill>
          <a:ln w="9525">
            <a:solidFill>
              <a:srgbClr val="2EAD66"/>
            </a:solidFill>
            <a:prstDash val="solid"/>
          </a:ln>
        </p:spPr>
      </p:sp>
      <p:sp>
        <p:nvSpPr>
          <p:cNvPr id="45" name="矩形 44"/>
          <p:cNvSpPr/>
          <p:nvPr/>
        </p:nvSpPr>
        <p:spPr>
          <a:xfrm>
            <a:off x="8210550" y="382905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172033"/>
                </a:solidFill>
                <a:latin typeface="Aptos"/>
                <a:ea typeface="Aptos"/>
                <a:cs typeface="Aptos"/>
              </a:defRPr>
            </a:pPr>
            <a:r>
              <a:rPr sz="1315" b="1">
                <a:solidFill>
                  <a:srgbClr val="172033"/>
                </a:solidFill>
                <a:latin typeface="Aptos"/>
                <a:ea typeface="Aptos"/>
                <a:cs typeface="Aptos"/>
              </a:rPr>
              <a:t>Check rail standards</a:t>
            </a:r>
            <a:endParaRPr sz="1315" b="1">
              <a:solidFill>
                <a:srgbClr val="172033"/>
              </a:solidFill>
              <a:latin typeface="Aptos"/>
              <a:ea typeface="Aptos"/>
              <a:cs typeface="Aptos"/>
            </a:endParaRPr>
          </a:p>
        </p:txBody>
      </p:sp>
      <p:sp>
        <p:nvSpPr>
          <p:cNvPr id="46" name="椭圆 45"/>
          <p:cNvSpPr/>
          <p:nvPr/>
        </p:nvSpPr>
        <p:spPr>
          <a:xfrm>
            <a:off x="7981950" y="4400550"/>
            <a:ext cx="95250" cy="95250"/>
          </a:xfrm>
          <a:prstGeom prst="ellipse">
            <a:avLst/>
          </a:prstGeom>
          <a:solidFill>
            <a:srgbClr val="2EAD66"/>
          </a:solidFill>
          <a:ln w="9525">
            <a:solidFill>
              <a:srgbClr val="2EAD66"/>
            </a:solidFill>
            <a:prstDash val="solid"/>
          </a:ln>
        </p:spPr>
      </p:sp>
      <p:sp>
        <p:nvSpPr>
          <p:cNvPr id="47" name="矩形 46"/>
          <p:cNvSpPr/>
          <p:nvPr/>
        </p:nvSpPr>
        <p:spPr>
          <a:xfrm>
            <a:off x="8210550" y="4381500"/>
            <a:ext cx="2266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172033"/>
                </a:solidFill>
                <a:latin typeface="Aptos"/>
                <a:ea typeface="Aptos"/>
                <a:cs typeface="Aptos"/>
              </a:defRPr>
            </a:pPr>
            <a:r>
              <a:rPr sz="1315" b="1">
                <a:solidFill>
                  <a:srgbClr val="172033"/>
                </a:solidFill>
                <a:latin typeface="Aptos"/>
                <a:ea typeface="Aptos"/>
                <a:cs typeface="Aptos"/>
              </a:rPr>
              <a:t>Life-cycle analysis</a:t>
            </a:r>
            <a:endParaRPr sz="1315" b="1">
              <a:solidFill>
                <a:srgbClr val="172033"/>
              </a:solidFill>
              <a:latin typeface="Aptos"/>
              <a:ea typeface="Aptos"/>
              <a:cs typeface="Aptos"/>
            </a:endParaRPr>
          </a:p>
        </p:txBody>
      </p:sp>
      <p:sp>
        <p:nvSpPr>
          <p:cNvPr id="48" name="矩形: 圆角 47"/>
          <p:cNvSpPr/>
          <p:nvPr/>
        </p:nvSpPr>
        <p:spPr>
          <a:xfrm>
            <a:off x="1219200" y="5657850"/>
            <a:ext cx="8763000" cy="495300"/>
          </a:xfrm>
          <a:prstGeom prst="roundRect">
            <a:avLst>
              <a:gd name="adj" fmla="val 15385"/>
            </a:avLst>
          </a:prstGeom>
          <a:solidFill>
            <a:srgbClr val="D9EAFE"/>
          </a:solidFill>
          <a:ln w="13335">
            <a:solidFill>
              <a:srgbClr val="1F6FEB"/>
            </a:solidFill>
            <a:prstDash val="solid"/>
          </a:ln>
        </p:spPr>
      </p:sp>
      <p:sp>
        <p:nvSpPr>
          <p:cNvPr id="49" name="矩形 48"/>
          <p:cNvSpPr/>
          <p:nvPr/>
        </p:nvSpPr>
        <p:spPr>
          <a:xfrm>
            <a:off x="1543050" y="5753100"/>
            <a:ext cx="81153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725" b="1">
                <a:solidFill>
                  <a:srgbClr val="12355B"/>
                </a:solidFill>
                <a:latin typeface="Aptos"/>
                <a:ea typeface="Aptos"/>
                <a:cs typeface="Aptos"/>
              </a:defRPr>
            </a:pPr>
            <a:r>
              <a:rPr sz="1725" b="1">
                <a:solidFill>
                  <a:srgbClr val="12355B"/>
                </a:solidFill>
                <a:latin typeface="Aptos"/>
                <a:ea typeface="Aptos"/>
                <a:cs typeface="Aptos"/>
              </a:rPr>
              <a:t>Final message: lower carriage mass may reduce energy, cost, and emissions.</a:t>
            </a:r>
            <a:endParaRPr sz="1725" b="1">
              <a:solidFill>
                <a:srgbClr val="12355B"/>
              </a:solidFill>
              <a:latin typeface="Aptos"/>
              <a:ea typeface="Aptos"/>
              <a:cs typeface="Aptos"/>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
  <PresentationFormat>宽屏</PresentationFormat>
  <Paragraphs>232</Paragraphs>
  <Slides>0</Slides>
  <Notes>10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11</vt:i4>
      </vt:variant>
    </vt:vector>
  </HeadingPairs>
  <TitlesOfParts>
    <vt:vector size="28" baseType="lpstr">
      <vt:lpstr>Arial</vt:lpstr>
      <vt:lpstr>宋体</vt:lpstr>
      <vt:lpstr>Wingdings</vt:lpstr>
      <vt:lpstr>等线</vt:lpstr>
      <vt:lpstr>Aptos</vt:lpstr>
      <vt:lpstr>Aptos Display</vt:lpstr>
      <vt:lpstr>HYYakuHei 65W</vt:lpstr>
      <vt:lpstr>Aptos Mono</vt:lpstr>
      <vt:lpstr>Calibri</vt:lpstr>
      <vt:lpstr>Apple SD Gothic Neo Regular</vt:lpstr>
      <vt:lpstr>Arial Rounded MT Bold</vt:lpstr>
      <vt:lpstr>Bodoni 72 Book</vt:lpstr>
      <vt:lpstr>Bodoni 72 Oldstyle Book</vt:lpstr>
      <vt:lpstr>Bodoni 72 Smallcaps Book</vt:lpstr>
      <vt:lpstr>Avenir Next Regular</vt:lpstr>
      <vt:lpstr>Chalkboard SE Regular</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iPad</cp:lastModifiedBy>
  <cp:revision>8</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1FE9EAF824EB7C6E4A28266AEAC2AFA4_32</vt:lpwstr>
  </property>
  <property fmtid="{D5CDD505-2E9C-101B-9397-08002B2CF9AE}" pid="3" name="KSOProductBuildVer">
    <vt:lpwstr>2052-12.40.0</vt:lpwstr>
  </property>
</Properties>
</file>